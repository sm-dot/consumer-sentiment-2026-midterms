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b3ffec61-248a-0852-d528-766ec7013c07}">
          <p14:sldIdLst>
            <p14:sldId id="256"/>
            <p14:sldId id="257"/>
          </p14:sldIdLst>
        </p14:section>
        <p14:section name="Approach" id="{11726657-4cf6-2e18-5973-4c526655cfe9}">
          <p14:sldIdLst>
            <p14:sldId id="258"/>
            <p14:sldId id="259"/>
          </p14:sldIdLst>
        </p14:section>
        <p14:section name="Who" id="{77b4f08b-d2fa-0e13-f511-bc132b72e80f}">
          <p14:sldIdLst>
            <p14:sldId id="260"/>
            <p14:sldId id="261"/>
          </p14:sldIdLst>
        </p14:section>
        <p14:section name="Why" id="{45143286-8c93-343f-4888-48416789db5b}">
          <p14:sldIdLst>
            <p14:sldId id="262"/>
            <p14:sldId id="263"/>
            <p14:sldId id="264"/>
          </p14:sldIdLst>
        </p14:section>
        <p14:section name="Media" id="{cff31e75-7127-1973-3b0e-d7fffef20fa8}">
          <p14:sldIdLst>
            <p14:sldId id="265"/>
            <p14:sldId id="266"/>
          </p14:sldIdLst>
        </p14:section>
        <p14:section name="So what" id="{7cda559b-1736-7a97-6878-647fd0bb3144}">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Consumer sentiment score, 2015–2026 (100 = how people felt in 1966; 50s = very gloomy)</a:t>
            </a:r>
          </a:p>
        </c:rich>
      </c:tx>
      <c:layout/>
      <c:overlay val="0"/>
    </c:title>
    <c:autoTitleDeleted val="0"/>
    <c:plotArea>
      <c:layout/>
      <c:lineChart>
        <c:varyColors val="0"/>
        <c:ser>
          <c:idx val="0"/>
          <c:order val="0"/>
          <c:tx>
            <c:strRef>
              <c:f>Sheet1!$B$1</c:f>
              <c:strCache>
                <c:ptCount val="1"/>
                <c:pt idx="0">
                  <c:v>How people actually feel</c:v>
                </c:pt>
              </c:strCache>
            </c:strRef>
          </c:tx>
          <c:spPr>
            <a:solidFill>
              <a:srgbClr val="1B1F27"/>
            </a:solidFill>
            <a:ln w="31750" cap="flat">
              <a:solidFill>
                <a:srgbClr val="1B1F2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1F27"/>
              </a:solidFill>
              <a:ln w="9525" cap="flat">
                <a:solidFill>
                  <a:srgbClr val="1B1F27"/>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Sheet1!$B$2:$B$49</c:f>
              <c:numCache>
                <c:formatCode>General</c:formatCode>
                <c:ptCount val="48"/>
                <c:pt idx="0">
                  <c:v>95.5</c:v>
                </c:pt>
                <c:pt idx="1">
                  <c:v>94.2</c:v>
                </c:pt>
                <c:pt idx="2">
                  <c:v>90.7</c:v>
                </c:pt>
                <c:pt idx="3">
                  <c:v>91.3</c:v>
                </c:pt>
                <c:pt idx="4">
                  <c:v>91.6</c:v>
                </c:pt>
                <c:pt idx="5">
                  <c:v>92.4</c:v>
                </c:pt>
                <c:pt idx="6">
                  <c:v>90.3</c:v>
                </c:pt>
                <c:pt idx="7">
                  <c:v>93.1</c:v>
                </c:pt>
                <c:pt idx="8">
                  <c:v>97.2</c:v>
                </c:pt>
                <c:pt idx="9">
                  <c:v>96.4</c:v>
                </c:pt>
                <c:pt idx="10">
                  <c:v>95.1</c:v>
                </c:pt>
                <c:pt idx="11">
                  <c:v>98.4</c:v>
                </c:pt>
                <c:pt idx="12">
                  <c:v>98.9</c:v>
                </c:pt>
                <c:pt idx="13">
                  <c:v>98.3</c:v>
                </c:pt>
                <c:pt idx="14">
                  <c:v>98.1</c:v>
                </c:pt>
                <c:pt idx="15">
                  <c:v>98.1</c:v>
                </c:pt>
                <c:pt idx="16">
                  <c:v>94.5</c:v>
                </c:pt>
                <c:pt idx="17">
                  <c:v>98.5</c:v>
                </c:pt>
                <c:pt idx="18">
                  <c:v>93.8</c:v>
                </c:pt>
                <c:pt idx="19">
                  <c:v>97.2</c:v>
                </c:pt>
                <c:pt idx="20">
                  <c:v>96.6</c:v>
                </c:pt>
                <c:pt idx="21">
                  <c:v>74.1</c:v>
                </c:pt>
                <c:pt idx="22">
                  <c:v>75.7</c:v>
                </c:pt>
                <c:pt idx="23">
                  <c:v>79.8</c:v>
                </c:pt>
                <c:pt idx="24">
                  <c:v>80.2</c:v>
                </c:pt>
                <c:pt idx="25">
                  <c:v>85.6</c:v>
                </c:pt>
                <c:pt idx="26">
                  <c:v>74.8</c:v>
                </c:pt>
                <c:pt idx="27">
                  <c:v>69.9</c:v>
                </c:pt>
                <c:pt idx="28">
                  <c:v>63.1</c:v>
                </c:pt>
                <c:pt idx="29">
                  <c:v>57.9</c:v>
                </c:pt>
                <c:pt idx="30">
                  <c:v>56.1</c:v>
                </c:pt>
                <c:pt idx="31">
                  <c:v>58.8</c:v>
                </c:pt>
                <c:pt idx="32">
                  <c:v>64.6</c:v>
                </c:pt>
                <c:pt idx="33">
                  <c:v>62.3</c:v>
                </c:pt>
                <c:pt idx="34">
                  <c:v>69.6</c:v>
                </c:pt>
                <c:pt idx="35">
                  <c:v>64.9</c:v>
                </c:pt>
                <c:pt idx="36">
                  <c:v>78.4</c:v>
                </c:pt>
                <c:pt idx="37">
                  <c:v>71.5</c:v>
                </c:pt>
                <c:pt idx="38">
                  <c:v>68.1</c:v>
                </c:pt>
                <c:pt idx="39">
                  <c:v>72.1</c:v>
                </c:pt>
                <c:pt idx="40">
                  <c:v>64.5</c:v>
                </c:pt>
                <c:pt idx="41">
                  <c:v>55</c:v>
                </c:pt>
                <c:pt idx="42">
                  <c:v>58.3</c:v>
                </c:pt>
                <c:pt idx="43">
                  <c:v>52.5</c:v>
                </c:pt>
                <c:pt idx="44">
                  <c:v>55.4</c:v>
                </c:pt>
                <c:pt idx="45">
                  <c:v>48</c:v>
                </c:pt>
                <c:pt idx="46">
                  <c:v>51.7</c:v>
                </c:pt>
                <c:pt idx="47">
                  <c:v>46.3</c:v>
                </c:pt>
              </c:numCache>
            </c:numRef>
          </c:val>
          <c:smooth val="0"/>
        </c:ser>
        <c:ser>
          <c:idx val="1"/>
          <c:order val="1"/>
          <c:tx>
            <c:strRef>
              <c:f>Sheet1!$C$1</c:f>
              <c:strCache>
                <c:ptCount val="1"/>
                <c:pt idx="0">
                  <c:v>How they 'should' feel, given jobs, inflation and growth</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Sheet1!$C$2:$C$49</c:f>
              <c:numCache>
                <c:formatCode>General</c:formatCode>
                <c:ptCount val="48"/>
                <c:pt idx="0">
                  <c:v>92.3</c:v>
                </c:pt>
                <c:pt idx="1">
                  <c:v>94</c:v>
                </c:pt>
                <c:pt idx="2">
                  <c:v>94.4</c:v>
                </c:pt>
                <c:pt idx="3">
                  <c:v>94</c:v>
                </c:pt>
                <c:pt idx="4">
                  <c:v>92.7</c:v>
                </c:pt>
                <c:pt idx="5">
                  <c:v>92.1</c:v>
                </c:pt>
                <c:pt idx="6">
                  <c:v>90.9</c:v>
                </c:pt>
                <c:pt idx="7">
                  <c:v>90.1</c:v>
                </c:pt>
                <c:pt idx="8">
                  <c:v>90.7</c:v>
                </c:pt>
                <c:pt idx="9">
                  <c:v>91.4</c:v>
                </c:pt>
                <c:pt idx="10">
                  <c:v>92.9</c:v>
                </c:pt>
                <c:pt idx="11">
                  <c:v>93.3</c:v>
                </c:pt>
                <c:pt idx="12">
                  <c:v>94</c:v>
                </c:pt>
                <c:pt idx="13">
                  <c:v>94.9</c:v>
                </c:pt>
                <c:pt idx="14">
                  <c:v>94.7</c:v>
                </c:pt>
                <c:pt idx="15">
                  <c:v>95.9</c:v>
                </c:pt>
                <c:pt idx="16">
                  <c:v>96.3</c:v>
                </c:pt>
                <c:pt idx="17">
                  <c:v>97.5</c:v>
                </c:pt>
                <c:pt idx="18">
                  <c:v>96.5</c:v>
                </c:pt>
                <c:pt idx="19">
                  <c:v>95.6</c:v>
                </c:pt>
                <c:pt idx="20">
                  <c:v>95.5</c:v>
                </c:pt>
                <c:pt idx="21">
                  <c:v>74.2</c:v>
                </c:pt>
                <c:pt idx="22">
                  <c:v>60.1</c:v>
                </c:pt>
                <c:pt idx="23">
                  <c:v>71.6</c:v>
                </c:pt>
                <c:pt idx="24">
                  <c:v>78.7</c:v>
                </c:pt>
                <c:pt idx="25">
                  <c:v>81.5</c:v>
                </c:pt>
                <c:pt idx="26">
                  <c:v>97.1</c:v>
                </c:pt>
                <c:pt idx="27">
                  <c:v>95.4</c:v>
                </c:pt>
                <c:pt idx="28">
                  <c:v>90.1</c:v>
                </c:pt>
                <c:pt idx="29">
                  <c:v>86.9</c:v>
                </c:pt>
                <c:pt idx="30">
                  <c:v>82.5</c:v>
                </c:pt>
                <c:pt idx="31">
                  <c:v>81.5</c:v>
                </c:pt>
                <c:pt idx="32">
                  <c:v>82.1</c:v>
                </c:pt>
                <c:pt idx="33">
                  <c:v>84.3</c:v>
                </c:pt>
                <c:pt idx="34">
                  <c:v>88.2</c:v>
                </c:pt>
                <c:pt idx="35">
                  <c:v>89.1</c:v>
                </c:pt>
                <c:pt idx="36">
                  <c:v>90.6</c:v>
                </c:pt>
                <c:pt idx="37">
                  <c:v>90</c:v>
                </c:pt>
                <c:pt idx="38">
                  <c:v>90.1</c:v>
                </c:pt>
                <c:pt idx="39">
                  <c:v>90.1</c:v>
                </c:pt>
                <c:pt idx="40">
                  <c:v>88.9</c:v>
                </c:pt>
                <c:pt idx="41">
                  <c:v>88.2</c:v>
                </c:pt>
                <c:pt idx="42">
                  <c:v>87</c:v>
                </c:pt>
                <c:pt idx="43">
                  <c:v>86.2</c:v>
                </c:pt>
                <c:pt idx="44">
                  <c:v>86.2</c:v>
                </c:pt>
                <c:pt idx="45">
                  <c:v>84.8</c:v>
                </c:pt>
                <c:pt idx="46">
                  <c:v>83.4</c:v>
                </c:pt>
                <c:pt idx="47">
                  <c:v>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7A8392"/>
                </a:solidFill>
                <a:latin typeface="+mn-lt"/>
              </a:defRPr>
            </a:pPr>
            <a:endParaRPr lang="en-US"/>
          </a:p>
        </c:txPr>
        <c:crossAx val="2094734552"/>
        <c:crosses val="autoZero"/>
        <c:auto val="1"/>
        <c:lblAlgn val="ctr"/>
        <c:noMultiLvlLbl val="1"/>
        <c:tickLblSkip val="4"/>
      </c:catAx>
      <c:valAx>
        <c:axId val="2094734552"/>
        <c:scaling>
          <c:orientation val="minMax"/>
          <c:max val="110"/>
          <c:min val="30"/>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9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by age: before (2019) vs now (2025–26)</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Sheet1!$B$2:$B$4</c:f>
              <c:numCache>
                <c:formatCode>General</c:formatCode>
                <c:ptCount val="3"/>
                <c:pt idx="0">
                  <c:v>101</c:v>
                </c:pt>
                <c:pt idx="1">
                  <c:v>97</c:v>
                </c:pt>
                <c:pt idx="2">
                  <c:v>93</c:v>
                </c:pt>
              </c:numCache>
            </c:numRef>
          </c:val>
        </c:ser>
        <c:ser>
          <c:idx val="1"/>
          <c:order val="1"/>
          <c:tx>
            <c:strRef>
              <c:f>Sheet1!$C$1</c:f>
              <c:strCache>
                <c:ptCount val="1"/>
                <c:pt idx="0">
                  <c:v>2025–26</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Sheet1!$C$2:$C$4</c:f>
              <c:numCache>
                <c:formatCode>General</c:formatCode>
                <c:ptCount val="3"/>
                <c:pt idx="0">
                  <c:v>54</c:v>
                </c:pt>
                <c:pt idx="1">
                  <c:v>53</c:v>
                </c:pt>
                <c:pt idx="2">
                  <c:v>56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region: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Sheet1!$B$2:$B$5</c:f>
              <c:numCache>
                <c:formatCode>General</c:formatCode>
                <c:ptCount val="4"/>
                <c:pt idx="0">
                  <c:v>91</c:v>
                </c:pt>
                <c:pt idx="1">
                  <c:v>95</c:v>
                </c:pt>
                <c:pt idx="2">
                  <c:v>100</c:v>
                </c:pt>
                <c:pt idx="3">
                  <c:v>94</c:v>
                </c:pt>
              </c:numCache>
            </c:numRef>
          </c:val>
        </c:ser>
        <c:ser>
          <c:idx val="1"/>
          <c:order val="1"/>
          <c:tx>
            <c:strRef>
              <c:f>Sheet1!$C$1</c:f>
              <c:strCache>
                <c:ptCount val="1"/>
                <c:pt idx="0">
                  <c:v>2025–26</c:v>
                </c:pt>
              </c:strCache>
            </c:strRef>
          </c:tx>
          <c:spPr>
            <a:solidFill>
              <a:srgbClr val="2A78D6"/>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Sheet1!$C$2:$C$5</c:f>
              <c:numCache>
                <c:formatCode>General</c:formatCode>
                <c:ptCount val="4"/>
                <c:pt idx="0">
                  <c:v>55</c:v>
                </c:pt>
                <c:pt idx="1">
                  <c:v>55</c:v>
                </c:pt>
                <c:pt idx="2">
                  <c:v>58</c:v>
                </c:pt>
                <c:pt idx="3">
                  <c:v>51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income: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C2F0"/>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Sheet1!$B$2:$B$4</c:f>
              <c:numCache>
                <c:formatCode>General</c:formatCode>
                <c:ptCount val="3"/>
                <c:pt idx="0">
                  <c:v>89</c:v>
                </c:pt>
                <c:pt idx="1">
                  <c:v>99</c:v>
                </c:pt>
                <c:pt idx="2">
                  <c:v>101</c:v>
                </c:pt>
              </c:numCache>
            </c:numRef>
          </c:val>
        </c:ser>
        <c:ser>
          <c:idx val="1"/>
          <c:order val="1"/>
          <c:tx>
            <c:strRef>
              <c:f>Sheet1!$C$1</c:f>
              <c:strCache>
                <c:ptCount val="1"/>
                <c:pt idx="0">
                  <c:v>2025–26</c:v>
                </c:pt>
              </c:strCache>
            </c:strRef>
          </c:tx>
          <c:spPr>
            <a:solidFill>
              <a:srgbClr val="6A5ACD"/>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Sheet1!$C$2:$C$4</c:f>
              <c:numCache>
                <c:formatCode>General</c:formatCode>
                <c:ptCount val="3"/>
                <c:pt idx="0">
                  <c:v>49</c:v>
                </c:pt>
                <c:pt idx="1">
                  <c:v>55</c:v>
                </c:pt>
                <c:pt idx="2">
                  <c:v>61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more things cost vs how much more people earn (Jan 2021 → Sep 2026)</a:t>
            </a:r>
          </a:p>
        </c:rich>
      </c:tx>
      <c:layout/>
      <c:overlay val="0"/>
    </c:title>
    <c:autoTitleDeleted val="0"/>
    <c:plotArea>
      <c:layout/>
      <c:barChart>
        <c:barDir val="bar"/>
        <c:grouping val="clustered"/>
        <c:varyColors val="0"/>
        <c:ser>
          <c:idx val="0"/>
          <c:order val="0"/>
          <c:tx>
            <c:strRef>
              <c:f>Sheet1!$B$1</c:f>
              <c:strCache>
                <c:ptCount val="1"/>
                <c:pt idx="0">
                  <c:v>% increase since January 2021</c:v>
                </c:pt>
              </c:strCache>
            </c:strRef>
          </c:tx>
          <c:spPr>
            <a:solidFill>
              <a:srgbClr val="7A8392"/>
            </a:solidFill>
            <a:effectLst/>
          </c:spPr>
          <c:invertIfNegative val="0"/>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C8433F"/>
              </a:solidFill>
              <a:effectLst/>
            </c:spPr>
          </c:dPt>
          <c:dPt>
            <c:idx val="3"/>
            <c:invertIfNegative val="0"/>
            <c:bubble3D val="0"/>
            <c:spPr>
              <a:solidFill>
                <a:srgbClr val="C8433F"/>
              </a:solidFill>
              <a:effectLst/>
            </c:spPr>
          </c:dPt>
          <c:dPt>
            <c:idx val="4"/>
            <c:invertIfNegative val="0"/>
            <c:bubble3D val="0"/>
            <c:spPr>
              <a:solidFill>
                <a:srgbClr val="1F8A5B"/>
              </a:solidFill>
              <a:effectLst/>
            </c:spPr>
          </c:dPt>
          <c:cat>
            <c:multiLvlStrRef>
              <c:f>Sheet1!$A$2:$A$6</c:f>
              <c:multiLvlStrCache>
                <c:ptCount val="5"/>
                <c:lvl>
                  <c:pt idx="0">
                    <c:v>Headline CPI</c:v>
                  </c:pt>
                  <c:pt idx="1">
                    <c:v>Groceries</c:v>
                  </c:pt>
                  <c:pt idx="2">
                    <c:v>Shelter</c:v>
                  </c:pt>
                  <c:pt idx="3">
                    <c:v>Gasoline</c:v>
                  </c:pt>
                  <c:pt idx="4">
                    <c:v>Hourly wages</c:v>
                  </c:pt>
                </c:lvl>
              </c:multiLvlStrCache>
            </c:multiLvlStrRef>
          </c:cat>
          <c:val>
            <c:numRef>
              <c:f>Sheet1!$B$2:$B$6</c:f>
              <c:numCache>
                <c:formatCode>General</c:formatCode>
                <c:ptCount val="5"/>
                <c:pt idx="0">
                  <c:v>28</c:v>
                </c:pt>
                <c:pt idx="1">
                  <c:v>27.2</c:v>
                </c:pt>
                <c:pt idx="2">
                  <c:v>31.5</c:v>
                </c:pt>
                <c:pt idx="3">
                  <c:v>68.4</c:v>
                </c:pt>
                <c:pt idx="4">
                  <c:v>26.3</c:v>
                </c:pt>
              </c:numCache>
            </c:numRef>
          </c:val>
        </c:ser>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many of the 41 points each cause explains</a:t>
            </a:r>
          </a:p>
        </c:rich>
      </c:tx>
      <c:layout/>
      <c:overlay val="0"/>
    </c:title>
    <c:autoTitleDeleted val="0"/>
    <c:plotArea>
      <c:layout/>
      <c:barChart>
        <c:barDir val="bar"/>
        <c:grouping val="clustered"/>
        <c:varyColors val="0"/>
        <c:ser>
          <c:idx val="0"/>
          <c:order val="0"/>
          <c:tx>
            <c:strRef>
              <c:f>Sheet1!$B$1</c:f>
              <c:strCache>
                <c:ptCount val="1"/>
                <c:pt idx="0">
                  <c:v>Points of the drop</c:v>
                </c:pt>
              </c:strCache>
            </c:strRef>
          </c:tx>
          <c:spPr>
            <a:solidFill>
              <a:srgbClr val="7A8392"/>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2A78D6"/>
              </a:solidFill>
              <a:effectLst/>
            </c:spPr>
          </c:dPt>
          <c:dPt>
            <c:idx val="3"/>
            <c:invertIfNegative val="0"/>
            <c:bubble3D val="0"/>
            <c:spPr>
              <a:solidFill>
                <a:srgbClr val="6A5ACD"/>
              </a:solidFill>
              <a:effectLst/>
            </c:spPr>
          </c:dPt>
          <c:dPt>
            <c:idx val="4"/>
            <c:invertIfNegative val="0"/>
            <c:bubble3D val="0"/>
            <c:spPr>
              <a:solidFill>
                <a:srgbClr val="B8BEC8"/>
              </a:solidFill>
              <a:effectLst/>
            </c:spPr>
          </c:dPt>
          <c:cat>
            <c:multiLvlStrRef>
              <c:f>Sheet1!$A$2:$A$6</c:f>
              <c:multiLvlStrCache>
                <c:ptCount val="5"/>
                <c:lvl>
                  <c:pt idx="0">
                    <c:v>Jobs, inflation, growth (official numbers)</c:v>
                  </c:pt>
                  <c:pt idx="1">
                    <c:v>Everyday costs: high prices, food, loans, job worries</c:v>
                  </c:pt>
                  <c:pt idx="2">
                    <c:v>Survey moved online</c:v>
                  </c:pt>
                  <c:pt idx="3">
                    <c:v>Fewer Republicans answering (estimate)</c:v>
                  </c:pt>
                  <c:pt idx="4">
                    <c:v>Not explained</c:v>
                  </c:pt>
                </c:lvl>
              </c:multiLvlStrCache>
            </c:multiLvlStrRef>
          </c:cat>
          <c:val>
            <c:numRef>
              <c:f>Sheet1!$B$2:$B$6</c:f>
              <c:numCache>
                <c:formatCode>General</c:formatCode>
                <c:ptCount val="5"/>
                <c:pt idx="0">
                  <c:v>5.2</c:v>
                </c:pt>
                <c:pt idx="1">
                  <c:v>14.7</c:v>
                </c:pt>
                <c:pt idx="2">
                  <c:v>6.6</c:v>
                </c:pt>
                <c:pt idx="3">
                  <c:v>2.4</c:v>
                </c:pt>
                <c:pt idx="4">
                  <c:v>12.4</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2021–23 raised each group's lifetime inflation memory</a:t>
            </a:r>
          </a:p>
        </c:rich>
      </c:tx>
      <c:layout/>
      <c:overlay val="0"/>
    </c:title>
    <c:autoTitleDeleted val="0"/>
    <c:plotArea>
      <c:layout/>
      <c:barChart>
        <c:barDir val="col"/>
        <c:grouping val="clustered"/>
        <c:varyColors val="0"/>
        <c:ser>
          <c:idx val="0"/>
          <c:order val="0"/>
          <c:tx>
            <c:strRef>
              <c:f>Sheet1!$B$1</c:f>
              <c:strCache>
                <c:ptCount val="1"/>
                <c:pt idx="0">
                  <c:v>Increase in 'lived-through' inflation</c:v>
                </c:pt>
              </c:strCache>
            </c:strRef>
          </c:tx>
          <c:spPr>
            <a:solidFill>
              <a:srgbClr val="C8433F"/>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7A8392"/>
              </a:solidFill>
              <a:effectLst/>
            </c:spPr>
          </c:dPt>
          <c:cat>
            <c:multiLvlStrRef>
              <c:f>Sheet1!$A$2:$A$3</c:f>
              <c:multiLvlStrCache>
                <c:ptCount val="2"/>
                <c:lvl>
                  <c:pt idx="0">
                    <c:v>18–34</c:v>
                  </c:pt>
                  <c:pt idx="1">
                    <c:v>55+</c:v>
                  </c:pt>
                </c:lvl>
              </c:multiLvlStrCache>
            </c:multiLvlStrRef>
          </c:cat>
          <c:val>
            <c:numRef>
              <c:f>Sheet1!$B$2:$B$3</c:f>
              <c:numCache>
                <c:formatCode>General</c:formatCode>
                <c:ptCount val="2"/>
                <c:pt idx="0">
                  <c:v>0.87</c:v>
                </c:pt>
                <c:pt idx="1">
                  <c:v>0.09</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Average sentiment score under each president</a:t>
            </a:r>
          </a:p>
        </c:rich>
      </c:tx>
      <c:layout/>
      <c:overlay val="0"/>
    </c:title>
    <c:autoTitleDeleted val="0"/>
    <c:plotArea>
      <c:layout/>
      <c:barChart>
        <c:barDir val="col"/>
        <c:grouping val="clustered"/>
        <c:varyColors val="0"/>
        <c:ser>
          <c:idx val="0"/>
          <c:order val="0"/>
          <c:tx>
            <c:strRef>
              <c:f>Sheet1!$B$1</c:f>
              <c:strCache>
                <c:ptCount val="1"/>
                <c:pt idx="0">
                  <c:v>Average sentiment score</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Trump-1</c:v>
                  </c:pt>
                  <c:pt idx="1">
                    <c:v>Biden</c:v>
                  </c:pt>
                  <c:pt idx="2">
                    <c:v>Trump-2</c:v>
                  </c:pt>
                </c:lvl>
              </c:multiLvlStrCache>
            </c:multiLvlStrRef>
          </c:cat>
          <c:val>
            <c:numRef>
              <c:f>Sheet1!$B$2:$B$4</c:f>
              <c:numCache>
                <c:formatCode>General</c:formatCode>
                <c:ptCount val="3"/>
                <c:pt idx="0">
                  <c:v>93.1</c:v>
                </c:pt>
                <c:pt idx="1">
                  <c:v>68.4</c:v>
                </c:pt>
                <c:pt idx="2">
                  <c:v>53.9</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Error when predicting consumer spending, 2022–26 (shorter bar = better forecast)</a:t>
            </a:r>
          </a:p>
        </c:rich>
      </c:tx>
      <c:layout/>
      <c:overlay val="0"/>
    </c:title>
    <c:autoTitleDeleted val="0"/>
    <c:plotArea>
      <c:layout/>
      <c:barChart>
        <c:barDir val="bar"/>
        <c:grouping val="clustered"/>
        <c:varyColors val="0"/>
        <c:ser>
          <c:idx val="0"/>
          <c:order val="0"/>
          <c:tx>
            <c:strRef>
              <c:f>Sheet1!$B$1</c:f>
              <c:strCache>
                <c:ptCount val="1"/>
                <c:pt idx="0">
                  <c:v>Forecast error</c:v>
                </c:pt>
              </c:strCache>
            </c:strRef>
          </c:tx>
          <c:spPr>
            <a:solidFill>
              <a:srgbClr val="7A8392"/>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1F8A5B"/>
              </a:solidFill>
              <a:effectLst/>
            </c:spPr>
          </c:dPt>
          <c:dPt>
            <c:idx val="3"/>
            <c:invertIfNegative val="0"/>
            <c:bubble3D val="0"/>
            <c:spPr>
              <a:solidFill>
                <a:srgbClr val="C8433F"/>
              </a:solidFill>
              <a:effectLst/>
            </c:spPr>
          </c:dPt>
          <c:cat>
            <c:multiLvlStrRef>
              <c:f>Sheet1!$A$2:$A$5</c:f>
              <c:multiLvlStrCache>
                <c:ptCount val="4"/>
                <c:lvl>
                  <c:pt idx="0">
                    <c:v>Economy data only</c:v>
                  </c:pt>
                  <c:pt idx="1">
                    <c:v>+ how people say they feel</c:v>
                  </c:pt>
                  <c:pt idx="2">
                    <c:v>+ only the 'economy part' of feelings</c:v>
                  </c:pt>
                  <c:pt idx="3">
                    <c:v>+ only the 'gloom gap'</c:v>
                  </c:pt>
                </c:lvl>
              </c:multiLvlStrCache>
            </c:multiLvlStrRef>
          </c:cat>
          <c:val>
            <c:numRef>
              <c:f>Sheet1!$B$2:$B$5</c:f>
              <c:numCache>
                <c:formatCode>General</c:formatCode>
                <c:ptCount val="4"/>
                <c:pt idx="0">
                  <c:v>1.45</c:v>
                </c:pt>
                <c:pt idx="1">
                  <c:v>1.74</c:v>
                </c:pt>
                <c:pt idx="2">
                  <c:v>1.21</c:v>
                </c:pt>
                <c:pt idx="3">
                  <c:v>1.92</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Three weeks before the midterms, Americans feel worse about the economy than almost ever. We asked why — and whether the media is to blame. Short answer: it isn't. High prices, a change in how the survey is done, and what people have lived through explain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How to read this: the survey score is 100 when people feel like they did in 1966; in the 50s people are very gloomy. The blue line is how people 'should' feel based on unemployment, inflation and growth — using only data available at each moment. The black line is how they actually feel. Today they should be around 83; they're at 46. That gap is twice as big as in the 2008 financial crisis, and May 2026 was the lowest reading ever recorded. That's the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professor gave us three possible explanations. One: real pain that the official numbers miss. Two: media and psychology. Three: measurement — the survey or the model is off. We tested each. Here are our verdicts up front: real pain is the biggest piece, measurement is a real part, and the media is not the cause — but people's lived experience of inflation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Before analysing anything we checked the data and found four problems. The inflation column we were given left out food and gas — the things people notice most. It included a GDP number that hadn't been published yet. The 2025 shutdown left a month of jobs data missing. And the survey moved online, which makes answers gloomier by itself. We fixed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Light blue is 2019, red is now. Every age group dropped by roughly half. Young adults were the most optimistic group in 2019 — 101 — and fell the furthest, 47 points, to 54. People over 55 fell the least, 37 points. But because people over 55 are 44% of the national score, they still pull the national number down the most. Young adults also report more lost income and trouble affording a home. Where the data comes from: Michigan's survey of about a thousand adults a month publishes the score separately by age; we compared 2019 with the 2025–26 average, and worked out each group's share of the national score by matching the three age scores to the national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Next we asked: is one region or one income group driving this? No. The Northeast, Midwest, South and West all fell by about 40 points. Low, middle and high earners all fell by about 40 points too. Since everyone fell together, the cause must be something national that hit everyone — which brings us to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key idea. Eggs were 2 dollars in 2021, 4 dollars in 2023. Today they rise slowly — 4 dollars 12 — so the government says inflation is low. But it measures how fast prices rise now, not whether they came back down; people remember 2 dollars. It also doesn't count loan costs — a 7% mortgage isn't 'inflation'. On the right: since 2021 prices rose 28%, rent and housing 32%, gas 68%, but paychecks only 26%. So people really are worse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Here we split the 41-point drop into pieces. The official numbers — jobs, inflation, growth — explain only about 5 points. Everyday costs — high prices, food, loans and job worries — explain about 15, the biggest piece. The survey moving online explains about 7. Fewer Republicans answering explains about 2. About 12 points are left unexplained — that's the most any media story could account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did young adults fall furthest? Economists have shown that people learn about inflation from what they've lived through. For a 26-year-old, two years of high inflation is a big chunk of their life; for a 66-year-old who remembers the 1970s, it's a blip. We measured this: the recent shock raised young adults' inflation memory about ten times more than older adults'. Young adults fell about 10 points more than people over 55 — and this effect explains about 8 of those 10 points, comparing groups in the same month so the news is identical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To test the media explanation we collected about 247,000 headlines and posts, wrote rules first, and had an AI read every one. A human checked 300 of them; the AI matched the human 70% of the time, better than simpler tools. Then we ran fair tests — negative news isn't biased if the news really is bad. Findings: yes, there's political slant. But coverage isn't overly negative, and adding news data actually made our sentiment forecasts worse, while adding everyday-cost data made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our own test. When the presidency changed in January 2025, sentiment fell another 14 and a half points. If the media were causing that, the news should have turned much more negative. It didn't: overall news tone barely moved — even in the worst case, that explains about one point of the fourteen-and-a-half. Right-leaning outlets did turn more positive, as they always do when their side is in power, but the total news mood stayed flat. So the news may amplify the mood, but it didn't cause the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Why this matters for finance. Since 2022 people said they felt terrible but kept spending — about 2.5% more each year. When we tried to predict spending, using the survey as-is made forecasts about 20% worse. Using only the part of sentiment that matches the economy made them about 17% better. So investors and risk managers should separate real economic worry from the gloom gap before betting on a recession. Bottom line: high prices, the survey change and lived experience — not media bias — explain the gloom.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Thank you. The key takeaway: Americans aren't gloomy because of biased news — prices stayed high, the survey changed, and young people lived through their first big inflation.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lstStyle>
            <a:lvl1pPr indent="0" marL="0">
              <a:buNone/>
              <a:defRPr lang="en-US" sz="1800" dirty="0">
                <a:solidFill>
                  <a:srgbClr val="CBD2DC"/>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9601200" cy="274320"/>
          </a:xfrm>
          <a:prstGeom prst="rect">
            <a:avLst/>
          </a:prstGeom>
          <a:noFill/>
          <a:ln/>
        </p:spPr>
        <p:txBody>
          <a:bodyPr wrap="square" rtlCol="0" anchor="ctr"/>
          <a:lstStyle/>
          <a:p>
            <a:pPr indent="0" marL="0">
              <a:buNone/>
            </a:pPr>
            <a:r>
              <a:rPr lang="en-US" sz="900" dirty="0">
                <a:solidFill>
                  <a:srgbClr val="7A8392"/>
                </a:solidFill>
                <a:latin typeface="Calibri" pitchFamily="34" charset="0"/>
                <a:ea typeface="Calibri" pitchFamily="34" charset="-122"/>
                <a:cs typeface="Calibri" pitchFamily="34" charset="-120"/>
              </a:rPr>
              <a:t>Data: University of Michigan consumer survey, BLS, BEA, Philadelphia Fed; 247k news headlines &amp; posts. Data up to 16 Oct 2026 (election 3 Nov 2026).</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Americans feel worse than the economy says they should. Why?</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Short answer: not media bias. High prices, how the survey is done, and what people lived through.</a:t>
            </a:r>
            <a:endParaRPr lang="en-US" sz="1800" dirty="0"/>
          </a:p>
          <a:p>
            <a:pPr indent="0" marL="0">
              <a:buNone/>
            </a:pPr>
            <a:r>
              <a:rPr lang="en-US" sz="1400" dirty="0">
                <a:solidFill>
                  <a:srgbClr val="CBD2DC"/>
                </a:solidFill>
                <a:latin typeface="Calibri" pitchFamily="34" charset="0"/>
                <a:ea typeface="Calibri" pitchFamily="34" charset="-122"/>
                <a:cs typeface="Calibri" pitchFamily="34" charset="-120"/>
              </a:rPr>
              <a:t>Consumer sentiment before the 2026 midterm elections · AI Applications in Finance · Final 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economy looks OK. People feel terrible.</a:t>
            </a:r>
            <a:endParaRPr lang="en-US" sz="3000" dirty="0"/>
          </a:p>
        </p:txBody>
      </p:sp>
      <p:graphicFrame>
        <p:nvGraphicFramePr>
          <p:cNvPr id="3" name="Chart 0" descr=""/>
          <p:cNvGraphicFramePr/>
          <p:nvPr/>
        </p:nvGraphicFramePr>
        <p:xfrm>
          <a:off x="548640" y="12344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412480" y="1325880"/>
            <a:ext cx="3200400" cy="1234440"/>
          </a:xfrm>
          <a:prstGeom prst="roundRect">
            <a:avLst>
              <a:gd name="adj" fmla="val 5926"/>
            </a:avLst>
          </a:prstGeom>
          <a:solidFill>
            <a:srgbClr val="F2F4F7"/>
          </a:solidFill>
          <a:ln w="12700">
            <a:solidFill>
              <a:srgbClr val="F2F4F7"/>
            </a:solidFill>
            <a:prstDash val="solid"/>
          </a:ln>
        </p:spPr>
      </p:sp>
      <p:sp>
        <p:nvSpPr>
          <p:cNvPr id="5" name="Text 2"/>
          <p:cNvSpPr txBox="1"/>
          <p:nvPr/>
        </p:nvSpPr>
        <p:spPr>
          <a:xfrm>
            <a:off x="8641080" y="1417320"/>
            <a:ext cx="2743200" cy="594360"/>
          </a:xfrm>
          <a:prstGeom prst="rect">
            <a:avLst/>
          </a:prstGeom>
          <a:noFill/>
          <a:ln/>
        </p:spPr>
        <p:txBody>
          <a:bodyPr wrap="square" lIns="0" tIns="0" rIns="0" bIns="0" rtlCol="0" anchor="t"/>
          <a:lstStyle/>
          <a:p>
            <a:pPr indent="0" marL="0">
              <a:buNone/>
            </a:pPr>
            <a:r>
              <a:rPr lang="en-US" sz="3200" b="1" dirty="0">
                <a:solidFill>
                  <a:srgbClr val="C8433F"/>
                </a:solidFill>
                <a:latin typeface="Cambria" pitchFamily="34" charset="0"/>
                <a:ea typeface="Cambria" pitchFamily="34" charset="-122"/>
                <a:cs typeface="Cambria" pitchFamily="34" charset="-120"/>
              </a:rPr>
              <a:t>83 vs 46.3</a:t>
            </a:r>
            <a:endParaRPr lang="en-US" sz="3200" dirty="0"/>
          </a:p>
        </p:txBody>
      </p:sp>
      <p:sp>
        <p:nvSpPr>
          <p:cNvPr id="6" name="Text 3"/>
          <p:cNvSpPr txBox="1"/>
          <p:nvPr/>
        </p:nvSpPr>
        <p:spPr>
          <a:xfrm>
            <a:off x="8641080" y="203911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'Should be' vs actual, October 2026</a:t>
            </a:r>
            <a:endParaRPr lang="en-US" sz="1200" dirty="0"/>
          </a:p>
        </p:txBody>
      </p:sp>
      <p:sp>
        <p:nvSpPr>
          <p:cNvPr id="7" name="Shape 4"/>
          <p:cNvSpPr/>
          <p:nvPr/>
        </p:nvSpPr>
        <p:spPr>
          <a:xfrm>
            <a:off x="8412480" y="2697480"/>
            <a:ext cx="3200400" cy="1234440"/>
          </a:xfrm>
          <a:prstGeom prst="roundRect">
            <a:avLst>
              <a:gd name="adj" fmla="val 5926"/>
            </a:avLst>
          </a:prstGeom>
          <a:solidFill>
            <a:srgbClr val="F2F4F7"/>
          </a:solidFill>
          <a:ln w="12700">
            <a:solidFill>
              <a:srgbClr val="F2F4F7"/>
            </a:solidFill>
            <a:prstDash val="solid"/>
          </a:ln>
        </p:spPr>
      </p:sp>
      <p:sp>
        <p:nvSpPr>
          <p:cNvPr id="8" name="Text 5"/>
          <p:cNvSpPr txBox="1"/>
          <p:nvPr/>
        </p:nvSpPr>
        <p:spPr>
          <a:xfrm>
            <a:off x="8641080" y="2788920"/>
            <a:ext cx="2743200" cy="594360"/>
          </a:xfrm>
          <a:prstGeom prst="rect">
            <a:avLst/>
          </a:prstGeom>
          <a:noFill/>
          <a:ln/>
        </p:spPr>
        <p:txBody>
          <a:bodyPr wrap="square" lIns="0" tIns="0" rIns="0" bIns="0" rtlCol="0" anchor="t"/>
          <a:lstStyle/>
          <a:p>
            <a:pPr indent="0" marL="0">
              <a:buNone/>
            </a:pPr>
            <a:r>
              <a:rPr lang="en-US" sz="3200" b="1" dirty="0">
                <a:solidFill>
                  <a:srgbClr val="1B1F27"/>
                </a:solidFill>
                <a:latin typeface="Cambria" pitchFamily="34" charset="0"/>
                <a:ea typeface="Cambria" pitchFamily="34" charset="-122"/>
                <a:cs typeface="Cambria" pitchFamily="34" charset="-120"/>
              </a:rPr>
              <a:t>2×</a:t>
            </a:r>
            <a:endParaRPr lang="en-US" sz="3200" dirty="0"/>
          </a:p>
        </p:txBody>
      </p:sp>
      <p:sp>
        <p:nvSpPr>
          <p:cNvPr id="9" name="Text 6"/>
          <p:cNvSpPr txBox="1"/>
          <p:nvPr/>
        </p:nvSpPr>
        <p:spPr>
          <a:xfrm>
            <a:off x="8641080" y="341071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the gap is twice as big as in the 2008 financial crisis</a:t>
            </a:r>
            <a:endParaRPr lang="en-US" sz="1200" dirty="0"/>
          </a:p>
        </p:txBody>
      </p:sp>
      <p:sp>
        <p:nvSpPr>
          <p:cNvPr id="10" name="Shape 7"/>
          <p:cNvSpPr/>
          <p:nvPr/>
        </p:nvSpPr>
        <p:spPr>
          <a:xfrm>
            <a:off x="8412480" y="4069080"/>
            <a:ext cx="3200400" cy="1234440"/>
          </a:xfrm>
          <a:prstGeom prst="roundRect">
            <a:avLst>
              <a:gd name="adj" fmla="val 5926"/>
            </a:avLst>
          </a:prstGeom>
          <a:solidFill>
            <a:srgbClr val="F2F4F7"/>
          </a:solidFill>
          <a:ln w="12700">
            <a:solidFill>
              <a:srgbClr val="F2F4F7"/>
            </a:solidFill>
            <a:prstDash val="solid"/>
          </a:ln>
        </p:spPr>
      </p:sp>
      <p:sp>
        <p:nvSpPr>
          <p:cNvPr id="11" name="Text 8"/>
          <p:cNvSpPr txBox="1"/>
          <p:nvPr/>
        </p:nvSpPr>
        <p:spPr>
          <a:xfrm>
            <a:off x="8641080" y="4160520"/>
            <a:ext cx="2743200" cy="594360"/>
          </a:xfrm>
          <a:prstGeom prst="rect">
            <a:avLst/>
          </a:prstGeom>
          <a:noFill/>
          <a:ln/>
        </p:spPr>
        <p:txBody>
          <a:bodyPr wrap="square" lIns="0" tIns="0" rIns="0" bIns="0" rtlCol="0" anchor="t"/>
          <a:lstStyle/>
          <a:p>
            <a:pPr indent="0" marL="0">
              <a:buNone/>
            </a:pPr>
            <a:r>
              <a:rPr lang="en-US" sz="3200" b="1" dirty="0">
                <a:solidFill>
                  <a:srgbClr val="3A4150"/>
                </a:solidFill>
                <a:latin typeface="Cambria" pitchFamily="34" charset="0"/>
                <a:ea typeface="Cambria" pitchFamily="34" charset="-122"/>
                <a:cs typeface="Cambria" pitchFamily="34" charset="-120"/>
              </a:rPr>
              <a:t>44.8</a:t>
            </a:r>
            <a:endParaRPr lang="en-US" sz="3200" dirty="0"/>
          </a:p>
        </p:txBody>
      </p:sp>
      <p:sp>
        <p:nvSpPr>
          <p:cNvPr id="12" name="Text 9"/>
          <p:cNvSpPr txBox="1"/>
          <p:nvPr/>
        </p:nvSpPr>
        <p:spPr>
          <a:xfrm>
            <a:off x="8641080" y="478231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May 2026: lowest reading since the survey began in 1952</a:t>
            </a:r>
            <a:endParaRPr lang="en-US" sz="1200" dirty="0"/>
          </a:p>
        </p:txBody>
      </p:sp>
      <p:sp>
        <p:nvSpPr>
          <p:cNvPr id="13" name="Shape 10"/>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4" name="Text 11"/>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Official numbers say people should feel fine (~83). They feel near the worst ever (~46).</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Three possible explanations — we tested all three</a:t>
            </a:r>
            <a:endParaRPr lang="en-US" sz="3000" dirty="0"/>
          </a:p>
        </p:txBody>
      </p:sp>
      <p:sp>
        <p:nvSpPr>
          <p:cNvPr id="3" name="Shape 1"/>
          <p:cNvSpPr/>
          <p:nvPr/>
        </p:nvSpPr>
        <p:spPr>
          <a:xfrm>
            <a:off x="548640" y="1325880"/>
            <a:ext cx="3520440" cy="416052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822960" y="155448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Real pain the numbers miss</a:t>
            </a:r>
            <a:endParaRPr lang="en-US" sz="2000" dirty="0"/>
          </a:p>
        </p:txBody>
      </p:sp>
      <p:sp>
        <p:nvSpPr>
          <p:cNvPr id="7" name="Text 5"/>
          <p:cNvSpPr txBox="1"/>
          <p:nvPr/>
        </p:nvSpPr>
        <p:spPr>
          <a:xfrm>
            <a:off x="82296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Prices stayed high, loans got expensive, rent and food went up.</a:t>
            </a:r>
            <a:endParaRPr lang="en-US" sz="1400" dirty="0"/>
          </a:p>
        </p:txBody>
      </p:sp>
      <p:sp>
        <p:nvSpPr>
          <p:cNvPr id="8" name="Text 6"/>
          <p:cNvSpPr txBox="1"/>
          <p:nvPr/>
        </p:nvSpPr>
        <p:spPr>
          <a:xfrm>
            <a:off x="82296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9" name="Shape 7"/>
          <p:cNvSpPr/>
          <p:nvPr/>
        </p:nvSpPr>
        <p:spPr>
          <a:xfrm>
            <a:off x="822960" y="4526280"/>
            <a:ext cx="2971800" cy="731520"/>
          </a:xfrm>
          <a:prstGeom prst="roundRect">
            <a:avLst>
              <a:gd name="adj" fmla="val 12500"/>
            </a:avLst>
          </a:prstGeom>
          <a:solidFill>
            <a:srgbClr val="1F8A5B"/>
          </a:solidFill>
          <a:ln w="12700">
            <a:solidFill>
              <a:srgbClr val="1F8A5B"/>
            </a:solidFill>
            <a:prstDash val="solid"/>
          </a:ln>
        </p:spPr>
      </p:sp>
      <p:sp>
        <p:nvSpPr>
          <p:cNvPr id="10" name="Text 8"/>
          <p:cNvSpPr txBox="1"/>
          <p:nvPr/>
        </p:nvSpPr>
        <p:spPr>
          <a:xfrm>
            <a:off x="91440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Biggest piece</a:t>
            </a:r>
            <a:endParaRPr lang="en-US" sz="1400" dirty="0"/>
          </a:p>
        </p:txBody>
      </p:sp>
      <p:sp>
        <p:nvSpPr>
          <p:cNvPr id="11" name="Shape 9"/>
          <p:cNvSpPr/>
          <p:nvPr/>
        </p:nvSpPr>
        <p:spPr>
          <a:xfrm>
            <a:off x="4297680" y="1325880"/>
            <a:ext cx="3520440" cy="4160520"/>
          </a:xfrm>
          <a:prstGeom prst="roundRect">
            <a:avLst>
              <a:gd name="adj" fmla="val 2078"/>
            </a:avLst>
          </a:prstGeom>
          <a:solidFill>
            <a:srgbClr val="F2F4F7"/>
          </a:solidFill>
          <a:ln w="12700">
            <a:solidFill>
              <a:srgbClr val="F2F4F7"/>
            </a:solidFill>
            <a:prstDash val="solid"/>
          </a:ln>
        </p:spPr>
      </p:sp>
      <p:sp>
        <p:nvSpPr>
          <p:cNvPr id="12" name="Shape 10"/>
          <p:cNvSpPr/>
          <p:nvPr/>
        </p:nvSpPr>
        <p:spPr>
          <a:xfrm>
            <a:off x="4572000" y="1554480"/>
            <a:ext cx="731520" cy="731520"/>
          </a:xfrm>
          <a:prstGeom prst="ellipse">
            <a:avLst/>
          </a:prstGeom>
          <a:solidFill>
            <a:srgbClr val="1B1F27"/>
          </a:solidFill>
          <a:ln w="12700">
            <a:solidFill>
              <a:srgbClr val="1B1F27"/>
            </a:solidFill>
            <a:prstDash val="solid"/>
          </a:ln>
        </p:spPr>
      </p:sp>
      <p:sp>
        <p:nvSpPr>
          <p:cNvPr id="13" name="Text 11"/>
          <p:cNvSpPr txBox="1"/>
          <p:nvPr/>
        </p:nvSpPr>
        <p:spPr>
          <a:xfrm>
            <a:off x="457200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4" name="Text 12"/>
          <p:cNvSpPr txBox="1"/>
          <p:nvPr/>
        </p:nvSpPr>
        <p:spPr>
          <a:xfrm>
            <a:off x="457200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Media and psychology</a:t>
            </a:r>
            <a:endParaRPr lang="en-US" sz="2000" dirty="0"/>
          </a:p>
        </p:txBody>
      </p:sp>
      <p:sp>
        <p:nvSpPr>
          <p:cNvPr id="15" name="Text 13"/>
          <p:cNvSpPr txBox="1"/>
          <p:nvPr/>
        </p:nvSpPr>
        <p:spPr>
          <a:xfrm>
            <a:off x="457200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Negative or biased news coverage; how people's minds process shocks.</a:t>
            </a:r>
            <a:endParaRPr lang="en-US" sz="1400" dirty="0"/>
          </a:p>
        </p:txBody>
      </p:sp>
      <p:sp>
        <p:nvSpPr>
          <p:cNvPr id="16" name="Text 14"/>
          <p:cNvSpPr txBox="1"/>
          <p:nvPr/>
        </p:nvSpPr>
        <p:spPr>
          <a:xfrm>
            <a:off x="457200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17" name="Shape 15"/>
          <p:cNvSpPr/>
          <p:nvPr/>
        </p:nvSpPr>
        <p:spPr>
          <a:xfrm>
            <a:off x="4572000" y="4526280"/>
            <a:ext cx="2971800" cy="731520"/>
          </a:xfrm>
          <a:prstGeom prst="roundRect">
            <a:avLst>
              <a:gd name="adj" fmla="val 12500"/>
            </a:avLst>
          </a:prstGeom>
          <a:solidFill>
            <a:srgbClr val="D99A1E"/>
          </a:solidFill>
          <a:ln w="12700">
            <a:solidFill>
              <a:srgbClr val="D99A1E"/>
            </a:solidFill>
            <a:prstDash val="solid"/>
          </a:ln>
        </p:spPr>
      </p:sp>
      <p:sp>
        <p:nvSpPr>
          <p:cNvPr id="18" name="Text 16"/>
          <p:cNvSpPr txBox="1"/>
          <p:nvPr/>
        </p:nvSpPr>
        <p:spPr>
          <a:xfrm>
            <a:off x="466344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Media: no.  Lived experience: yes.</a:t>
            </a:r>
            <a:endParaRPr lang="en-US" sz="1400" dirty="0"/>
          </a:p>
        </p:txBody>
      </p:sp>
      <p:sp>
        <p:nvSpPr>
          <p:cNvPr id="19" name="Shape 17"/>
          <p:cNvSpPr/>
          <p:nvPr/>
        </p:nvSpPr>
        <p:spPr>
          <a:xfrm>
            <a:off x="8046720" y="1325880"/>
            <a:ext cx="3520440" cy="4160520"/>
          </a:xfrm>
          <a:prstGeom prst="roundRect">
            <a:avLst>
              <a:gd name="adj" fmla="val 2078"/>
            </a:avLst>
          </a:prstGeom>
          <a:solidFill>
            <a:srgbClr val="F2F4F7"/>
          </a:solidFill>
          <a:ln w="12700">
            <a:solidFill>
              <a:srgbClr val="F2F4F7"/>
            </a:solidFill>
            <a:prstDash val="solid"/>
          </a:ln>
        </p:spPr>
      </p:sp>
      <p:sp>
        <p:nvSpPr>
          <p:cNvPr id="20" name="Shape 18"/>
          <p:cNvSpPr/>
          <p:nvPr/>
        </p:nvSpPr>
        <p:spPr>
          <a:xfrm>
            <a:off x="8321040" y="1554480"/>
            <a:ext cx="731520" cy="731520"/>
          </a:xfrm>
          <a:prstGeom prst="ellipse">
            <a:avLst/>
          </a:prstGeom>
          <a:solidFill>
            <a:srgbClr val="1B1F27"/>
          </a:solidFill>
          <a:ln w="12700">
            <a:solidFill>
              <a:srgbClr val="1B1F27"/>
            </a:solidFill>
            <a:prstDash val="solid"/>
          </a:ln>
        </p:spPr>
      </p:sp>
      <p:sp>
        <p:nvSpPr>
          <p:cNvPr id="21" name="Text 19"/>
          <p:cNvSpPr txBox="1"/>
          <p:nvPr/>
        </p:nvSpPr>
        <p:spPr>
          <a:xfrm>
            <a:off x="832104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2" name="Text 20"/>
          <p:cNvSpPr txBox="1"/>
          <p:nvPr/>
        </p:nvSpPr>
        <p:spPr>
          <a:xfrm>
            <a:off x="832104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Measurement</a:t>
            </a:r>
            <a:endParaRPr lang="en-US" sz="2000" dirty="0"/>
          </a:p>
        </p:txBody>
      </p:sp>
      <p:sp>
        <p:nvSpPr>
          <p:cNvPr id="23" name="Text 21"/>
          <p:cNvSpPr txBox="1"/>
          <p:nvPr/>
        </p:nvSpPr>
        <p:spPr>
          <a:xfrm>
            <a:off x="832104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survey changed how it asks; old models miss new kinds of shocks.</a:t>
            </a:r>
            <a:endParaRPr lang="en-US" sz="1400" dirty="0"/>
          </a:p>
        </p:txBody>
      </p:sp>
      <p:sp>
        <p:nvSpPr>
          <p:cNvPr id="24" name="Text 22"/>
          <p:cNvSpPr txBox="1"/>
          <p:nvPr/>
        </p:nvSpPr>
        <p:spPr>
          <a:xfrm>
            <a:off x="832104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25" name="Shape 23"/>
          <p:cNvSpPr/>
          <p:nvPr/>
        </p:nvSpPr>
        <p:spPr>
          <a:xfrm>
            <a:off x="8321040" y="4526280"/>
            <a:ext cx="2971800" cy="731520"/>
          </a:xfrm>
          <a:prstGeom prst="roundRect">
            <a:avLst>
              <a:gd name="adj" fmla="val 12500"/>
            </a:avLst>
          </a:prstGeom>
          <a:solidFill>
            <a:srgbClr val="2A78D6"/>
          </a:solidFill>
          <a:ln w="12700">
            <a:solidFill>
              <a:srgbClr val="2A78D6"/>
            </a:solidFill>
            <a:prstDash val="solid"/>
          </a:ln>
        </p:spPr>
      </p:sp>
      <p:sp>
        <p:nvSpPr>
          <p:cNvPr id="26" name="Text 24"/>
          <p:cNvSpPr txBox="1"/>
          <p:nvPr/>
        </p:nvSpPr>
        <p:spPr>
          <a:xfrm>
            <a:off x="841248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Yes, a real part</a:t>
            </a:r>
            <a:endParaRPr lang="en-US" sz="1400" dirty="0"/>
          </a:p>
        </p:txBody>
      </p:sp>
      <p:sp>
        <p:nvSpPr>
          <p:cNvPr id="27" name="Shape 2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8" name="Text 2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We didn't assume people are irrational or that the news is biased — each explanation had to prove itself with data.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First, we made sure the data was right</a:t>
            </a:r>
            <a:endParaRPr lang="en-US" sz="3000" dirty="0"/>
          </a:p>
        </p:txBody>
      </p:sp>
      <p:sp>
        <p:nvSpPr>
          <p:cNvPr id="3" name="Shape 1"/>
          <p:cNvSpPr/>
          <p:nvPr/>
        </p:nvSpPr>
        <p:spPr>
          <a:xfrm>
            <a:off x="548640" y="1325880"/>
            <a:ext cx="5440680" cy="1920240"/>
          </a:xfrm>
          <a:prstGeom prst="roundRect">
            <a:avLst>
              <a:gd name="adj" fmla="val 3810"/>
            </a:avLst>
          </a:prstGeom>
          <a:solidFill>
            <a:srgbClr val="F2F4F7"/>
          </a:solidFill>
          <a:ln w="12700">
            <a:solidFill>
              <a:srgbClr val="F2F4F7"/>
            </a:solidFill>
            <a:prstDash val="solid"/>
          </a:ln>
        </p:spPr>
      </p:sp>
      <p:sp>
        <p:nvSpPr>
          <p:cNvPr id="4" name="Shape 2"/>
          <p:cNvSpPr/>
          <p:nvPr/>
        </p:nvSpPr>
        <p:spPr>
          <a:xfrm>
            <a:off x="822960" y="169164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78308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Wrong inflation number</a:t>
            </a:r>
            <a:endParaRPr lang="en-US" sz="1800" dirty="0"/>
          </a:p>
        </p:txBody>
      </p:sp>
      <p:sp>
        <p:nvSpPr>
          <p:cNvPr id="7" name="Text 5"/>
          <p:cNvSpPr txBox="1"/>
          <p:nvPr/>
        </p:nvSpPr>
        <p:spPr>
          <a:xfrm>
            <a:off x="178308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file's inflation column left out food and gas. We used the full number.</a:t>
            </a:r>
            <a:endParaRPr lang="en-US" sz="1400" dirty="0"/>
          </a:p>
        </p:txBody>
      </p:sp>
      <p:sp>
        <p:nvSpPr>
          <p:cNvPr id="8" name="Shape 6"/>
          <p:cNvSpPr/>
          <p:nvPr/>
        </p:nvSpPr>
        <p:spPr>
          <a:xfrm>
            <a:off x="6172200" y="1325880"/>
            <a:ext cx="5440680" cy="1920240"/>
          </a:xfrm>
          <a:prstGeom prst="roundRect">
            <a:avLst>
              <a:gd name="adj" fmla="val 3810"/>
            </a:avLst>
          </a:prstGeom>
          <a:solidFill>
            <a:srgbClr val="F2F4F7"/>
          </a:solidFill>
          <a:ln w="12700">
            <a:solidFill>
              <a:srgbClr val="F2F4F7"/>
            </a:solidFill>
            <a:prstDash val="solid"/>
          </a:ln>
        </p:spPr>
      </p:sp>
      <p:sp>
        <p:nvSpPr>
          <p:cNvPr id="9" name="Shape 7"/>
          <p:cNvSpPr/>
          <p:nvPr/>
        </p:nvSpPr>
        <p:spPr>
          <a:xfrm>
            <a:off x="6446520" y="1691640"/>
            <a:ext cx="731520" cy="731520"/>
          </a:xfrm>
          <a:prstGeom prst="ellipse">
            <a:avLst/>
          </a:prstGeom>
          <a:solidFill>
            <a:srgbClr val="1B1F27"/>
          </a:solidFill>
          <a:ln w="12700">
            <a:solidFill>
              <a:srgbClr val="1B1F27"/>
            </a:solidFill>
            <a:prstDash val="solid"/>
          </a:ln>
        </p:spPr>
      </p:sp>
      <p:sp>
        <p:nvSpPr>
          <p:cNvPr id="10" name="Text 8"/>
          <p:cNvSpPr txBox="1"/>
          <p:nvPr/>
        </p:nvSpPr>
        <p:spPr>
          <a:xfrm>
            <a:off x="644652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740664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A number from the future</a:t>
            </a:r>
            <a:endParaRPr lang="en-US" sz="1800" dirty="0"/>
          </a:p>
        </p:txBody>
      </p:sp>
      <p:sp>
        <p:nvSpPr>
          <p:cNvPr id="12" name="Text 10"/>
          <p:cNvSpPr txBox="1"/>
          <p:nvPr/>
        </p:nvSpPr>
        <p:spPr>
          <a:xfrm>
            <a:off x="740664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It included a GDP figure not published until late October. We removed it.</a:t>
            </a:r>
            <a:endParaRPr lang="en-US" sz="1400" dirty="0"/>
          </a:p>
        </p:txBody>
      </p:sp>
      <p:sp>
        <p:nvSpPr>
          <p:cNvPr id="13" name="Shape 11"/>
          <p:cNvSpPr/>
          <p:nvPr/>
        </p:nvSpPr>
        <p:spPr>
          <a:xfrm>
            <a:off x="548640" y="3429000"/>
            <a:ext cx="5440680" cy="1920240"/>
          </a:xfrm>
          <a:prstGeom prst="roundRect">
            <a:avLst>
              <a:gd name="adj" fmla="val 3810"/>
            </a:avLst>
          </a:prstGeom>
          <a:solidFill>
            <a:srgbClr val="F2F4F7"/>
          </a:solidFill>
          <a:ln w="12700">
            <a:solidFill>
              <a:srgbClr val="F2F4F7"/>
            </a:solidFill>
            <a:prstDash val="solid"/>
          </a:ln>
        </p:spPr>
      </p:sp>
      <p:sp>
        <p:nvSpPr>
          <p:cNvPr id="14" name="Shape 12"/>
          <p:cNvSpPr/>
          <p:nvPr/>
        </p:nvSpPr>
        <p:spPr>
          <a:xfrm>
            <a:off x="822960" y="3794760"/>
            <a:ext cx="731520" cy="731520"/>
          </a:xfrm>
          <a:prstGeom prst="ellipse">
            <a:avLst/>
          </a:prstGeom>
          <a:solidFill>
            <a:srgbClr val="1B1F27"/>
          </a:solidFill>
          <a:ln w="12700">
            <a:solidFill>
              <a:srgbClr val="1B1F27"/>
            </a:solidFill>
            <a:prstDash val="solid"/>
          </a:ln>
        </p:spPr>
      </p:sp>
      <p:sp>
        <p:nvSpPr>
          <p:cNvPr id="15" name="Text 13"/>
          <p:cNvSpPr txBox="1"/>
          <p:nvPr/>
        </p:nvSpPr>
        <p:spPr>
          <a:xfrm>
            <a:off x="82296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178308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Missing month</a:t>
            </a:r>
            <a:endParaRPr lang="en-US" sz="1800" dirty="0"/>
          </a:p>
        </p:txBody>
      </p:sp>
      <p:sp>
        <p:nvSpPr>
          <p:cNvPr id="17" name="Text 15"/>
          <p:cNvSpPr txBox="1"/>
          <p:nvPr/>
        </p:nvSpPr>
        <p:spPr>
          <a:xfrm>
            <a:off x="178308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2025 government shutdown meant October 2025 jobs data was never collected.</a:t>
            </a:r>
            <a:endParaRPr lang="en-US" sz="1400" dirty="0"/>
          </a:p>
        </p:txBody>
      </p:sp>
      <p:sp>
        <p:nvSpPr>
          <p:cNvPr id="18" name="Shape 16"/>
          <p:cNvSpPr/>
          <p:nvPr/>
        </p:nvSpPr>
        <p:spPr>
          <a:xfrm>
            <a:off x="6172200" y="3429000"/>
            <a:ext cx="5440680" cy="1920240"/>
          </a:xfrm>
          <a:prstGeom prst="roundRect">
            <a:avLst>
              <a:gd name="adj" fmla="val 3810"/>
            </a:avLst>
          </a:prstGeom>
          <a:solidFill>
            <a:srgbClr val="F2F4F7"/>
          </a:solidFill>
          <a:ln w="12700">
            <a:solidFill>
              <a:srgbClr val="F2F4F7"/>
            </a:solidFill>
            <a:prstDash val="solid"/>
          </a:ln>
        </p:spPr>
      </p:sp>
      <p:sp>
        <p:nvSpPr>
          <p:cNvPr id="19" name="Shape 17"/>
          <p:cNvSpPr/>
          <p:nvPr/>
        </p:nvSpPr>
        <p:spPr>
          <a:xfrm>
            <a:off x="6446520" y="3794760"/>
            <a:ext cx="731520" cy="731520"/>
          </a:xfrm>
          <a:prstGeom prst="ellipse">
            <a:avLst/>
          </a:prstGeom>
          <a:solidFill>
            <a:srgbClr val="1B1F27"/>
          </a:solidFill>
          <a:ln w="12700">
            <a:solidFill>
              <a:srgbClr val="1B1F27"/>
            </a:solidFill>
            <a:prstDash val="solid"/>
          </a:ln>
        </p:spPr>
      </p:sp>
      <p:sp>
        <p:nvSpPr>
          <p:cNvPr id="20" name="Text 18"/>
          <p:cNvSpPr txBox="1"/>
          <p:nvPr/>
        </p:nvSpPr>
        <p:spPr>
          <a:xfrm>
            <a:off x="644652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740664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Survey changed</a:t>
            </a:r>
            <a:endParaRPr lang="en-US" sz="1800" dirty="0"/>
          </a:p>
        </p:txBody>
      </p:sp>
      <p:sp>
        <p:nvSpPr>
          <p:cNvPr id="22" name="Text 20"/>
          <p:cNvSpPr txBox="1"/>
          <p:nvPr/>
        </p:nvSpPr>
        <p:spPr>
          <a:xfrm>
            <a:off x="740664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Michigan moved from phone to online in 2024. Online answers are ~6.6 points gloomier.</a:t>
            </a:r>
            <a:endParaRPr lang="en-US" sz="1400" dirty="0"/>
          </a:p>
        </p:txBody>
      </p:sp>
      <p:sp>
        <p:nvSpPr>
          <p:cNvPr id="23" name="Shape 2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4" name="Text 2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Our rule: only use numbers that were actually available at the time — no hindsight.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Who feels worst? Everyone fell — young adults the most</a:t>
            </a:r>
            <a:endParaRPr lang="en-US" sz="3000" dirty="0"/>
          </a:p>
        </p:txBody>
      </p:sp>
      <p:graphicFrame>
        <p:nvGraphicFramePr>
          <p:cNvPr id="3" name="Chart 0" descr=""/>
          <p:cNvGraphicFramePr/>
          <p:nvPr/>
        </p:nvGraphicFramePr>
        <p:xfrm>
          <a:off x="548640" y="1234440"/>
          <a:ext cx="640080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315200" y="1325880"/>
            <a:ext cx="4297680" cy="2011680"/>
          </a:xfrm>
          <a:prstGeom prst="roundRect">
            <a:avLst>
              <a:gd name="adj" fmla="val 3636"/>
            </a:avLst>
          </a:prstGeom>
          <a:solidFill>
            <a:srgbClr val="F2F4F7"/>
          </a:solidFill>
          <a:ln w="12700">
            <a:solidFill>
              <a:srgbClr val="F2F4F7"/>
            </a:solidFill>
            <a:prstDash val="solid"/>
          </a:ln>
        </p:spPr>
      </p:sp>
      <p:sp>
        <p:nvSpPr>
          <p:cNvPr id="5" name="Text 2"/>
          <p:cNvSpPr txBox="1"/>
          <p:nvPr/>
        </p:nvSpPr>
        <p:spPr>
          <a:xfrm>
            <a:off x="7498080" y="146304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18–34: 101 → 54 (fell 47) — went from most optimistic to as gloomy as everyone.</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55+: 93 → 56 (fell 37) — smallest drop.</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But 55+ is 44% of the national score (young: 22%), so older people still move it most.</a:t>
            </a:r>
            <a:endParaRPr lang="en-US" sz="1250" dirty="0"/>
          </a:p>
        </p:txBody>
      </p:sp>
      <p:sp>
        <p:nvSpPr>
          <p:cNvPr id="6" name="Shape 3"/>
          <p:cNvSpPr/>
          <p:nvPr/>
        </p:nvSpPr>
        <p:spPr>
          <a:xfrm>
            <a:off x="7315200" y="3474720"/>
            <a:ext cx="4297680" cy="2103120"/>
          </a:xfrm>
          <a:prstGeom prst="roundRect">
            <a:avLst>
              <a:gd name="adj" fmla="val 3478"/>
            </a:avLst>
          </a:prstGeom>
          <a:solidFill>
            <a:srgbClr val="EAF2FC"/>
          </a:solidFill>
          <a:ln w="12700">
            <a:solidFill>
              <a:srgbClr val="EAF2FC"/>
            </a:solidFill>
            <a:prstDash val="solid"/>
          </a:ln>
        </p:spPr>
      </p:sp>
      <p:sp>
        <p:nvSpPr>
          <p:cNvPr id="7" name="Text 4"/>
          <p:cNvSpPr txBox="1"/>
          <p:nvPr/>
        </p:nvSpPr>
        <p:spPr>
          <a:xfrm>
            <a:off x="7498080" y="3611880"/>
            <a:ext cx="3931920" cy="1874520"/>
          </a:xfrm>
          <a:prstGeom prst="rect">
            <a:avLst/>
          </a:prstGeom>
          <a:noFill/>
          <a:ln/>
        </p:spPr>
        <p:txBody>
          <a:bodyPr wrap="square" lIns="0" tIns="0" rIns="0" bIns="0" rtlCol="0" anchor="t"/>
          <a:lstStyle/>
          <a:p>
            <a:pPr indent="0" marL="0">
              <a:spcAft>
                <a:spcPts val="500"/>
              </a:spcAft>
              <a:buNone/>
            </a:pPr>
            <a:r>
              <a:rPr lang="en-US" sz="1400" b="1" dirty="0">
                <a:solidFill>
                  <a:srgbClr val="2A78D6"/>
                </a:solidFill>
                <a:latin typeface="Calibri" pitchFamily="34" charset="0"/>
                <a:ea typeface="Calibri" pitchFamily="34" charset="-122"/>
                <a:cs typeface="Calibri" pitchFamily="34" charset="-120"/>
              </a:rPr>
              <a:t>How we got this data</a:t>
            </a:r>
            <a:endParaRPr lang="en-US" sz="1400" dirty="0"/>
          </a:p>
          <a:p>
            <a:pPr indent="0" marL="0">
              <a:buNone/>
            </a:pPr>
            <a:r>
              <a:rPr lang="en-US" sz="1250" dirty="0">
                <a:solidFill>
                  <a:srgbClr val="1B1F27"/>
                </a:solidFill>
                <a:latin typeface="Calibri" pitchFamily="34" charset="0"/>
                <a:ea typeface="Calibri" pitchFamily="34" charset="-122"/>
                <a:cs typeface="Calibri" pitchFamily="34" charset="-120"/>
              </a:rPr>
              <a:t>University of Michigan's monthly consumer survey (~1,000 adults a month) publishes the sentiment score separately for each age group. We averaged 2019 vs Jan 2025–Aug 2026. Each group's share of the national score was found by matching the three age scores to the national score, 2015–2026.</a:t>
            </a:r>
            <a:endParaRPr lang="en-US" sz="1400" dirty="0"/>
          </a:p>
        </p:txBody>
      </p:sp>
      <p:sp>
        <p:nvSpPr>
          <p:cNvPr id="8" name="Shape 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9" name="Text 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This isn't one generation's problem — everyone got gloomier; young adults fell furthest.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It's not one part of the country or one income group</a:t>
            </a:r>
            <a:endParaRPr lang="en-US" sz="3000" dirty="0"/>
          </a:p>
        </p:txBody>
      </p:sp>
      <p:graphicFrame>
        <p:nvGraphicFramePr>
          <p:cNvPr id="3" name="Chart 0" descr=""/>
          <p:cNvGraphicFramePr/>
          <p:nvPr/>
        </p:nvGraphicFramePr>
        <p:xfrm>
          <a:off x="548640" y="1234440"/>
          <a:ext cx="548640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394960" cy="434340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6" name="Text 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Every region and every income level lost about 40 points — a nationwide shock, not a local one.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'inflation is down' doesn't feel like it</a:t>
            </a:r>
            <a:endParaRPr lang="en-US" sz="3000" dirty="0"/>
          </a:p>
        </p:txBody>
      </p:sp>
      <p:sp>
        <p:nvSpPr>
          <p:cNvPr id="3" name="Shape 1"/>
          <p:cNvSpPr/>
          <p:nvPr/>
        </p:nvSpPr>
        <p:spPr>
          <a:xfrm>
            <a:off x="548640" y="1325880"/>
            <a:ext cx="512064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4663440" cy="3931920"/>
          </a:xfrm>
          <a:prstGeom prst="rect">
            <a:avLst/>
          </a:prstGeom>
          <a:noFill/>
          <a:ln/>
        </p:spPr>
        <p:txBody>
          <a:bodyPr wrap="square" lIns="0" tIns="0" rIns="0" bIns="0" rtlCol="0" anchor="t"/>
          <a:lstStyle/>
          <a:p>
            <a:pPr indent="0" marL="0">
              <a:spcAft>
                <a:spcPts val="800"/>
              </a:spcAft>
              <a:buNone/>
            </a:pPr>
            <a:r>
              <a:rPr lang="en-US" sz="1800" b="1" dirty="0">
                <a:solidFill>
                  <a:srgbClr val="2A78D6"/>
                </a:solidFill>
                <a:latin typeface="Calibri" pitchFamily="34" charset="0"/>
                <a:ea typeface="Calibri" pitchFamily="34" charset="-122"/>
                <a:cs typeface="Calibri" pitchFamily="34" charset="-120"/>
              </a:rPr>
              <a:t>The egg example</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2021: eggs cost $2.</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2023: eggs cost $4. Inflation was high.</a:t>
            </a:r>
            <a:endParaRPr lang="en-US" sz="1800" dirty="0"/>
          </a:p>
          <a:p>
            <a:pPr indent="0" marL="0">
              <a:spcAft>
                <a:spcPts val="1200"/>
              </a:spcAft>
              <a:buNone/>
            </a:pPr>
            <a:r>
              <a:rPr lang="en-US" sz="1500" dirty="0">
                <a:solidFill>
                  <a:schemeClr val="tx1"/>
                </a:solidFill>
                <a:latin typeface="Calibri" pitchFamily="34" charset="0"/>
                <a:ea typeface="Calibri" pitchFamily="34" charset="-122"/>
                <a:cs typeface="Calibri" pitchFamily="34" charset="-120"/>
              </a:rPr>
              <a:t>2026: eggs cost $4.12. The government says inflation is 'low' (3%).</a:t>
            </a:r>
            <a:endParaRPr lang="en-US" sz="1800" dirty="0"/>
          </a:p>
          <a:p>
            <a:pPr indent="0" marL="0">
              <a:spcAft>
                <a:spcPts val="1200"/>
              </a:spcAft>
              <a:buNone/>
            </a:pPr>
            <a:r>
              <a:rPr lang="en-US" sz="1500" b="1" dirty="0">
                <a:solidFill>
                  <a:schemeClr val="tx1"/>
                </a:solidFill>
                <a:latin typeface="Calibri" pitchFamily="34" charset="0"/>
                <a:ea typeface="Calibri" pitchFamily="34" charset="-122"/>
                <a:cs typeface="Calibri" pitchFamily="34" charset="-120"/>
              </a:rPr>
              <a:t>Official inflation measures how fast prices are rising now — not whether they came back down. People remember $2.</a:t>
            </a:r>
            <a:endParaRPr lang="en-US" sz="1800" dirty="0"/>
          </a:p>
          <a:p>
            <a:pPr indent="0" marL="0">
              <a:buNone/>
            </a:pPr>
            <a:r>
              <a:rPr lang="en-US" sz="1400" dirty="0">
                <a:solidFill>
                  <a:srgbClr val="3A4150"/>
                </a:solidFill>
                <a:latin typeface="Calibri" pitchFamily="34" charset="0"/>
                <a:ea typeface="Calibri" pitchFamily="34" charset="-122"/>
                <a:cs typeface="Calibri" pitchFamily="34" charset="-120"/>
              </a:rPr>
              <a:t>It also leaves out loan costs: a 7% mortgage instead of 3% doesn't count as 'inflation'.</a:t>
            </a:r>
            <a:endParaRPr lang="en-US" sz="1800" dirty="0"/>
          </a:p>
        </p:txBody>
      </p:sp>
      <p:graphicFrame>
        <p:nvGraphicFramePr>
          <p:cNvPr id="5" name="Chart 0" descr=""/>
          <p:cNvGraphicFramePr/>
          <p:nvPr/>
        </p:nvGraphicFramePr>
        <p:xfrm>
          <a:off x="5943600" y="1234440"/>
          <a:ext cx="56692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Prices up 28%, paychecks up 26% — people aren't imagining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So what explains the 41-point drop since 2019?</a:t>
            </a:r>
            <a:endParaRPr lang="en-US" sz="3000" dirty="0"/>
          </a:p>
        </p:txBody>
      </p:sp>
      <p:graphicFrame>
        <p:nvGraphicFramePr>
          <p:cNvPr id="3" name="Chart 0" descr=""/>
          <p:cNvGraphicFramePr/>
          <p:nvPr/>
        </p:nvGraphicFramePr>
        <p:xfrm>
          <a:off x="548640" y="1234440"/>
          <a:ext cx="7223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25880"/>
            <a:ext cx="3566160" cy="4206240"/>
          </a:xfrm>
          <a:prstGeom prst="roundRect">
            <a:avLst>
              <a:gd name="adj" fmla="val 2051"/>
            </a:avLst>
          </a:prstGeom>
          <a:solidFill>
            <a:srgbClr val="F2F4F7"/>
          </a:solidFill>
          <a:ln w="12700">
            <a:solidFill>
              <a:srgbClr val="F2F4F7"/>
            </a:solidFill>
            <a:prstDash val="solid"/>
          </a:ln>
        </p:spPr>
      </p:sp>
      <p:sp>
        <p:nvSpPr>
          <p:cNvPr id="5" name="Text 2"/>
          <p:cNvSpPr txBox="1"/>
          <p:nvPr/>
        </p:nvSpPr>
        <p:spPr>
          <a:xfrm>
            <a:off x="8275320" y="1508760"/>
            <a:ext cx="3154680" cy="39319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Official numbers: only 13% of the drop.</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Everyday costs: the biggest piece (36%).</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Survey change: 16%.</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The rest (~12 points) is the most the media could possibly explain.</a:t>
            </a:r>
            <a:endParaRPr lang="en-US" sz="14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Most of the drop is real everyday pain plus a change in how the survey is done.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young adults fell furthest: it was their first big inflation</a:t>
            </a:r>
            <a:endParaRPr lang="en-US" sz="3000" dirty="0"/>
          </a:p>
        </p:txBody>
      </p:sp>
      <p:graphicFrame>
        <p:nvGraphicFramePr>
          <p:cNvPr id="3" name="Chart 0" descr=""/>
          <p:cNvGraphicFramePr/>
          <p:nvPr/>
        </p:nvGraphicFramePr>
        <p:xfrm>
          <a:off x="548640" y="1234440"/>
          <a:ext cx="4937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52160" y="1325880"/>
            <a:ext cx="57607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080760" y="1508760"/>
            <a:ext cx="5349240" cy="3931920"/>
          </a:xfrm>
          <a:prstGeom prst="rect">
            <a:avLst/>
          </a:prstGeom>
          <a:noFill/>
          <a:ln/>
        </p:spPr>
        <p:txBody>
          <a:bodyPr wrap="square" lIns="0" tIns="0" rIns="0" bIns="0" rtlCol="0" anchor="t"/>
          <a:lstStyle/>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The idea</a:t>
            </a:r>
            <a:endParaRPr lang="en-US" sz="17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People learn about inflation from what they have lived through. For a 26-year-old, two years of high inflation is a big share of their whole life. For a 66-year-old who lived through the 1970s, it's a small blip.</a:t>
            </a:r>
            <a:endParaRPr lang="en-US" sz="1700" dirty="0"/>
          </a:p>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What we found</a:t>
            </a:r>
            <a:endParaRPr lang="en-US" sz="1700" dirty="0"/>
          </a:p>
          <a:p>
            <a:pPr indent="0" marL="0">
              <a:spcAft>
                <a:spcPts val="600"/>
              </a:spcAft>
              <a:buNone/>
            </a:pPr>
            <a:r>
              <a:rPr lang="en-US" sz="1400" dirty="0">
                <a:solidFill>
                  <a:srgbClr val="1B1F27"/>
                </a:solidFill>
                <a:latin typeface="Calibri" pitchFamily="34" charset="0"/>
                <a:ea typeface="Calibri" pitchFamily="34" charset="-122"/>
                <a:cs typeface="Calibri" pitchFamily="34" charset="-120"/>
              </a:rPr>
              <a:t>The 2021–23 shock raised young adults' inflation memory about 10× more than older adults'.</a:t>
            </a:r>
            <a:endParaRPr lang="en-US" sz="1700" dirty="0"/>
          </a:p>
          <a:p>
            <a:pPr indent="0" marL="0">
              <a:buNone/>
            </a:pPr>
            <a:r>
              <a:rPr lang="en-US" sz="1400" b="1" dirty="0">
                <a:solidFill>
                  <a:srgbClr val="1B1F27"/>
                </a:solidFill>
                <a:latin typeface="Calibri" pitchFamily="34" charset="0"/>
                <a:ea typeface="Calibri" pitchFamily="34" charset="-122"/>
                <a:cs typeface="Calibri" pitchFamily="34" charset="-120"/>
              </a:rPr>
              <a:t>Young adults fell 10.4 points more than 55+. This effect explains about 8.2 of those 10.4 points.</a:t>
            </a:r>
            <a:endParaRPr lang="en-US" sz="17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Young people aren't irrational — they're learning from the only big inflation they've ever seen.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Is the media to blame? How we checked</a:t>
            </a:r>
            <a:endParaRPr lang="en-US" sz="3000" dirty="0"/>
          </a:p>
        </p:txBody>
      </p:sp>
      <p:sp>
        <p:nvSpPr>
          <p:cNvPr id="3" name="Shape 1"/>
          <p:cNvSpPr/>
          <p:nvPr/>
        </p:nvSpPr>
        <p:spPr>
          <a:xfrm>
            <a:off x="548640" y="1280160"/>
            <a:ext cx="2606040" cy="2423160"/>
          </a:xfrm>
          <a:prstGeom prst="roundRect">
            <a:avLst>
              <a:gd name="adj" fmla="val 3019"/>
            </a:avLst>
          </a:prstGeom>
          <a:solidFill>
            <a:srgbClr val="F2F4F7"/>
          </a:solidFill>
          <a:ln w="12700">
            <a:solidFill>
              <a:srgbClr val="F2F4F7"/>
            </a:solidFill>
            <a:prstDash val="solid"/>
          </a:ln>
        </p:spPr>
      </p:sp>
      <p:sp>
        <p:nvSpPr>
          <p:cNvPr id="4" name="Text 2"/>
          <p:cNvSpPr txBox="1"/>
          <p:nvPr/>
        </p:nvSpPr>
        <p:spPr>
          <a:xfrm>
            <a:off x="73152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1  Collected</a:t>
            </a:r>
            <a:endParaRPr lang="en-US" sz="1700" dirty="0"/>
          </a:p>
        </p:txBody>
      </p:sp>
      <p:sp>
        <p:nvSpPr>
          <p:cNvPr id="5" name="Text 3"/>
          <p:cNvSpPr txBox="1"/>
          <p:nvPr/>
        </p:nvSpPr>
        <p:spPr>
          <a:xfrm>
            <a:off x="73152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247k news headlines and social posts, 2010–2026, from 9,515+ outlets</a:t>
            </a:r>
            <a:endParaRPr lang="en-US" sz="1300" dirty="0"/>
          </a:p>
        </p:txBody>
      </p:sp>
      <p:sp>
        <p:nvSpPr>
          <p:cNvPr id="6" name="Shape 4"/>
          <p:cNvSpPr/>
          <p:nvPr/>
        </p:nvSpPr>
        <p:spPr>
          <a:xfrm>
            <a:off x="3383280" y="1280160"/>
            <a:ext cx="2606040" cy="2423160"/>
          </a:xfrm>
          <a:prstGeom prst="roundRect">
            <a:avLst>
              <a:gd name="adj" fmla="val 3019"/>
            </a:avLst>
          </a:prstGeom>
          <a:solidFill>
            <a:srgbClr val="F2F4F7"/>
          </a:solidFill>
          <a:ln w="12700">
            <a:solidFill>
              <a:srgbClr val="F2F4F7"/>
            </a:solidFill>
            <a:prstDash val="solid"/>
          </a:ln>
        </p:spPr>
      </p:sp>
      <p:sp>
        <p:nvSpPr>
          <p:cNvPr id="7" name="Text 5"/>
          <p:cNvSpPr txBox="1"/>
          <p:nvPr/>
        </p:nvSpPr>
        <p:spPr>
          <a:xfrm>
            <a:off x="356616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2  Rulebook</a:t>
            </a:r>
            <a:endParaRPr lang="en-US" sz="1700" dirty="0"/>
          </a:p>
        </p:txBody>
      </p:sp>
      <p:sp>
        <p:nvSpPr>
          <p:cNvPr id="8" name="Text 6"/>
          <p:cNvSpPr txBox="1"/>
          <p:nvPr/>
        </p:nvSpPr>
        <p:spPr>
          <a:xfrm>
            <a:off x="356616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Wrote clear rules first: is this good or bad news for households? Is it slanted?</a:t>
            </a:r>
            <a:endParaRPr lang="en-US" sz="1300" dirty="0"/>
          </a:p>
        </p:txBody>
      </p:sp>
      <p:sp>
        <p:nvSpPr>
          <p:cNvPr id="9" name="Shape 7"/>
          <p:cNvSpPr/>
          <p:nvPr/>
        </p:nvSpPr>
        <p:spPr>
          <a:xfrm>
            <a:off x="6217920" y="1280160"/>
            <a:ext cx="2606040" cy="2423160"/>
          </a:xfrm>
          <a:prstGeom prst="roundRect">
            <a:avLst>
              <a:gd name="adj" fmla="val 3019"/>
            </a:avLst>
          </a:prstGeom>
          <a:solidFill>
            <a:srgbClr val="F2F4F7"/>
          </a:solidFill>
          <a:ln w="12700">
            <a:solidFill>
              <a:srgbClr val="F2F4F7"/>
            </a:solidFill>
            <a:prstDash val="solid"/>
          </a:ln>
        </p:spPr>
      </p:sp>
      <p:sp>
        <p:nvSpPr>
          <p:cNvPr id="10" name="Text 8"/>
          <p:cNvSpPr txBox="1"/>
          <p:nvPr/>
        </p:nvSpPr>
        <p:spPr>
          <a:xfrm>
            <a:off x="640080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3  AI reader</a:t>
            </a:r>
            <a:endParaRPr lang="en-US" sz="1700" dirty="0"/>
          </a:p>
        </p:txBody>
      </p:sp>
      <p:sp>
        <p:nvSpPr>
          <p:cNvPr id="11" name="Text 9"/>
          <p:cNvSpPr txBox="1"/>
          <p:nvPr/>
        </p:nvSpPr>
        <p:spPr>
          <a:xfrm>
            <a:off x="640080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An AI read every headline. A human checked 300: the AI agreed 70% of the time — better than word lists (43%) or other AI (50%)</a:t>
            </a:r>
            <a:endParaRPr lang="en-US" sz="1300" dirty="0"/>
          </a:p>
        </p:txBody>
      </p:sp>
      <p:sp>
        <p:nvSpPr>
          <p:cNvPr id="12" name="Shape 10"/>
          <p:cNvSpPr/>
          <p:nvPr/>
        </p:nvSpPr>
        <p:spPr>
          <a:xfrm>
            <a:off x="9052560" y="1280160"/>
            <a:ext cx="2606040" cy="2423160"/>
          </a:xfrm>
          <a:prstGeom prst="roundRect">
            <a:avLst>
              <a:gd name="adj" fmla="val 3019"/>
            </a:avLst>
          </a:prstGeom>
          <a:solidFill>
            <a:srgbClr val="F2F4F7"/>
          </a:solidFill>
          <a:ln w="12700">
            <a:solidFill>
              <a:srgbClr val="F2F4F7"/>
            </a:solidFill>
            <a:prstDash val="solid"/>
          </a:ln>
        </p:spPr>
      </p:sp>
      <p:sp>
        <p:nvSpPr>
          <p:cNvPr id="13" name="Text 11"/>
          <p:cNvSpPr txBox="1"/>
          <p:nvPr/>
        </p:nvSpPr>
        <p:spPr>
          <a:xfrm>
            <a:off x="923544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4  Fair tests</a:t>
            </a:r>
            <a:endParaRPr lang="en-US" sz="1700" dirty="0"/>
          </a:p>
        </p:txBody>
      </p:sp>
      <p:sp>
        <p:nvSpPr>
          <p:cNvPr id="14" name="Text 12"/>
          <p:cNvSpPr txBox="1"/>
          <p:nvPr/>
        </p:nvSpPr>
        <p:spPr>
          <a:xfrm>
            <a:off x="923544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Negative isn't biased if the news is bad. We compared coverage to the real data and to other outlets in the same month</a:t>
            </a:r>
            <a:endParaRPr lang="en-US" sz="1300" dirty="0"/>
          </a:p>
        </p:txBody>
      </p:sp>
      <p:sp>
        <p:nvSpPr>
          <p:cNvPr id="15" name="Shape 13"/>
          <p:cNvSpPr/>
          <p:nvPr/>
        </p:nvSpPr>
        <p:spPr>
          <a:xfrm>
            <a:off x="548640" y="3886200"/>
            <a:ext cx="11064240" cy="1691640"/>
          </a:xfrm>
          <a:prstGeom prst="roundRect">
            <a:avLst>
              <a:gd name="adj" fmla="val 4324"/>
            </a:avLst>
          </a:prstGeom>
          <a:solidFill>
            <a:srgbClr val="EAF2FC"/>
          </a:solidFill>
          <a:ln w="12700">
            <a:solidFill>
              <a:srgbClr val="EAF2FC"/>
            </a:solidFill>
            <a:prstDash val="solid"/>
          </a:ln>
        </p:spPr>
      </p:sp>
      <p:sp>
        <p:nvSpPr>
          <p:cNvPr id="16" name="Text 14"/>
          <p:cNvSpPr txBox="1"/>
          <p:nvPr/>
        </p:nvSpPr>
        <p:spPr>
          <a:xfrm>
            <a:off x="777240" y="4005072"/>
            <a:ext cx="10607040" cy="15087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Yes, there is political slant: right-leaning outlets sound much more negative when a Democrat is president (and vice versa).</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No, the news isn't overly negative: bad news isn't covered more than equally big good news, and 'inflation falling' stories rise when inflation falls.</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Adding news data to our forecast made it 25% worse. Adding everyday-cost data made it 24% better.</a:t>
            </a:r>
            <a:endParaRPr lang="en-US" sz="1400" dirty="0"/>
          </a:p>
        </p:txBody>
      </p:sp>
      <p:sp>
        <p:nvSpPr>
          <p:cNvPr id="17" name="Shape 1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8" name="Text 1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has a political tilt, but it isn't driving the mood — knowing the news doesn't help predict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test: moods kept falling, but the news didn't get worse</a:t>
            </a:r>
            <a:endParaRPr lang="en-US" sz="3000" dirty="0"/>
          </a:p>
        </p:txBody>
      </p:sp>
      <p:graphicFrame>
        <p:nvGraphicFramePr>
          <p:cNvPr id="3" name="Chart 0" descr=""/>
          <p:cNvGraphicFramePr/>
          <p:nvPr/>
        </p:nvGraphicFramePr>
        <p:xfrm>
          <a:off x="548640" y="1234440"/>
          <a:ext cx="53949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309360" y="1325880"/>
            <a:ext cx="53035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537960" y="1508760"/>
            <a:ext cx="489204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should have happened if media caused it</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Sentiment fell another 14.5 points after January 2025. If the news drove that, news coverage should have turned much more negative.</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actually happened</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Overall news tone barely changed. Even in the worst case, that change explains about 0.9 point of the 14.5-point drop.</a:t>
            </a:r>
            <a:endParaRPr lang="en-US" sz="1600" dirty="0"/>
          </a:p>
          <a:p>
            <a:pPr indent="0" marL="0">
              <a:buNone/>
            </a:pPr>
            <a:r>
              <a:rPr lang="en-US" sz="1300" dirty="0">
                <a:solidFill>
                  <a:srgbClr val="3A4150"/>
                </a:solidFill>
                <a:latin typeface="Calibri" pitchFamily="34" charset="0"/>
                <a:ea typeface="Calibri" pitchFamily="34" charset="-122"/>
                <a:cs typeface="Calibri" pitchFamily="34" charset="-120"/>
              </a:rPr>
              <a:t>Right-leaning outlets did turn more positive under Trump — slant follows whoever is in power — but the total news mood stayed the same.</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can amplify the mood, but it didn't cause the collapse.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 this means for investors and forecasters</a:t>
            </a:r>
            <a:endParaRPr lang="en-US" sz="3000" dirty="0"/>
          </a:p>
        </p:txBody>
      </p:sp>
      <p:graphicFrame>
        <p:nvGraphicFramePr>
          <p:cNvPr id="3" name="Chart 0" descr=""/>
          <p:cNvGraphicFramePr/>
          <p:nvPr/>
        </p:nvGraphicFramePr>
        <p:xfrm>
          <a:off x="548640" y="1234440"/>
          <a:ext cx="667512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1B1F27"/>
          </a:solidFill>
          <a:ln w="12700">
            <a:solidFill>
              <a:srgbClr val="1B1F27"/>
            </a:solidFill>
            <a:prstDash val="solid"/>
          </a:ln>
        </p:spPr>
      </p:sp>
      <p:sp>
        <p:nvSpPr>
          <p:cNvPr id="5" name="Text 2"/>
          <p:cNvSpPr txBox="1"/>
          <p:nvPr/>
        </p:nvSpPr>
        <p:spPr>
          <a:xfrm>
            <a:off x="7726680" y="1554480"/>
            <a:ext cx="3657600" cy="393192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latin typeface="Calibri" pitchFamily="34" charset="0"/>
                <a:ea typeface="Calibri" pitchFamily="34" charset="-122"/>
                <a:cs typeface="Calibri" pitchFamily="34" charset="-120"/>
              </a:rPr>
              <a:t>The lesson</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Since 2022 people said they felt awful — and kept spending about 2.5% more each year.</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Using the survey as-is made spending forecasts 20% worse. Using only the part that matches the economy made them 17% better.</a:t>
            </a:r>
            <a:endParaRPr lang="en-US" sz="1800" dirty="0"/>
          </a:p>
          <a:p>
            <a:pPr indent="0" marL="0">
              <a:buNone/>
            </a:pPr>
            <a:r>
              <a:rPr lang="en-US" sz="1400" b="1" dirty="0">
                <a:solidFill>
                  <a:srgbClr val="F2B8B5"/>
                </a:solidFill>
                <a:latin typeface="Calibri" pitchFamily="34" charset="0"/>
                <a:ea typeface="Calibri" pitchFamily="34" charset="-122"/>
                <a:cs typeface="Calibri" pitchFamily="34" charset="-120"/>
              </a:rPr>
              <a:t>So: separate real economic worry from the 'gloom gap' before betting on a recession.</a:t>
            </a:r>
            <a:endParaRPr lang="en-US" sz="18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Bottom line: high prices, the survey change and lived experience — not media bias — explain the gloom.</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Thank you</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2000" b="1" dirty="0">
                <a:solidFill>
                  <a:srgbClr val="F2B8B5"/>
                </a:solidFill>
                <a:latin typeface="Calibri" pitchFamily="34" charset="0"/>
                <a:ea typeface="Calibri" pitchFamily="34" charset="-122"/>
                <a:cs typeface="Calibri" pitchFamily="34" charset="-120"/>
              </a:rPr>
              <a:t>Key takeaway</a:t>
            </a:r>
            <a:endParaRPr lang="en-US" sz="1800" dirty="0"/>
          </a:p>
          <a:p>
            <a:pPr indent="0" marL="0">
              <a:buNone/>
            </a:pPr>
            <a:r>
              <a:rPr lang="en-US" sz="2000" dirty="0">
                <a:solidFill>
                  <a:srgbClr val="FFFFFF"/>
                </a:solidFill>
                <a:latin typeface="Calibri" pitchFamily="34" charset="0"/>
                <a:ea typeface="Calibri" pitchFamily="34" charset="-122"/>
                <a:cs typeface="Calibri" pitchFamily="34" charset="-120"/>
              </a:rPr>
              <a:t>Americans aren't gloomy because of biased news. Prices stayed high, the survey changed, and young people lived through their first big inflation.</a:t>
            </a:r>
            <a:endParaRPr lang="en-US" sz="1800" dirty="0"/>
          </a:p>
          <a:p>
            <a:pPr indent="0" marL="0">
              <a:buNone/>
            </a:pPr>
            <a:r>
              <a:rPr lang="en-US" sz="1800" b="1" dirty="0">
                <a:solidFill>
                  <a:srgbClr val="CBD2DC"/>
                </a:solidFill>
                <a:latin typeface="Calibri" pitchFamily="34" charset="0"/>
                <a:ea typeface="Calibri" pitchFamily="34" charset="-122"/>
                <a:cs typeface="Calibri" pitchFamily="34" charset="-120"/>
              </a:rPr>
              <a:t>Questions?</a:t>
            </a:r>
            <a:endParaRPr lang="en-US" sz="1800" dirty="0"/>
          </a:p>
        </p:txBody>
      </p:sp>
    </p:spTree>
  </p:cSld>
  <p:clrMapOvr>
    <a:masterClrMapping/>
  </p:clrMapOvr>
</p:sld>
</file>

<file path=ppt/theme/theme1.xml><?xml version="1.0" encoding="utf-8"?>
<a:theme xmlns:a="http://schemas.openxmlformats.org/drawingml/2006/main" name="Sentiment Gap">
  <a:themeElements>
    <a:clrScheme name="Sentiment Gap">
      <a:dk1>
        <a:srgbClr val="1B1F27"/>
      </a:dk1>
      <a:lt1>
        <a:srgbClr val="FFFFFF"/>
      </a:lt1>
      <a:dk2>
        <a:srgbClr val="3A4150"/>
      </a:dk2>
      <a:lt2>
        <a:srgbClr val="F2F4F7"/>
      </a:lt2>
      <a:accent1>
        <a:srgbClr val="C8433F"/>
      </a:accent1>
      <a:accent2>
        <a:srgbClr val="2A78D6"/>
      </a:accent2>
      <a:accent3>
        <a:srgbClr val="1F8A5B"/>
      </a:accent3>
      <a:accent4>
        <a:srgbClr val="D99A1E"/>
      </a:accent4>
      <a:accent5>
        <a:srgbClr val="7A8392"/>
      </a:accent5>
      <a:accent6>
        <a:srgbClr val="6A5ACD"/>
      </a:accent6>
      <a:hlink>
        <a:srgbClr val="2A78D6"/>
      </a:hlink>
      <a:folHlink>
        <a:srgbClr val="6A5ACD"/>
      </a:folHlink>
    </a:clrScheme>
    <a:fontScheme name="Sentiment Ga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do Americans feel this bad about the economy?</dc:title>
  <dc:subject>PptxGenJS Presentation</dc:subject>
  <dc:creator>AI Applications in Finance — Final Project</dc:creator>
  <cp:lastModifiedBy>AI Applications in Finance — Final Project</cp:lastModifiedBy>
  <cp:revision>1</cp:revision>
  <dcterms:created xsi:type="dcterms:W3CDTF">2026-10-17T02:29:15Z</dcterms:created>
  <dcterms:modified xsi:type="dcterms:W3CDTF">2026-10-17T02:29:15Z</dcterms:modified>
</cp:coreProperties>
</file>