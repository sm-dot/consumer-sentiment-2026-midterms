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9.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0.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Question" id="{33d14c0f-1c42-7557-f86d-a3316a21de77}">
          <p14:sldIdLst>
            <p14:sldId id="256"/>
            <p14:sldId id="257"/>
          </p14:sldIdLst>
        </p14:section>
        <p14:section name="Approach" id="{40c31b20-55e2-ba54-1fd8-08816e4a828c}">
          <p14:sldIdLst>
            <p14:sldId id="258"/>
            <p14:sldId id="259"/>
          </p14:sldIdLst>
        </p14:section>
        <p14:section name="Who" id="{98ed16e2-d2a7-36cb-84b1-dab3a2b4aa9c}">
          <p14:sldIdLst>
            <p14:sldId id="260"/>
            <p14:sldId id="261"/>
          </p14:sldIdLst>
        </p14:section>
        <p14:section name="Why" id="{49f7c477-89aa-9654-fd04-04f0ac526b93}">
          <p14:sldIdLst>
            <p14:sldId id="262"/>
            <p14:sldId id="263"/>
            <p14:sldId id="264"/>
            <p14:sldId id="265"/>
            <p14:sldId id="266"/>
          </p14:sldIdLst>
        </p14:section>
        <p14:section name="Media" id="{15929bcb-7e83-e698-993c-800b350da609}">
          <p14:sldIdLst>
            <p14:sldId id="267"/>
            <p14:sldId id="268"/>
          </p14:sldIdLst>
        </p14:section>
        <p14:section name="So what" id="{a250556c-cc8b-9e25-dd40-3f4b627df8f9}">
          <p14:sldIdLst>
            <p14:sldId id="269"/>
            <p14:sldId id="270"/>
            <p14:sldId id="271"/>
          </p14:sldIdLst>
        </p14:section>
        <p14:section name="Extra clarification" id="{90d066b1-77fe-d172-2c6f-97ddf97271ac}">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4150"/>
                </a:solidFill>
                <a:latin typeface="+mn-lt"/>
              </a:defRPr>
            </a:pPr>
            <a:r>
              <a:rPr sz="1200" b="0" i="0" u="none" strike="noStrike">
                <a:solidFill>
                  <a:srgbClr val="3A4150"/>
                </a:solidFill>
                <a:latin typeface="+mn-lt"/>
              </a:rPr>
              <a:t>Sentiment score, 2015–2026 (100 = how people felt in 1966; 50s = very gloomy)</a:t>
            </a:r>
          </a:p>
        </c:rich>
      </c:tx>
      <c:layout/>
      <c:overlay val="0"/>
    </c:title>
    <c:autoTitleDeleted val="0"/>
    <c:plotArea>
      <c:layout/>
      <c:lineChart>
        <c:varyColors val="0"/>
        <c:ser>
          <c:idx val="0"/>
          <c:order val="0"/>
          <c:tx>
            <c:strRef>
              <c:f>Sheet1!$B$1</c:f>
              <c:strCache>
                <c:ptCount val="1"/>
                <c:pt idx="0">
                  <c:v>How people actually feel</c:v>
                </c:pt>
              </c:strCache>
            </c:strRef>
          </c:tx>
          <c:spPr>
            <a:solidFill>
              <a:srgbClr val="1B1F27"/>
            </a:solidFill>
            <a:ln w="31750" cap="flat">
              <a:solidFill>
                <a:srgbClr val="1B1F2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B1F27"/>
              </a:solidFill>
              <a:ln w="9525" cap="flat">
                <a:solidFill>
                  <a:srgbClr val="1B1F27"/>
                </a:solidFill>
                <a:prstDash val="solid"/>
                <a:round/>
              </a:ln>
              <a:effectLst/>
            </c:spPr>
          </c:marker>
          <c:cat>
            <c:multiLvlStrRef>
              <c:f>Sheet1!$A$2:$A$49</c:f>
              <c:multiLvlStrCache>
                <c:ptCount val="48"/>
                <c:lvl>
                  <c:pt idx="0">
                    <c:v>2015Q1</c:v>
                  </c:pt>
                  <c:pt idx="1">
                    <c:v>2015Q2</c:v>
                  </c:pt>
                  <c:pt idx="2">
                    <c:v>2015Q3</c:v>
                  </c:pt>
                  <c:pt idx="3">
                    <c:v>2015Q4</c:v>
                  </c:pt>
                  <c:pt idx="4">
                    <c:v>2016Q1</c:v>
                  </c:pt>
                  <c:pt idx="5">
                    <c:v>2016Q2</c:v>
                  </c:pt>
                  <c:pt idx="6">
                    <c:v>2016Q3</c:v>
                  </c:pt>
                  <c:pt idx="7">
                    <c:v>2016Q4</c:v>
                  </c:pt>
                  <c:pt idx="8">
                    <c:v>2017Q1</c:v>
                  </c:pt>
                  <c:pt idx="9">
                    <c:v>2017Q2</c:v>
                  </c:pt>
                  <c:pt idx="10">
                    <c:v>2017Q3</c:v>
                  </c:pt>
                  <c:pt idx="11">
                    <c:v>2017Q4</c:v>
                  </c:pt>
                  <c:pt idx="12">
                    <c:v>2018Q1</c:v>
                  </c:pt>
                  <c:pt idx="13">
                    <c:v>2018Q2</c:v>
                  </c:pt>
                  <c:pt idx="14">
                    <c:v>2018Q3</c:v>
                  </c:pt>
                  <c:pt idx="15">
                    <c:v>2018Q4</c:v>
                  </c:pt>
                  <c:pt idx="16">
                    <c:v>2019Q1</c:v>
                  </c:pt>
                  <c:pt idx="17">
                    <c:v>2019Q2</c:v>
                  </c:pt>
                  <c:pt idx="18">
                    <c:v>2019Q3</c:v>
                  </c:pt>
                  <c:pt idx="19">
                    <c:v>2019Q4</c:v>
                  </c:pt>
                  <c:pt idx="20">
                    <c:v>2020Q1</c:v>
                  </c:pt>
                  <c:pt idx="21">
                    <c:v>2020Q2</c:v>
                  </c:pt>
                  <c:pt idx="22">
                    <c:v>2020Q3</c:v>
                  </c:pt>
                  <c:pt idx="23">
                    <c:v>2020Q4</c:v>
                  </c:pt>
                  <c:pt idx="24">
                    <c:v>2021Q1</c:v>
                  </c:pt>
                  <c:pt idx="25">
                    <c:v>2021Q2</c:v>
                  </c:pt>
                  <c:pt idx="26">
                    <c:v>2021Q3</c:v>
                  </c:pt>
                  <c:pt idx="27">
                    <c:v>2021Q4</c:v>
                  </c:pt>
                  <c:pt idx="28">
                    <c:v>2022Q1</c:v>
                  </c:pt>
                  <c:pt idx="29">
                    <c:v>2022Q2</c:v>
                  </c:pt>
                  <c:pt idx="30">
                    <c:v>2022Q3</c:v>
                  </c:pt>
                  <c:pt idx="31">
                    <c:v>2022Q4</c:v>
                  </c:pt>
                  <c:pt idx="32">
                    <c:v>2023Q1</c:v>
                  </c:pt>
                  <c:pt idx="33">
                    <c:v>2023Q2</c:v>
                  </c:pt>
                  <c:pt idx="34">
                    <c:v>2023Q3</c:v>
                  </c:pt>
                  <c:pt idx="35">
                    <c:v>2023Q4</c:v>
                  </c:pt>
                  <c:pt idx="36">
                    <c:v>2024Q1</c:v>
                  </c:pt>
                  <c:pt idx="37">
                    <c:v>2024Q2</c:v>
                  </c:pt>
                  <c:pt idx="38">
                    <c:v>2024Q3</c:v>
                  </c:pt>
                  <c:pt idx="39">
                    <c:v>2024Q4</c:v>
                  </c:pt>
                  <c:pt idx="40">
                    <c:v>2025Q1</c:v>
                  </c:pt>
                  <c:pt idx="41">
                    <c:v>2025Q2</c:v>
                  </c:pt>
                  <c:pt idx="42">
                    <c:v>2025Q3</c:v>
                  </c:pt>
                  <c:pt idx="43">
                    <c:v>2025Q4</c:v>
                  </c:pt>
                  <c:pt idx="44">
                    <c:v>2026Q1</c:v>
                  </c:pt>
                  <c:pt idx="45">
                    <c:v>2026Q2</c:v>
                  </c:pt>
                  <c:pt idx="46">
                    <c:v>2026Q3</c:v>
                  </c:pt>
                  <c:pt idx="47">
                    <c:v>2026Q4</c:v>
                  </c:pt>
                </c:lvl>
              </c:multiLvlStrCache>
            </c:multiLvlStrRef>
          </c:cat>
          <c:val>
            <c:numRef>
              <c:f>Sheet1!$B$2:$B$49</c:f>
              <c:numCache>
                <c:formatCode>General</c:formatCode>
                <c:ptCount val="48"/>
                <c:pt idx="0">
                  <c:v>95.5</c:v>
                </c:pt>
                <c:pt idx="1">
                  <c:v>94.2</c:v>
                </c:pt>
                <c:pt idx="2">
                  <c:v>90.7</c:v>
                </c:pt>
                <c:pt idx="3">
                  <c:v>91.3</c:v>
                </c:pt>
                <c:pt idx="4">
                  <c:v>91.6</c:v>
                </c:pt>
                <c:pt idx="5">
                  <c:v>92.4</c:v>
                </c:pt>
                <c:pt idx="6">
                  <c:v>90.3</c:v>
                </c:pt>
                <c:pt idx="7">
                  <c:v>93.1</c:v>
                </c:pt>
                <c:pt idx="8">
                  <c:v>97.2</c:v>
                </c:pt>
                <c:pt idx="9">
                  <c:v>96.4</c:v>
                </c:pt>
                <c:pt idx="10">
                  <c:v>95.1</c:v>
                </c:pt>
                <c:pt idx="11">
                  <c:v>98.4</c:v>
                </c:pt>
                <c:pt idx="12">
                  <c:v>98.9</c:v>
                </c:pt>
                <c:pt idx="13">
                  <c:v>98.3</c:v>
                </c:pt>
                <c:pt idx="14">
                  <c:v>98.1</c:v>
                </c:pt>
                <c:pt idx="15">
                  <c:v>98.1</c:v>
                </c:pt>
                <c:pt idx="16">
                  <c:v>94.5</c:v>
                </c:pt>
                <c:pt idx="17">
                  <c:v>98.5</c:v>
                </c:pt>
                <c:pt idx="18">
                  <c:v>93.8</c:v>
                </c:pt>
                <c:pt idx="19">
                  <c:v>97.2</c:v>
                </c:pt>
                <c:pt idx="20">
                  <c:v>96.6</c:v>
                </c:pt>
                <c:pt idx="21">
                  <c:v>74.1</c:v>
                </c:pt>
                <c:pt idx="22">
                  <c:v>75.7</c:v>
                </c:pt>
                <c:pt idx="23">
                  <c:v>79.8</c:v>
                </c:pt>
                <c:pt idx="24">
                  <c:v>80.2</c:v>
                </c:pt>
                <c:pt idx="25">
                  <c:v>85.6</c:v>
                </c:pt>
                <c:pt idx="26">
                  <c:v>74.8</c:v>
                </c:pt>
                <c:pt idx="27">
                  <c:v>69.9</c:v>
                </c:pt>
                <c:pt idx="28">
                  <c:v>63.1</c:v>
                </c:pt>
                <c:pt idx="29">
                  <c:v>57.9</c:v>
                </c:pt>
                <c:pt idx="30">
                  <c:v>56.1</c:v>
                </c:pt>
                <c:pt idx="31">
                  <c:v>58.8</c:v>
                </c:pt>
                <c:pt idx="32">
                  <c:v>64.6</c:v>
                </c:pt>
                <c:pt idx="33">
                  <c:v>62.3</c:v>
                </c:pt>
                <c:pt idx="34">
                  <c:v>69.6</c:v>
                </c:pt>
                <c:pt idx="35">
                  <c:v>64.9</c:v>
                </c:pt>
                <c:pt idx="36">
                  <c:v>78.4</c:v>
                </c:pt>
                <c:pt idx="37">
                  <c:v>71.5</c:v>
                </c:pt>
                <c:pt idx="38">
                  <c:v>68.1</c:v>
                </c:pt>
                <c:pt idx="39">
                  <c:v>72.1</c:v>
                </c:pt>
                <c:pt idx="40">
                  <c:v>64.5</c:v>
                </c:pt>
                <c:pt idx="41">
                  <c:v>55</c:v>
                </c:pt>
                <c:pt idx="42">
                  <c:v>58.3</c:v>
                </c:pt>
                <c:pt idx="43">
                  <c:v>52.5</c:v>
                </c:pt>
                <c:pt idx="44">
                  <c:v>55.4</c:v>
                </c:pt>
                <c:pt idx="45">
                  <c:v>48</c:v>
                </c:pt>
                <c:pt idx="46">
                  <c:v>51.7</c:v>
                </c:pt>
                <c:pt idx="47">
                  <c:v>46.3</c:v>
                </c:pt>
              </c:numCache>
            </c:numRef>
          </c:val>
          <c:smooth val="0"/>
        </c:ser>
        <c:ser>
          <c:idx val="1"/>
          <c:order val="1"/>
          <c:tx>
            <c:strRef>
              <c:f>Sheet1!$C$1</c:f>
              <c:strCache>
                <c:ptCount val="1"/>
                <c:pt idx="0">
                  <c:v>How they 'should' feel, given jobs, inflation and growth</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Sheet1!$A$2:$A$49</c:f>
              <c:multiLvlStrCache>
                <c:ptCount val="48"/>
                <c:lvl>
                  <c:pt idx="0">
                    <c:v>2015Q1</c:v>
                  </c:pt>
                  <c:pt idx="1">
                    <c:v>2015Q2</c:v>
                  </c:pt>
                  <c:pt idx="2">
                    <c:v>2015Q3</c:v>
                  </c:pt>
                  <c:pt idx="3">
                    <c:v>2015Q4</c:v>
                  </c:pt>
                  <c:pt idx="4">
                    <c:v>2016Q1</c:v>
                  </c:pt>
                  <c:pt idx="5">
                    <c:v>2016Q2</c:v>
                  </c:pt>
                  <c:pt idx="6">
                    <c:v>2016Q3</c:v>
                  </c:pt>
                  <c:pt idx="7">
                    <c:v>2016Q4</c:v>
                  </c:pt>
                  <c:pt idx="8">
                    <c:v>2017Q1</c:v>
                  </c:pt>
                  <c:pt idx="9">
                    <c:v>2017Q2</c:v>
                  </c:pt>
                  <c:pt idx="10">
                    <c:v>2017Q3</c:v>
                  </c:pt>
                  <c:pt idx="11">
                    <c:v>2017Q4</c:v>
                  </c:pt>
                  <c:pt idx="12">
                    <c:v>2018Q1</c:v>
                  </c:pt>
                  <c:pt idx="13">
                    <c:v>2018Q2</c:v>
                  </c:pt>
                  <c:pt idx="14">
                    <c:v>2018Q3</c:v>
                  </c:pt>
                  <c:pt idx="15">
                    <c:v>2018Q4</c:v>
                  </c:pt>
                  <c:pt idx="16">
                    <c:v>2019Q1</c:v>
                  </c:pt>
                  <c:pt idx="17">
                    <c:v>2019Q2</c:v>
                  </c:pt>
                  <c:pt idx="18">
                    <c:v>2019Q3</c:v>
                  </c:pt>
                  <c:pt idx="19">
                    <c:v>2019Q4</c:v>
                  </c:pt>
                  <c:pt idx="20">
                    <c:v>2020Q1</c:v>
                  </c:pt>
                  <c:pt idx="21">
                    <c:v>2020Q2</c:v>
                  </c:pt>
                  <c:pt idx="22">
                    <c:v>2020Q3</c:v>
                  </c:pt>
                  <c:pt idx="23">
                    <c:v>2020Q4</c:v>
                  </c:pt>
                  <c:pt idx="24">
                    <c:v>2021Q1</c:v>
                  </c:pt>
                  <c:pt idx="25">
                    <c:v>2021Q2</c:v>
                  </c:pt>
                  <c:pt idx="26">
                    <c:v>2021Q3</c:v>
                  </c:pt>
                  <c:pt idx="27">
                    <c:v>2021Q4</c:v>
                  </c:pt>
                  <c:pt idx="28">
                    <c:v>2022Q1</c:v>
                  </c:pt>
                  <c:pt idx="29">
                    <c:v>2022Q2</c:v>
                  </c:pt>
                  <c:pt idx="30">
                    <c:v>2022Q3</c:v>
                  </c:pt>
                  <c:pt idx="31">
                    <c:v>2022Q4</c:v>
                  </c:pt>
                  <c:pt idx="32">
                    <c:v>2023Q1</c:v>
                  </c:pt>
                  <c:pt idx="33">
                    <c:v>2023Q2</c:v>
                  </c:pt>
                  <c:pt idx="34">
                    <c:v>2023Q3</c:v>
                  </c:pt>
                  <c:pt idx="35">
                    <c:v>2023Q4</c:v>
                  </c:pt>
                  <c:pt idx="36">
                    <c:v>2024Q1</c:v>
                  </c:pt>
                  <c:pt idx="37">
                    <c:v>2024Q2</c:v>
                  </c:pt>
                  <c:pt idx="38">
                    <c:v>2024Q3</c:v>
                  </c:pt>
                  <c:pt idx="39">
                    <c:v>2024Q4</c:v>
                  </c:pt>
                  <c:pt idx="40">
                    <c:v>2025Q1</c:v>
                  </c:pt>
                  <c:pt idx="41">
                    <c:v>2025Q2</c:v>
                  </c:pt>
                  <c:pt idx="42">
                    <c:v>2025Q3</c:v>
                  </c:pt>
                  <c:pt idx="43">
                    <c:v>2025Q4</c:v>
                  </c:pt>
                  <c:pt idx="44">
                    <c:v>2026Q1</c:v>
                  </c:pt>
                  <c:pt idx="45">
                    <c:v>2026Q2</c:v>
                  </c:pt>
                  <c:pt idx="46">
                    <c:v>2026Q3</c:v>
                  </c:pt>
                  <c:pt idx="47">
                    <c:v>2026Q4</c:v>
                  </c:pt>
                </c:lvl>
              </c:multiLvlStrCache>
            </c:multiLvlStrRef>
          </c:cat>
          <c:val>
            <c:numRef>
              <c:f>Sheet1!$C$2:$C$49</c:f>
              <c:numCache>
                <c:formatCode>General</c:formatCode>
                <c:ptCount val="48"/>
                <c:pt idx="0">
                  <c:v>92.3</c:v>
                </c:pt>
                <c:pt idx="1">
                  <c:v>94</c:v>
                </c:pt>
                <c:pt idx="2">
                  <c:v>94.4</c:v>
                </c:pt>
                <c:pt idx="3">
                  <c:v>94</c:v>
                </c:pt>
                <c:pt idx="4">
                  <c:v>92.7</c:v>
                </c:pt>
                <c:pt idx="5">
                  <c:v>92.1</c:v>
                </c:pt>
                <c:pt idx="6">
                  <c:v>90.9</c:v>
                </c:pt>
                <c:pt idx="7">
                  <c:v>90.1</c:v>
                </c:pt>
                <c:pt idx="8">
                  <c:v>90.7</c:v>
                </c:pt>
                <c:pt idx="9">
                  <c:v>91.4</c:v>
                </c:pt>
                <c:pt idx="10">
                  <c:v>92.9</c:v>
                </c:pt>
                <c:pt idx="11">
                  <c:v>93.3</c:v>
                </c:pt>
                <c:pt idx="12">
                  <c:v>94</c:v>
                </c:pt>
                <c:pt idx="13">
                  <c:v>94.9</c:v>
                </c:pt>
                <c:pt idx="14">
                  <c:v>94.7</c:v>
                </c:pt>
                <c:pt idx="15">
                  <c:v>95.9</c:v>
                </c:pt>
                <c:pt idx="16">
                  <c:v>96.3</c:v>
                </c:pt>
                <c:pt idx="17">
                  <c:v>97.5</c:v>
                </c:pt>
                <c:pt idx="18">
                  <c:v>96.5</c:v>
                </c:pt>
                <c:pt idx="19">
                  <c:v>95.6</c:v>
                </c:pt>
                <c:pt idx="20">
                  <c:v>95.5</c:v>
                </c:pt>
                <c:pt idx="21">
                  <c:v>74.2</c:v>
                </c:pt>
                <c:pt idx="22">
                  <c:v>60.1</c:v>
                </c:pt>
                <c:pt idx="23">
                  <c:v>71.6</c:v>
                </c:pt>
                <c:pt idx="24">
                  <c:v>78.7</c:v>
                </c:pt>
                <c:pt idx="25">
                  <c:v>81.5</c:v>
                </c:pt>
                <c:pt idx="26">
                  <c:v>97.1</c:v>
                </c:pt>
                <c:pt idx="27">
                  <c:v>95.4</c:v>
                </c:pt>
                <c:pt idx="28">
                  <c:v>90.1</c:v>
                </c:pt>
                <c:pt idx="29">
                  <c:v>86.9</c:v>
                </c:pt>
                <c:pt idx="30">
                  <c:v>82.5</c:v>
                </c:pt>
                <c:pt idx="31">
                  <c:v>81.5</c:v>
                </c:pt>
                <c:pt idx="32">
                  <c:v>82.1</c:v>
                </c:pt>
                <c:pt idx="33">
                  <c:v>84.3</c:v>
                </c:pt>
                <c:pt idx="34">
                  <c:v>88.2</c:v>
                </c:pt>
                <c:pt idx="35">
                  <c:v>89.1</c:v>
                </c:pt>
                <c:pt idx="36">
                  <c:v>90.6</c:v>
                </c:pt>
                <c:pt idx="37">
                  <c:v>90</c:v>
                </c:pt>
                <c:pt idx="38">
                  <c:v>90.1</c:v>
                </c:pt>
                <c:pt idx="39">
                  <c:v>90.1</c:v>
                </c:pt>
                <c:pt idx="40">
                  <c:v>88.9</c:v>
                </c:pt>
                <c:pt idx="41">
                  <c:v>88.2</c:v>
                </c:pt>
                <c:pt idx="42">
                  <c:v>87</c:v>
                </c:pt>
                <c:pt idx="43">
                  <c:v>86.2</c:v>
                </c:pt>
                <c:pt idx="44">
                  <c:v>86.2</c:v>
                </c:pt>
                <c:pt idx="45">
                  <c:v>84.8</c:v>
                </c:pt>
                <c:pt idx="46">
                  <c:v>83.4</c:v>
                </c:pt>
                <c:pt idx="47">
                  <c:v>83.2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A8392"/>
                </a:solidFill>
                <a:latin typeface="+mn-lt"/>
              </a:defRPr>
            </a:pPr>
            <a:endParaRPr lang="en-US"/>
          </a:p>
        </c:txPr>
        <c:crossAx val="2094734552"/>
        <c:crosses val="autoZero"/>
        <c:auto val="1"/>
        <c:lblAlgn val="ctr"/>
        <c:noMultiLvlLbl val="1"/>
        <c:tickLblSkip val="4"/>
      </c:catAx>
      <c:valAx>
        <c:axId val="2094734552"/>
        <c:scaling>
          <c:orientation val="minMax"/>
          <c:max val="110"/>
          <c:min val="30"/>
        </c:scaling>
        <c:delete val="0"/>
        <c:axPos val="l"/>
        <c:majorGridlines>
          <c:spPr>
            <a:ln w="6350" cap="flat">
              <a:solidFill>
                <a:srgbClr val="E6E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839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A41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4150"/>
                </a:solidFill>
                <a:latin typeface="+mn-lt"/>
              </a:defRPr>
            </a:pPr>
            <a:r>
              <a:rPr sz="1200" b="0" i="0" u="none" strike="noStrike">
                <a:solidFill>
                  <a:srgbClr val="3A4150"/>
                </a:solidFill>
                <a:latin typeface="+mn-lt"/>
              </a:rPr>
              <a:t>Sentiment score by age: before (2019) vs now (2025–26)</a:t>
            </a:r>
          </a:p>
        </c:rich>
      </c:tx>
      <c:layout/>
      <c:overlay val="0"/>
    </c:title>
    <c:autoTitleDeleted val="0"/>
    <c:plotArea>
      <c:layout/>
      <c:barChart>
        <c:barDir val="col"/>
        <c:grouping val="clustered"/>
        <c:varyColors val="0"/>
        <c:ser>
          <c:idx val="0"/>
          <c:order val="0"/>
          <c:tx>
            <c:strRef>
              <c:f>Sheet1!$B$1</c:f>
              <c:strCache>
                <c:ptCount val="1"/>
                <c:pt idx="0">
                  <c:v>2019</c:v>
                </c:pt>
              </c:strCache>
            </c:strRef>
          </c:tx>
          <c:spPr>
            <a:solidFill>
              <a:srgbClr val="9EC5F4"/>
            </a:solidFill>
            <a:effectLst/>
          </c:spPr>
          <c:invertIfNegative val="0"/>
          <c:dLbls>
            <c:numFmt formatCode="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cat>
            <c:multiLvlStrRef>
              <c:f>Sheet1!$A$2:$A$4</c:f>
              <c:multiLvlStrCache>
                <c:ptCount val="3"/>
                <c:lvl>
                  <c:pt idx="0">
                    <c:v>18–34</c:v>
                  </c:pt>
                  <c:pt idx="1">
                    <c:v>35–54</c:v>
                  </c:pt>
                  <c:pt idx="2">
                    <c:v>55+</c:v>
                  </c:pt>
                </c:lvl>
              </c:multiLvlStrCache>
            </c:multiLvlStrRef>
          </c:cat>
          <c:val>
            <c:numRef>
              <c:f>Sheet1!$B$2:$B$4</c:f>
              <c:numCache>
                <c:formatCode>General</c:formatCode>
                <c:ptCount val="3"/>
                <c:pt idx="0">
                  <c:v>101</c:v>
                </c:pt>
                <c:pt idx="1">
                  <c:v>97</c:v>
                </c:pt>
                <c:pt idx="2">
                  <c:v>93</c:v>
                </c:pt>
              </c:numCache>
            </c:numRef>
          </c:val>
        </c:ser>
        <c:ser>
          <c:idx val="1"/>
          <c:order val="1"/>
          <c:tx>
            <c:strRef>
              <c:f>Sheet1!$C$1</c:f>
              <c:strCache>
                <c:ptCount val="1"/>
                <c:pt idx="0">
                  <c:v>2025–26</c:v>
                </c:pt>
              </c:strCache>
            </c:strRef>
          </c:tx>
          <c:spPr>
            <a:solidFill>
              <a:srgbClr val="C8433F"/>
            </a:solidFill>
            <a:effectLst/>
          </c:spPr>
          <c:invertIfNegative val="0"/>
          <c:dLbls>
            <c:numFmt formatCode="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cat>
            <c:multiLvlStrRef>
              <c:f>Sheet1!$A$2:$A$4</c:f>
              <c:multiLvlStrCache>
                <c:ptCount val="3"/>
                <c:lvl>
                  <c:pt idx="0">
                    <c:v>18–34</c:v>
                  </c:pt>
                  <c:pt idx="1">
                    <c:v>35–54</c:v>
                  </c:pt>
                  <c:pt idx="2">
                    <c:v>55+</c:v>
                  </c:pt>
                </c:lvl>
              </c:multiLvlStrCache>
            </c:multiLvlStrRef>
          </c:cat>
          <c:val>
            <c:numRef>
              <c:f>Sheet1!$C$2:$C$4</c:f>
              <c:numCache>
                <c:formatCode>General</c:formatCode>
                <c:ptCount val="3"/>
                <c:pt idx="0">
                  <c:v>54</c:v>
                </c:pt>
                <c:pt idx="1">
                  <c:v>53</c:v>
                </c:pt>
                <c:pt idx="2">
                  <c:v>56</c:v>
                </c:pt>
              </c:numCache>
            </c:numRef>
          </c:val>
        </c:ser>
        <c:dLbls>
          <c:numFmt formatCode="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150"/>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A41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4150"/>
                </a:solidFill>
                <a:latin typeface="+mn-lt"/>
              </a:defRPr>
            </a:pPr>
            <a:r>
              <a:rPr sz="1200" b="0" i="0" u="none" strike="noStrike">
                <a:solidFill>
                  <a:srgbClr val="3A4150"/>
                </a:solidFill>
                <a:latin typeface="+mn-lt"/>
              </a:rPr>
              <a:t>By region: before vs now</a:t>
            </a:r>
          </a:p>
        </c:rich>
      </c:tx>
      <c:layout/>
      <c:overlay val="0"/>
    </c:title>
    <c:autoTitleDeleted val="0"/>
    <c:plotArea>
      <c:layout/>
      <c:barChart>
        <c:barDir val="col"/>
        <c:grouping val="clustered"/>
        <c:varyColors val="0"/>
        <c:ser>
          <c:idx val="0"/>
          <c:order val="0"/>
          <c:tx>
            <c:strRef>
              <c:f>Sheet1!$B$1</c:f>
              <c:strCache>
                <c:ptCount val="1"/>
                <c:pt idx="0">
                  <c:v>2019</c:v>
                </c:pt>
              </c:strCache>
            </c:strRef>
          </c:tx>
          <c:spPr>
            <a:solidFill>
              <a:srgbClr val="9EC5F4"/>
            </a:solidFill>
            <a:effectLst/>
          </c:spPr>
          <c:invertIfNegative val="0"/>
          <c:dLbls>
            <c:numFmt formatCode="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cat>
            <c:multiLvlStrRef>
              <c:f>Sheet1!$A$2:$A$5</c:f>
              <c:multiLvlStrCache>
                <c:ptCount val="4"/>
                <c:lvl>
                  <c:pt idx="0">
                    <c:v>Northeast</c:v>
                  </c:pt>
                  <c:pt idx="1">
                    <c:v>North Central</c:v>
                  </c:pt>
                  <c:pt idx="2">
                    <c:v>South</c:v>
                  </c:pt>
                  <c:pt idx="3">
                    <c:v>West</c:v>
                  </c:pt>
                </c:lvl>
              </c:multiLvlStrCache>
            </c:multiLvlStrRef>
          </c:cat>
          <c:val>
            <c:numRef>
              <c:f>Sheet1!$B$2:$B$5</c:f>
              <c:numCache>
                <c:formatCode>General</c:formatCode>
                <c:ptCount val="4"/>
                <c:pt idx="0">
                  <c:v>91</c:v>
                </c:pt>
                <c:pt idx="1">
                  <c:v>95</c:v>
                </c:pt>
                <c:pt idx="2">
                  <c:v>100</c:v>
                </c:pt>
                <c:pt idx="3">
                  <c:v>94</c:v>
                </c:pt>
              </c:numCache>
            </c:numRef>
          </c:val>
        </c:ser>
        <c:ser>
          <c:idx val="1"/>
          <c:order val="1"/>
          <c:tx>
            <c:strRef>
              <c:f>Sheet1!$C$1</c:f>
              <c:strCache>
                <c:ptCount val="1"/>
                <c:pt idx="0">
                  <c:v>2025–26</c:v>
                </c:pt>
              </c:strCache>
            </c:strRef>
          </c:tx>
          <c:spPr>
            <a:solidFill>
              <a:srgbClr val="2A78D6"/>
            </a:solidFill>
            <a:effectLst/>
          </c:spPr>
          <c:invertIfNegative val="0"/>
          <c:dLbls>
            <c:numFmt formatCode="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cat>
            <c:multiLvlStrRef>
              <c:f>Sheet1!$A$2:$A$5</c:f>
              <c:multiLvlStrCache>
                <c:ptCount val="4"/>
                <c:lvl>
                  <c:pt idx="0">
                    <c:v>Northeast</c:v>
                  </c:pt>
                  <c:pt idx="1">
                    <c:v>North Central</c:v>
                  </c:pt>
                  <c:pt idx="2">
                    <c:v>South</c:v>
                  </c:pt>
                  <c:pt idx="3">
                    <c:v>West</c:v>
                  </c:pt>
                </c:lvl>
              </c:multiLvlStrCache>
            </c:multiLvlStrRef>
          </c:cat>
          <c:val>
            <c:numRef>
              <c:f>Sheet1!$C$2:$C$5</c:f>
              <c:numCache>
                <c:formatCode>General</c:formatCode>
                <c:ptCount val="4"/>
                <c:pt idx="0">
                  <c:v>55</c:v>
                </c:pt>
                <c:pt idx="1">
                  <c:v>55</c:v>
                </c:pt>
                <c:pt idx="2">
                  <c:v>58</c:v>
                </c:pt>
                <c:pt idx="3">
                  <c:v>51</c:v>
                </c:pt>
              </c:numCache>
            </c:numRef>
          </c:val>
        </c:ser>
        <c:dLbls>
          <c:numFmt formatCode="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150"/>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A41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4150"/>
                </a:solidFill>
                <a:latin typeface="+mn-lt"/>
              </a:defRPr>
            </a:pPr>
            <a:r>
              <a:rPr sz="1200" b="0" i="0" u="none" strike="noStrike">
                <a:solidFill>
                  <a:srgbClr val="3A4150"/>
                </a:solidFill>
                <a:latin typeface="+mn-lt"/>
              </a:rPr>
              <a:t>By income: before vs now</a:t>
            </a:r>
          </a:p>
        </c:rich>
      </c:tx>
      <c:layout/>
      <c:overlay val="0"/>
    </c:title>
    <c:autoTitleDeleted val="0"/>
    <c:plotArea>
      <c:layout/>
      <c:barChart>
        <c:barDir val="col"/>
        <c:grouping val="clustered"/>
        <c:varyColors val="0"/>
        <c:ser>
          <c:idx val="0"/>
          <c:order val="0"/>
          <c:tx>
            <c:strRef>
              <c:f>Sheet1!$B$1</c:f>
              <c:strCache>
                <c:ptCount val="1"/>
                <c:pt idx="0">
                  <c:v>2019</c:v>
                </c:pt>
              </c:strCache>
            </c:strRef>
          </c:tx>
          <c:spPr>
            <a:solidFill>
              <a:srgbClr val="C9C2F0"/>
            </a:solidFill>
            <a:effectLst/>
          </c:spPr>
          <c:invertIfNegative val="0"/>
          <c:dLbls>
            <c:numFmt formatCode="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cat>
            <c:multiLvlStrRef>
              <c:f>Sheet1!$A$2:$A$4</c:f>
              <c:multiLvlStrCache>
                <c:ptCount val="3"/>
                <c:lvl>
                  <c:pt idx="0">
                    <c:v>Bottom third</c:v>
                  </c:pt>
                  <c:pt idx="1">
                    <c:v>Middle third</c:v>
                  </c:pt>
                  <c:pt idx="2">
                    <c:v>Top third</c:v>
                  </c:pt>
                </c:lvl>
              </c:multiLvlStrCache>
            </c:multiLvlStrRef>
          </c:cat>
          <c:val>
            <c:numRef>
              <c:f>Sheet1!$B$2:$B$4</c:f>
              <c:numCache>
                <c:formatCode>General</c:formatCode>
                <c:ptCount val="3"/>
                <c:pt idx="0">
                  <c:v>89</c:v>
                </c:pt>
                <c:pt idx="1">
                  <c:v>99</c:v>
                </c:pt>
                <c:pt idx="2">
                  <c:v>101</c:v>
                </c:pt>
              </c:numCache>
            </c:numRef>
          </c:val>
        </c:ser>
        <c:ser>
          <c:idx val="1"/>
          <c:order val="1"/>
          <c:tx>
            <c:strRef>
              <c:f>Sheet1!$C$1</c:f>
              <c:strCache>
                <c:ptCount val="1"/>
                <c:pt idx="0">
                  <c:v>2025–26</c:v>
                </c:pt>
              </c:strCache>
            </c:strRef>
          </c:tx>
          <c:spPr>
            <a:solidFill>
              <a:srgbClr val="6A5ACD"/>
            </a:solidFill>
            <a:effectLst/>
          </c:spPr>
          <c:invertIfNegative val="0"/>
          <c:dLbls>
            <c:numFmt formatCode="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cat>
            <c:multiLvlStrRef>
              <c:f>Sheet1!$A$2:$A$4</c:f>
              <c:multiLvlStrCache>
                <c:ptCount val="3"/>
                <c:lvl>
                  <c:pt idx="0">
                    <c:v>Bottom third</c:v>
                  </c:pt>
                  <c:pt idx="1">
                    <c:v>Middle third</c:v>
                  </c:pt>
                  <c:pt idx="2">
                    <c:v>Top third</c:v>
                  </c:pt>
                </c:lvl>
              </c:multiLvlStrCache>
            </c:multiLvlStrRef>
          </c:cat>
          <c:val>
            <c:numRef>
              <c:f>Sheet1!$C$2:$C$4</c:f>
              <c:numCache>
                <c:formatCode>General</c:formatCode>
                <c:ptCount val="3"/>
                <c:pt idx="0">
                  <c:v>49</c:v>
                </c:pt>
                <c:pt idx="1">
                  <c:v>55</c:v>
                </c:pt>
                <c:pt idx="2">
                  <c:v>61</c:v>
                </c:pt>
              </c:numCache>
            </c:numRef>
          </c:val>
        </c:ser>
        <c:dLbls>
          <c:numFmt formatCode="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150"/>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A41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4150"/>
                </a:solidFill>
                <a:latin typeface="+mn-lt"/>
              </a:defRPr>
            </a:pPr>
            <a:r>
              <a:rPr sz="1200" b="0" i="0" u="none" strike="noStrike">
                <a:solidFill>
                  <a:srgbClr val="3A4150"/>
                </a:solidFill>
                <a:latin typeface="+mn-lt"/>
              </a:rPr>
              <a:t>% of Michigan respondents giving each reason (they answer in their own words)</a:t>
            </a:r>
          </a:p>
        </c:rich>
      </c:tx>
      <c:layout/>
      <c:overlay val="0"/>
    </c:title>
    <c:autoTitleDeleted val="0"/>
    <c:plotArea>
      <c:layout/>
      <c:barChart>
        <c:barDir val="col"/>
        <c:grouping val="clustered"/>
        <c:varyColors val="0"/>
        <c:ser>
          <c:idx val="0"/>
          <c:order val="0"/>
          <c:tx>
            <c:strRef>
              <c:f>Sheet1!$B$1</c:f>
              <c:strCache>
                <c:ptCount val="1"/>
                <c:pt idx="0">
                  <c:v>2019</c:v>
                </c:pt>
              </c:strCache>
            </c:strRef>
          </c:tx>
          <c:spPr>
            <a:solidFill>
              <a:srgbClr val="C9D3E0"/>
            </a:solidFill>
            <a:effectLst/>
          </c:spPr>
          <c:invertIfNegative val="0"/>
          <c:dLbls>
            <c:numFmt formatCode="0&quot;%&quot;" sourceLinked="0"/>
            <c:txPr>
              <a:bodyPr/>
              <a:lstStyle/>
              <a:p>
                <a:pPr>
                  <a:defRPr b="0" i="0" strike="noStrike" sz="1100" u="none">
                    <a:solidFill>
                      <a:srgbClr val="1B1F27"/>
                    </a:solidFill>
                    <a:latin typeface="+mn-lt"/>
                  </a:defRPr>
                </a:pPr>
              </a:p>
            </c:txPr>
            <c:showLegendKey val="0"/>
            <c:showVal val="1"/>
            <c:showCatName val="0"/>
            <c:showSerName val="0"/>
            <c:showPercent val="0"/>
            <c:showBubbleSize val="0"/>
            <c:showLeaderLines val="0"/>
          </c:dLbls>
          <c:cat>
            <c:multiLvlStrRef>
              <c:f>Sheet1!$A$2:$A$4</c:f>
              <c:multiLvlStrCache>
                <c:ptCount val="3"/>
                <c:lvl>
                  <c:pt idx="0">
                    <c:v>Worse off because of higher prices</c:v>
                  </c:pt>
                  <c:pt idx="1">
                    <c:v>Bad time to buy a home: interest rates</c:v>
                  </c:pt>
                  <c:pt idx="2">
                    <c:v>Bad time to buy big items: prices high</c:v>
                  </c:pt>
                </c:lvl>
              </c:multiLvlStrCache>
            </c:multiLvlStrRef>
          </c:cat>
          <c:val>
            <c:numRef>
              <c:f>Sheet1!$B$2:$B$4</c:f>
              <c:numCache>
                <c:formatCode>General</c:formatCode>
                <c:ptCount val="3"/>
                <c:pt idx="0">
                  <c:v>7.3</c:v>
                </c:pt>
                <c:pt idx="1">
                  <c:v>8.3</c:v>
                </c:pt>
                <c:pt idx="2">
                  <c:v>11.2</c:v>
                </c:pt>
              </c:numCache>
            </c:numRef>
          </c:val>
        </c:ser>
        <c:ser>
          <c:idx val="1"/>
          <c:order val="1"/>
          <c:tx>
            <c:strRef>
              <c:f>Sheet1!$C$1</c:f>
              <c:strCache>
                <c:ptCount val="1"/>
                <c:pt idx="0">
                  <c:v>2022 (inflation peak)</c:v>
                </c:pt>
              </c:strCache>
            </c:strRef>
          </c:tx>
          <c:spPr>
            <a:solidFill>
              <a:srgbClr val="F2B8B5"/>
            </a:solidFill>
            <a:effectLst/>
          </c:spPr>
          <c:invertIfNegative val="0"/>
          <c:dLbls>
            <c:numFmt formatCode="0&quot;%&quot;" sourceLinked="0"/>
            <c:txPr>
              <a:bodyPr/>
              <a:lstStyle/>
              <a:p>
                <a:pPr>
                  <a:defRPr b="0" i="0" strike="noStrike" sz="1100" u="none">
                    <a:solidFill>
                      <a:srgbClr val="1B1F27"/>
                    </a:solidFill>
                    <a:latin typeface="+mn-lt"/>
                  </a:defRPr>
                </a:pPr>
              </a:p>
            </c:txPr>
            <c:showLegendKey val="0"/>
            <c:showVal val="1"/>
            <c:showCatName val="0"/>
            <c:showSerName val="0"/>
            <c:showPercent val="0"/>
            <c:showBubbleSize val="0"/>
            <c:showLeaderLines val="0"/>
          </c:dLbls>
          <c:cat>
            <c:multiLvlStrRef>
              <c:f>Sheet1!$A$2:$A$4</c:f>
              <c:multiLvlStrCache>
                <c:ptCount val="3"/>
                <c:lvl>
                  <c:pt idx="0">
                    <c:v>Worse off because of higher prices</c:v>
                  </c:pt>
                  <c:pt idx="1">
                    <c:v>Bad time to buy a home: interest rates</c:v>
                  </c:pt>
                  <c:pt idx="2">
                    <c:v>Bad time to buy big items: prices high</c:v>
                  </c:pt>
                </c:lvl>
              </c:multiLvlStrCache>
            </c:multiLvlStrRef>
          </c:cat>
          <c:val>
            <c:numRef>
              <c:f>Sheet1!$C$2:$C$4</c:f>
              <c:numCache>
                <c:formatCode>General</c:formatCode>
                <c:ptCount val="3"/>
                <c:pt idx="0">
                  <c:v>39.8</c:v>
                </c:pt>
                <c:pt idx="1">
                  <c:v>37.1</c:v>
                </c:pt>
                <c:pt idx="2">
                  <c:v>42.4</c:v>
                </c:pt>
              </c:numCache>
            </c:numRef>
          </c:val>
        </c:ser>
        <c:ser>
          <c:idx val="2"/>
          <c:order val="2"/>
          <c:tx>
            <c:strRef>
              <c:f>Sheet1!$D$1</c:f>
              <c:strCache>
                <c:ptCount val="1"/>
                <c:pt idx="0">
                  <c:v>2025–26</c:v>
                </c:pt>
              </c:strCache>
            </c:strRef>
          </c:tx>
          <c:spPr>
            <a:solidFill>
              <a:srgbClr val="C8433F"/>
            </a:solidFill>
            <a:effectLst/>
          </c:spPr>
          <c:invertIfNegative val="0"/>
          <c:dLbls>
            <c:numFmt formatCode="0&quot;%&quot;" sourceLinked="0"/>
            <c:txPr>
              <a:bodyPr/>
              <a:lstStyle/>
              <a:p>
                <a:pPr>
                  <a:defRPr b="0" i="0" strike="noStrike" sz="1100" u="none">
                    <a:solidFill>
                      <a:srgbClr val="1B1F27"/>
                    </a:solidFill>
                    <a:latin typeface="+mn-lt"/>
                  </a:defRPr>
                </a:pPr>
              </a:p>
            </c:txPr>
            <c:showLegendKey val="0"/>
            <c:showVal val="1"/>
            <c:showCatName val="0"/>
            <c:showSerName val="0"/>
            <c:showPercent val="0"/>
            <c:showBubbleSize val="0"/>
            <c:showLeaderLines val="0"/>
          </c:dLbls>
          <c:cat>
            <c:multiLvlStrRef>
              <c:f>Sheet1!$A$2:$A$4</c:f>
              <c:multiLvlStrCache>
                <c:ptCount val="3"/>
                <c:lvl>
                  <c:pt idx="0">
                    <c:v>Worse off because of higher prices</c:v>
                  </c:pt>
                  <c:pt idx="1">
                    <c:v>Bad time to buy a home: interest rates</c:v>
                  </c:pt>
                  <c:pt idx="2">
                    <c:v>Bad time to buy big items: prices high</c:v>
                  </c:pt>
                </c:lvl>
              </c:multiLvlStrCache>
            </c:multiLvlStrRef>
          </c:cat>
          <c:val>
            <c:numRef>
              <c:f>Sheet1!$D$2:$D$4</c:f>
              <c:numCache>
                <c:formatCode>General</c:formatCode>
                <c:ptCount val="3"/>
                <c:pt idx="0">
                  <c:v>44.8</c:v>
                </c:pt>
                <c:pt idx="1">
                  <c:v>44</c:v>
                </c:pt>
                <c:pt idx="2">
                  <c:v>33.4</c:v>
                </c:pt>
              </c:numCache>
            </c:numRef>
          </c:val>
        </c:ser>
        <c:dLbls>
          <c:numFmt formatCode="0&quot;%&quot;" sourceLinked="0"/>
          <c:txPr>
            <a:bodyPr/>
            <a:lstStyle/>
            <a:p>
              <a:pPr>
                <a:defRPr b="0" i="0" strike="noStrike" sz="1100" u="none">
                  <a:solidFill>
                    <a:srgbClr val="1B1F27"/>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3A415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A41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4150"/>
                </a:solidFill>
                <a:latin typeface="+mn-lt"/>
              </a:defRPr>
            </a:pPr>
            <a:r>
              <a:rPr sz="1200" b="0" i="0" u="none" strike="noStrike">
                <a:solidFill>
                  <a:srgbClr val="3A4150"/>
                </a:solidFill>
                <a:latin typeface="+mn-lt"/>
              </a:rPr>
              <a:t>How much more things cost vs how much more people earn (Jan 2021 → Sep 2026)</a:t>
            </a:r>
          </a:p>
        </c:rich>
      </c:tx>
      <c:layout/>
      <c:overlay val="0"/>
    </c:title>
    <c:autoTitleDeleted val="0"/>
    <c:plotArea>
      <c:layout/>
      <c:barChart>
        <c:barDir val="bar"/>
        <c:grouping val="clustered"/>
        <c:varyColors val="0"/>
        <c:ser>
          <c:idx val="0"/>
          <c:order val="0"/>
          <c:tx>
            <c:strRef>
              <c:f>Sheet1!$B$1</c:f>
              <c:strCache>
                <c:ptCount val="1"/>
                <c:pt idx="0">
                  <c:v>% increase since January 2021</c:v>
                </c:pt>
              </c:strCache>
            </c:strRef>
          </c:tx>
          <c:spPr>
            <a:solidFill>
              <a:srgbClr val="7A8392"/>
            </a:solidFill>
            <a:effectLst/>
          </c:spPr>
          <c:invertIfNegative val="0"/>
          <c:dLbls>
            <c:numFmt formatCode="0&quot;%&quot;"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dPt>
            <c:idx val="0"/>
            <c:invertIfNegative val="0"/>
            <c:bubble3D val="0"/>
            <c:spPr>
              <a:solidFill>
                <a:srgbClr val="7A8392"/>
              </a:solidFill>
              <a:effectLst/>
            </c:spPr>
          </c:dPt>
          <c:dPt>
            <c:idx val="1"/>
            <c:invertIfNegative val="0"/>
            <c:bubble3D val="0"/>
            <c:spPr>
              <a:solidFill>
                <a:srgbClr val="C8433F"/>
              </a:solidFill>
              <a:effectLst/>
            </c:spPr>
          </c:dPt>
          <c:dPt>
            <c:idx val="2"/>
            <c:invertIfNegative val="0"/>
            <c:bubble3D val="0"/>
            <c:spPr>
              <a:solidFill>
                <a:srgbClr val="C8433F"/>
              </a:solidFill>
              <a:effectLst/>
            </c:spPr>
          </c:dPt>
          <c:dPt>
            <c:idx val="3"/>
            <c:invertIfNegative val="0"/>
            <c:bubble3D val="0"/>
            <c:spPr>
              <a:solidFill>
                <a:srgbClr val="C8433F"/>
              </a:solidFill>
              <a:effectLst/>
            </c:spPr>
          </c:dPt>
          <c:dPt>
            <c:idx val="4"/>
            <c:invertIfNegative val="0"/>
            <c:bubble3D val="0"/>
            <c:spPr>
              <a:solidFill>
                <a:srgbClr val="1F8A5B"/>
              </a:solidFill>
              <a:effectLst/>
            </c:spPr>
          </c:dPt>
          <c:cat>
            <c:multiLvlStrRef>
              <c:f>Sheet1!$A$2:$A$6</c:f>
              <c:multiLvlStrCache>
                <c:ptCount val="5"/>
                <c:lvl>
                  <c:pt idx="0">
                    <c:v>Headline CPI</c:v>
                  </c:pt>
                  <c:pt idx="1">
                    <c:v>Groceries</c:v>
                  </c:pt>
                  <c:pt idx="2">
                    <c:v>Shelter</c:v>
                  </c:pt>
                  <c:pt idx="3">
                    <c:v>Gasoline</c:v>
                  </c:pt>
                  <c:pt idx="4">
                    <c:v>Hourly wages</c:v>
                  </c:pt>
                </c:lvl>
              </c:multiLvlStrCache>
            </c:multiLvlStrRef>
          </c:cat>
          <c:val>
            <c:numRef>
              <c:f>Sheet1!$B$2:$B$6</c:f>
              <c:numCache>
                <c:formatCode>General</c:formatCode>
                <c:ptCount val="5"/>
                <c:pt idx="0">
                  <c:v>28</c:v>
                </c:pt>
                <c:pt idx="1">
                  <c:v>27.2</c:v>
                </c:pt>
                <c:pt idx="2">
                  <c:v>31.5</c:v>
                </c:pt>
                <c:pt idx="3">
                  <c:v>68.4</c:v>
                </c:pt>
                <c:pt idx="4">
                  <c:v>26.3</c:v>
                </c:pt>
              </c:numCache>
            </c:numRef>
          </c:val>
        </c:ser>
        <c:dLbls>
          <c:numFmt formatCode="0&quot;%&quot;"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415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4150"/>
                </a:solidFill>
                <a:latin typeface="+mn-lt"/>
              </a:defRPr>
            </a:pPr>
            <a:r>
              <a:rPr sz="1200" b="0" i="0" u="none" strike="noStrike">
                <a:solidFill>
                  <a:srgbClr val="3A4150"/>
                </a:solidFill>
                <a:latin typeface="+mn-lt"/>
              </a:rPr>
              <a:t>Points of the 41-point drop since 2019 explained by each cause</a:t>
            </a:r>
          </a:p>
        </c:rich>
      </c:tx>
      <c:layout/>
      <c:overlay val="0"/>
    </c:title>
    <c:autoTitleDeleted val="0"/>
    <c:plotArea>
      <c:layout/>
      <c:barChart>
        <c:barDir val="bar"/>
        <c:grouping val="clustered"/>
        <c:varyColors val="0"/>
        <c:ser>
          <c:idx val="0"/>
          <c:order val="0"/>
          <c:tx>
            <c:strRef>
              <c:f>Sheet1!$B$1</c:f>
              <c:strCache>
                <c:ptCount val="1"/>
                <c:pt idx="0">
                  <c:v>Points of the drop</c:v>
                </c:pt>
              </c:strCache>
            </c:strRef>
          </c:tx>
          <c:spPr>
            <a:solidFill>
              <a:srgbClr val="C8433F"/>
            </a:solidFill>
            <a:effectLst/>
          </c:spPr>
          <c:invertIfNegative val="0"/>
          <c:dLbls>
            <c:numFmt formatCode="0.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dPt>
            <c:idx val="0"/>
            <c:invertIfNegative val="0"/>
            <c:bubble3D val="0"/>
            <c:spPr>
              <a:solidFill>
                <a:srgbClr val="C8433F"/>
              </a:solidFill>
              <a:effectLst/>
            </c:spPr>
          </c:dPt>
          <c:dPt>
            <c:idx val="1"/>
            <c:invertIfNegative val="0"/>
            <c:bubble3D val="0"/>
            <c:spPr>
              <a:solidFill>
                <a:srgbClr val="2A78D6"/>
              </a:solidFill>
              <a:effectLst/>
            </c:spPr>
          </c:dPt>
          <c:dPt>
            <c:idx val="2"/>
            <c:invertIfNegative val="0"/>
            <c:bubble3D val="0"/>
            <c:spPr>
              <a:solidFill>
                <a:srgbClr val="D99A1E"/>
              </a:solidFill>
              <a:effectLst/>
            </c:spPr>
          </c:dPt>
          <c:dPt>
            <c:idx val="3"/>
            <c:invertIfNegative val="0"/>
            <c:bubble3D val="0"/>
            <c:spPr>
              <a:solidFill>
                <a:srgbClr val="6A5ACD"/>
              </a:solidFill>
              <a:effectLst/>
            </c:spPr>
          </c:dPt>
          <c:dPt>
            <c:idx val="4"/>
            <c:invertIfNegative val="0"/>
            <c:bubble3D val="0"/>
            <c:spPr>
              <a:solidFill>
                <a:srgbClr val="7A8392"/>
              </a:solidFill>
              <a:effectLst/>
            </c:spPr>
          </c:dPt>
          <c:dPt>
            <c:idx val="5"/>
            <c:invertIfNegative val="0"/>
            <c:bubble3D val="0"/>
            <c:spPr>
              <a:solidFill>
                <a:srgbClr val="C9CED6"/>
              </a:solidFill>
              <a:effectLst/>
            </c:spPr>
          </c:dPt>
          <c:cat>
            <c:multiLvlStrRef>
              <c:f>Sheet1!$A$2:$A$7</c:f>
              <c:multiLvlStrCache>
                <c:ptCount val="6"/>
                <c:lvl>
                  <c:pt idx="0">
                    <c:v>High prices &amp; cost of living</c:v>
                  </c:pt>
                  <c:pt idx="1">
                    <c:v>Survey moved online</c:v>
                  </c:pt>
                  <c:pt idx="2">
                    <c:v>Policy uncertainty (tariffs, shutdown)</c:v>
                  </c:pt>
                  <c:pt idx="3">
                    <c:v>Jobs, income, growth &amp; mortgage rates</c:v>
                  </c:pt>
                  <c:pt idx="4">
                    <c:v>Partisan mix of who answers</c:v>
                  </c:pt>
                  <c:pt idx="5">
                    <c:v>Not explained by any measure</c:v>
                  </c:pt>
                </c:lvl>
              </c:multiLvlStrCache>
            </c:multiLvlStrRef>
          </c:cat>
          <c:val>
            <c:numRef>
              <c:f>Sheet1!$B$2:$B$7</c:f>
              <c:numCache>
                <c:formatCode>General</c:formatCode>
                <c:ptCount val="6"/>
                <c:pt idx="0">
                  <c:v>11.4</c:v>
                </c:pt>
                <c:pt idx="1">
                  <c:v>6.6</c:v>
                </c:pt>
                <c:pt idx="2">
                  <c:v>6.1</c:v>
                </c:pt>
                <c:pt idx="3">
                  <c:v>2.5</c:v>
                </c:pt>
                <c:pt idx="4">
                  <c:v>2.4</c:v>
                </c:pt>
                <c:pt idx="5">
                  <c:v>12.4</c:v>
                </c:pt>
              </c:numCache>
            </c:numRef>
          </c:val>
        </c:ser>
        <c:dLbls>
          <c:numFmt formatCode="0.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50" b="0" i="0" u="none" strike="noStrike">
                <a:solidFill>
                  <a:srgbClr val="3A415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4150"/>
                </a:solidFill>
                <a:latin typeface="+mn-lt"/>
              </a:defRPr>
            </a:pPr>
            <a:r>
              <a:rPr sz="1200" b="0" i="0" u="none" strike="noStrike">
                <a:solidFill>
                  <a:srgbClr val="3A4150"/>
                </a:solidFill>
                <a:latin typeface="+mn-lt"/>
              </a:rPr>
              <a:t>How much 2021–23 raised each group's lifetime inflation memory</a:t>
            </a:r>
          </a:p>
        </c:rich>
      </c:tx>
      <c:layout/>
      <c:overlay val="0"/>
    </c:title>
    <c:autoTitleDeleted val="0"/>
    <c:plotArea>
      <c:layout/>
      <c:barChart>
        <c:barDir val="col"/>
        <c:grouping val="clustered"/>
        <c:varyColors val="0"/>
        <c:ser>
          <c:idx val="0"/>
          <c:order val="0"/>
          <c:tx>
            <c:strRef>
              <c:f>Sheet1!$B$1</c:f>
              <c:strCache>
                <c:ptCount val="1"/>
                <c:pt idx="0">
                  <c:v>Increase in 'lived-through' inflation</c:v>
                </c:pt>
              </c:strCache>
            </c:strRef>
          </c:tx>
          <c:spPr>
            <a:solidFill>
              <a:srgbClr val="C8433F"/>
            </a:solidFill>
            <a:effectLst/>
          </c:spPr>
          <c:invertIfNegative val="0"/>
          <c:dLbls>
            <c:numFmt formatCode="0.0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dPt>
            <c:idx val="0"/>
            <c:invertIfNegative val="0"/>
            <c:bubble3D val="0"/>
            <c:spPr>
              <a:solidFill>
                <a:srgbClr val="C8433F"/>
              </a:solidFill>
              <a:effectLst/>
            </c:spPr>
          </c:dPt>
          <c:dPt>
            <c:idx val="1"/>
            <c:invertIfNegative val="0"/>
            <c:bubble3D val="0"/>
            <c:spPr>
              <a:solidFill>
                <a:srgbClr val="7A8392"/>
              </a:solidFill>
              <a:effectLst/>
            </c:spPr>
          </c:dPt>
          <c:cat>
            <c:multiLvlStrRef>
              <c:f>Sheet1!$A$2:$A$3</c:f>
              <c:multiLvlStrCache>
                <c:ptCount val="2"/>
                <c:lvl>
                  <c:pt idx="0">
                    <c:v>18–34</c:v>
                  </c:pt>
                  <c:pt idx="1">
                    <c:v>55+</c:v>
                  </c:pt>
                </c:lvl>
              </c:multiLvlStrCache>
            </c:multiLvlStrRef>
          </c:cat>
          <c:val>
            <c:numRef>
              <c:f>Sheet1!$B$2:$B$3</c:f>
              <c:numCache>
                <c:formatCode>General</c:formatCode>
                <c:ptCount val="2"/>
                <c:pt idx="0">
                  <c:v>0.87</c:v>
                </c:pt>
                <c:pt idx="1">
                  <c:v>0.09</c:v>
                </c:pt>
              </c:numCache>
            </c:numRef>
          </c:val>
        </c:ser>
        <c:dLbls>
          <c:numFmt formatCode="0.0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15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4150"/>
                </a:solidFill>
                <a:latin typeface="+mn-lt"/>
              </a:defRPr>
            </a:pPr>
            <a:r>
              <a:rPr sz="1200" b="0" i="0" u="none" strike="noStrike">
                <a:solidFill>
                  <a:srgbClr val="3A4150"/>
                </a:solidFill>
                <a:latin typeface="+mn-lt"/>
              </a:rPr>
              <a:t>Sentiment by party at the two lowest points (University of Michigan reports)</a:t>
            </a:r>
          </a:p>
        </c:rich>
      </c:tx>
      <c:layout/>
      <c:overlay val="0"/>
    </c:title>
    <c:autoTitleDeleted val="0"/>
    <c:plotArea>
      <c:layout/>
      <c:barChart>
        <c:barDir val="col"/>
        <c:grouping val="clustered"/>
        <c:varyColors val="0"/>
        <c:ser>
          <c:idx val="0"/>
          <c:order val="0"/>
          <c:tx>
            <c:strRef>
              <c:f>Sheet1!$B$1</c:f>
              <c:strCache>
                <c:ptCount val="1"/>
                <c:pt idx="0">
                  <c:v>June 2022 (Biden)</c:v>
                </c:pt>
              </c:strCache>
            </c:strRef>
          </c:tx>
          <c:spPr>
            <a:solidFill>
              <a:srgbClr val="9EC5F4"/>
            </a:solidFill>
            <a:effectLst/>
          </c:spPr>
          <c:invertIfNegative val="0"/>
          <c:dLbls>
            <c:numFmt formatCode="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cat>
            <c:multiLvlStrRef>
              <c:f>Sheet1!$A$2:$A$4</c:f>
              <c:multiLvlStrCache>
                <c:ptCount val="3"/>
                <c:lvl>
                  <c:pt idx="0">
                    <c:v>Democrats</c:v>
                  </c:pt>
                  <c:pt idx="1">
                    <c:v>Independents</c:v>
                  </c:pt>
                  <c:pt idx="2">
                    <c:v>Republicans</c:v>
                  </c:pt>
                </c:lvl>
              </c:multiLvlStrCache>
            </c:multiLvlStrRef>
          </c:cat>
          <c:val>
            <c:numRef>
              <c:f>Sheet1!$B$2:$B$4</c:f>
              <c:numCache>
                <c:formatCode>General</c:formatCode>
                <c:ptCount val="3"/>
                <c:pt idx="0">
                  <c:v>66.4</c:v>
                </c:pt>
                <c:pt idx="1">
                  <c:v>48.5</c:v>
                </c:pt>
                <c:pt idx="2">
                  <c:v>33</c:v>
                </c:pt>
              </c:numCache>
            </c:numRef>
          </c:val>
        </c:ser>
        <c:ser>
          <c:idx val="1"/>
          <c:order val="1"/>
          <c:tx>
            <c:strRef>
              <c:f>Sheet1!$C$1</c:f>
              <c:strCache>
                <c:ptCount val="1"/>
                <c:pt idx="0">
                  <c:v>May 2026 (Trump)</c:v>
                </c:pt>
              </c:strCache>
            </c:strRef>
          </c:tx>
          <c:spPr>
            <a:solidFill>
              <a:srgbClr val="C8433F"/>
            </a:solidFill>
            <a:effectLst/>
          </c:spPr>
          <c:invertIfNegative val="0"/>
          <c:dLbls>
            <c:numFmt formatCode="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cat>
            <c:multiLvlStrRef>
              <c:f>Sheet1!$A$2:$A$4</c:f>
              <c:multiLvlStrCache>
                <c:ptCount val="3"/>
                <c:lvl>
                  <c:pt idx="0">
                    <c:v>Democrats</c:v>
                  </c:pt>
                  <c:pt idx="1">
                    <c:v>Independents</c:v>
                  </c:pt>
                  <c:pt idx="2">
                    <c:v>Republicans</c:v>
                  </c:pt>
                </c:lvl>
              </c:multiLvlStrCache>
            </c:multiLvlStrRef>
          </c:cat>
          <c:val>
            <c:numRef>
              <c:f>Sheet1!$C$2:$C$4</c:f>
              <c:numCache>
                <c:formatCode>General</c:formatCode>
                <c:ptCount val="3"/>
                <c:pt idx="0">
                  <c:v>32.8</c:v>
                </c:pt>
                <c:pt idx="1">
                  <c:v>40.6</c:v>
                </c:pt>
                <c:pt idx="2">
                  <c:v>84.6</c:v>
                </c:pt>
              </c:numCache>
            </c:numRef>
          </c:val>
        </c:ser>
        <c:dLbls>
          <c:numFmt formatCode="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15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A41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4150"/>
                </a:solidFill>
                <a:latin typeface="+mn-lt"/>
              </a:defRPr>
            </a:pPr>
            <a:r>
              <a:rPr sz="1200" b="0" i="0" u="none" strike="noStrike">
                <a:solidFill>
                  <a:srgbClr val="3A4150"/>
                </a:solidFill>
                <a:latin typeface="+mn-lt"/>
              </a:rPr>
              <a:t>Average sentiment score under each president</a:t>
            </a:r>
          </a:p>
        </c:rich>
      </c:tx>
      <c:layout/>
      <c:overlay val="0"/>
    </c:title>
    <c:autoTitleDeleted val="0"/>
    <c:plotArea>
      <c:layout/>
      <c:barChart>
        <c:barDir val="col"/>
        <c:grouping val="clustered"/>
        <c:varyColors val="0"/>
        <c:ser>
          <c:idx val="0"/>
          <c:order val="0"/>
          <c:tx>
            <c:strRef>
              <c:f>Sheet1!$B$1</c:f>
              <c:strCache>
                <c:ptCount val="1"/>
                <c:pt idx="0">
                  <c:v>Average sentiment score</c:v>
                </c:pt>
              </c:strCache>
            </c:strRef>
          </c:tx>
          <c:spPr>
            <a:solidFill>
              <a:srgbClr val="C8433F"/>
            </a:solidFill>
            <a:effectLst/>
          </c:spPr>
          <c:invertIfNegative val="0"/>
          <c:dLbls>
            <c:numFmt formatCode="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cat>
            <c:multiLvlStrRef>
              <c:f>Sheet1!$A$2:$A$4</c:f>
              <c:multiLvlStrCache>
                <c:ptCount val="3"/>
                <c:lvl>
                  <c:pt idx="0">
                    <c:v>Trump-1</c:v>
                  </c:pt>
                  <c:pt idx="1">
                    <c:v>Biden</c:v>
                  </c:pt>
                  <c:pt idx="2">
                    <c:v>Trump-2</c:v>
                  </c:pt>
                </c:lvl>
              </c:multiLvlStrCache>
            </c:multiLvlStrRef>
          </c:cat>
          <c:val>
            <c:numRef>
              <c:f>Sheet1!$B$2:$B$4</c:f>
              <c:numCache>
                <c:formatCode>General</c:formatCode>
                <c:ptCount val="3"/>
                <c:pt idx="0">
                  <c:v>93.1</c:v>
                </c:pt>
                <c:pt idx="1">
                  <c:v>68.4</c:v>
                </c:pt>
                <c:pt idx="2">
                  <c:v>53.9</c:v>
                </c:pt>
              </c:numCache>
            </c:numRef>
          </c:val>
        </c:ser>
        <c:dLbls>
          <c:numFmt formatCode="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15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4150"/>
                </a:solidFill>
                <a:latin typeface="+mn-lt"/>
              </a:defRPr>
            </a:pPr>
            <a:r>
              <a:rPr sz="1200" b="0" i="0" u="none" strike="noStrike">
                <a:solidFill>
                  <a:srgbClr val="3A4150"/>
                </a:solidFill>
                <a:latin typeface="+mn-lt"/>
              </a:rPr>
              <a:t>Error when predicting consumer spending, 2022–26 (shorter bar = better forecast)</a:t>
            </a:r>
          </a:p>
        </c:rich>
      </c:tx>
      <c:layout/>
      <c:overlay val="0"/>
    </c:title>
    <c:autoTitleDeleted val="0"/>
    <c:plotArea>
      <c:layout/>
      <c:barChart>
        <c:barDir val="bar"/>
        <c:grouping val="clustered"/>
        <c:varyColors val="0"/>
        <c:ser>
          <c:idx val="0"/>
          <c:order val="0"/>
          <c:tx>
            <c:strRef>
              <c:f>Sheet1!$B$1</c:f>
              <c:strCache>
                <c:ptCount val="1"/>
                <c:pt idx="0">
                  <c:v>Forecast error</c:v>
                </c:pt>
              </c:strCache>
            </c:strRef>
          </c:tx>
          <c:spPr>
            <a:solidFill>
              <a:srgbClr val="7A8392"/>
            </a:solidFill>
            <a:effectLst/>
          </c:spPr>
          <c:invertIfNegative val="0"/>
          <c:dLbls>
            <c:numFmt formatCode="0.0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dPt>
            <c:idx val="0"/>
            <c:invertIfNegative val="0"/>
            <c:bubble3D val="0"/>
            <c:spPr>
              <a:solidFill>
                <a:srgbClr val="7A8392"/>
              </a:solidFill>
              <a:effectLst/>
            </c:spPr>
          </c:dPt>
          <c:dPt>
            <c:idx val="1"/>
            <c:invertIfNegative val="0"/>
            <c:bubble3D val="0"/>
            <c:spPr>
              <a:solidFill>
                <a:srgbClr val="C8433F"/>
              </a:solidFill>
              <a:effectLst/>
            </c:spPr>
          </c:dPt>
          <c:dPt>
            <c:idx val="2"/>
            <c:invertIfNegative val="0"/>
            <c:bubble3D val="0"/>
            <c:spPr>
              <a:solidFill>
                <a:srgbClr val="1F8A5B"/>
              </a:solidFill>
              <a:effectLst/>
            </c:spPr>
          </c:dPt>
          <c:dPt>
            <c:idx val="3"/>
            <c:invertIfNegative val="0"/>
            <c:bubble3D val="0"/>
            <c:spPr>
              <a:solidFill>
                <a:srgbClr val="C8433F"/>
              </a:solidFill>
              <a:effectLst/>
            </c:spPr>
          </c:dPt>
          <c:cat>
            <c:multiLvlStrRef>
              <c:f>Sheet1!$A$2:$A$5</c:f>
              <c:multiLvlStrCache>
                <c:ptCount val="4"/>
                <c:lvl>
                  <c:pt idx="0">
                    <c:v>Economy data only</c:v>
                  </c:pt>
                  <c:pt idx="1">
                    <c:v>+ how people say they feel</c:v>
                  </c:pt>
                  <c:pt idx="2">
                    <c:v>+ only the 'economy part' of feelings</c:v>
                  </c:pt>
                  <c:pt idx="3">
                    <c:v>+ only the 'gloom gap'</c:v>
                  </c:pt>
                </c:lvl>
              </c:multiLvlStrCache>
            </c:multiLvlStrRef>
          </c:cat>
          <c:val>
            <c:numRef>
              <c:f>Sheet1!$B$2:$B$5</c:f>
              <c:numCache>
                <c:formatCode>General</c:formatCode>
                <c:ptCount val="4"/>
                <c:pt idx="0">
                  <c:v>1.45</c:v>
                </c:pt>
                <c:pt idx="1">
                  <c:v>1.74</c:v>
                </c:pt>
                <c:pt idx="2">
                  <c:v>1.21</c:v>
                </c:pt>
                <c:pt idx="3">
                  <c:v>1.92</c:v>
                </c:pt>
              </c:numCache>
            </c:numRef>
          </c:val>
        </c:ser>
        <c:dLbls>
          <c:numFmt formatCode="0.00" sourceLinked="0"/>
          <c:txPr>
            <a:bodyPr/>
            <a:lstStyle/>
            <a:p>
              <a:pPr>
                <a:defRPr b="0" i="0" strike="noStrike" sz="1200" u="none">
                  <a:solidFill>
                    <a:srgbClr val="1B1F2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415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Three weeks before the midterms, Americans feel worse about the economy than almost ever. We asked why — and whether the media is to blame. Short answer: it isn't. High prices, a change in how the survey is done, and what people have lived through explain most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Start with the economy. Unemployment is 4.2% — low; the long-run average is about 6. The economy is growing at a normal 2.2% pace. Inflation is about 3.4% — above the 2% goal but far below the 7% of 2022. Put those into a model trained on history and people 'should' feel around 83 on this scale, where 100 is 1966 and the 50s are very gloomy. They actually feel 46. That gap is twice the size of 2008, and May 2026 was the lowest reading ever. That's the mismatch we set out to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The professor gave us three possible explanations. One: real pain that the official numbers miss. Two: media and psychology. Three: measurement — the survey or the model is off. We tested each. Here are our verdicts up front: real pain is the biggest piece, measurement is a real part, and the media is not the cause — but people's lived experience of inflation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Before analysing anything we checked the data and found four problems. The inflation column we were given left out food and gas — the things people notice most. It included a GDP number that hadn't been published yet. The 2025 shutdown left a month of jobs data missing. And the survey moved online, which makes answers gloomier by itself. We fixed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Light blue is 2019, red is now. Every age group dropped by roughly half. Young adults were the most optimistic group in 2019 — 101 — and fell the furthest, 47 points, to 54. People over 55 fell the least, 37 points. But because people over 55 are 44% of the national score, they still pull the national number down the most. Young adults also report more lost income and trouble affording a home. Where the data comes from: Michigan's survey of about a thousand adults a month publishes the score separately by age; we compared 2019 with the 2025–26 average, and worked out each group's share of the national score by matching the three age scores to the national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Next we asked: is one region or one income group driving this? No. The Northeast, Midwest, South and West all fell by about 40 points. Low, middle and high earners all fell by about 40 points too. Since everyone fell together, the cause must be something national that hit everyone — which brings us to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Michigan doesn't just ask how people feel — it asks why, in their own words. In 2019, 7% said they were worse off because of higher prices. Today it's 45% — more than at the 2022 inflation peak. 44% say it's a bad time to buy a home because of interest rates, up from 8%. And the gap is mostly about today's situation, not the future. So people are telling us directly: it's the cost of living.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This is the key idea. Eggs were 2 dollars in 2021, 4 dollars in 2023. Today they rise slowly — 4 dollars 12 — so the government says inflation is low. But it measures how fast prices rise now, not whether they came back down; people remember 2 dollars. It also doesn't count loan costs — a 7% mortgage isn't 'inflation'. On the right: since 2021 prices rose 28%, rent and housing 32%, gas 68%, but paychecks only 26%. So people really are worse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Now we rank the causes of the 41-point drop. Number one is the cost of living — prices about 11% above normal, plus food and gas — about 11 points. Number two is the survey moving online, about 7. Number three is uncertainty from tariffs and the shutdown, about 6. Jobs, income and growth explain only about 2 and a half, and the mix of who answers the survey politically about 2. Roughly 12 points we can't explain with any measure, and we report that honestly. One caution: the uncertainty index is built from newspapers, so it reflects real policy shocks as reported in the news.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Why did young adults fall furthest? Economists have shown that people learn about inflation from what they've lived through. For a 26-year-old, two years of high inflation is a big chunk of their life; for a 66-year-old who remembers the 1970s, it's a blip. We measured this: the recent shock raised young adults' inflation memory about ten times more than older adults'. Young adults fell about 10 points more than people over 55 — and this effect explains about 8 of those 10 points, comparing groups in the same month so the news is identical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Politics matters, as the brief warned. Michigan's own reports show that people whose party is in power feel much better — Democrats were at 66 in 2022 and are at 33 now; Republicans went from 33 to 85. That flips every election. But independents — the middle — track the national number, and they're at 41, very gloomy. And fewer people now identify as Republican in the survey, which lowers the headline by about 2 points. So politics changes who feels bad, but it doesn't make the gloom fake.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To test the media explanation we collected about 247,000 headlines and posts, wrote rules first, and had an AI read every one. A human checked 300 of them; the AI matched the human 70% of the time, better than simpler tools. Then we ran fair tests — negative news isn't biased if the news really is bad. Findings: yes, there's political slant. But coverage isn't overly negative, and adding news data actually made our sentiment forecasts worse, while adding everyday-cost data made them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This is our own test. When the presidency changed in January 2025, sentiment fell another 14 and a half points. If the media were causing that, the news should have turned much more negative. It didn't: overall news tone barely moved — even in the worst case, that explains about one point of the fourteen-and-a-half. Right-leaning outlets did turn more positive, as they always do when their side is in power, but the total news mood stayed flat. So the news may amplify the mood, but it didn't cause the collapse.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Putting it all together. About 20 of the 41 points are real costs the headline numbers miss — prices, borrowing costs and policy uncertainty. About 9 points are how it's measured — the online survey and who answers. Then interpretation shapes who is hit hardest: young adults living through their first big inflation, and partisanship. The media explains about one point. Roughly 12 points remain unexplained, which we report rather than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Why this matters for finance. Since 2022 people said they felt terrible but kept spending — about 2.5% more each year. When we tried to predict spending, using the survey as-is made forecasts about 20% worse. Using only the part of sentiment that matches the economy made them about 17% better. So investors and risk managers should separate real economic worry from the gloom gap before betting on a recession. Bottom line: high prices, the survey change and lived experience — not media bias — explain the gloom.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Thank you. The key takeaway: Americans aren't gloomy because of biased news — prices stayed high, the survey changed, and young people lived through their first big inflation.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clarification for questions: one-line answers to the six research questions the brief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clarification for questions: our causal-design proposal (the brief's third option) and the honest limits of the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1F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828800"/>
          </a:xfrm>
          <a:prstGeom prst="rect">
            <a:avLst/>
          </a:prstGeom>
          <a:noFill/>
          <a:ln/>
        </p:spPr>
        <p:txBody>
          <a:bodyPr wrap="square" rtlCol="0"/>
          <a:lstStyle>
            <a:lvl1pPr indent="0" marL="0">
              <a:buNone/>
              <a:defRPr lang="en-US" sz="4400" b="1" dirty="0">
                <a:solidFill>
                  <a:schemeClr val="bg1"/>
                </a:solidFill>
                <a:latin typeface="Cambria" pitchFamily="34" charset="0"/>
                <a:ea typeface="Cambria" pitchFamily="34" charset="-122"/>
                <a:cs typeface="Cambria" pitchFamily="34" charset="-120"/>
              </a:defRPr>
            </a:lvl1pPr>
          </a:lstStyle>
          <a:p>
            <a:pPr indent="0" marL="0">
              <a:buNone/>
            </a:pPr>
            <a:endParaRPr lang="en-US" sz="4400" dirty="0"/>
          </a:p>
        </p:txBody>
      </p:sp>
      <p:sp>
        <p:nvSpPr>
          <p:cNvPr id="3" name="Text 0"/>
          <p:cNvSpPr/>
          <p:nvPr>
            <p:ph idx="101" type="body" hasCustomPrompt="1"/>
          </p:nvPr>
        </p:nvSpPr>
        <p:spPr>
          <a:xfrm>
            <a:off x="731520" y="3749040"/>
            <a:ext cx="10698480" cy="1645920"/>
          </a:xfrm>
          <a:prstGeom prst="rect">
            <a:avLst/>
          </a:prstGeom>
          <a:noFill/>
          <a:ln/>
        </p:spPr>
        <p:txBody>
          <a:bodyPr wrap="square" rtlCol="0"/>
          <a:lstStyle>
            <a:lvl1pPr indent="0" marL="0">
              <a:buNone/>
              <a:defRPr lang="en-US" sz="1800" dirty="0">
                <a:solidFill>
                  <a:srgbClr val="CBD2DC"/>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00800"/>
            <a:ext cx="9601200" cy="274320"/>
          </a:xfrm>
          <a:prstGeom prst="rect">
            <a:avLst/>
          </a:prstGeom>
          <a:noFill/>
          <a:ln/>
        </p:spPr>
        <p:txBody>
          <a:bodyPr wrap="square" rtlCol="0" anchor="ctr"/>
          <a:lstStyle/>
          <a:p>
            <a:pPr indent="0" marL="0">
              <a:buNone/>
            </a:pPr>
            <a:r>
              <a:rPr lang="en-US" sz="900" dirty="0">
                <a:solidFill>
                  <a:srgbClr val="7A8392"/>
                </a:solidFill>
                <a:latin typeface="Calibri" pitchFamily="34" charset="0"/>
                <a:ea typeface="Calibri" pitchFamily="34" charset="-122"/>
                <a:cs typeface="Calibri" pitchFamily="34" charset="-120"/>
              </a:rPr>
              <a:t>Data: University of Michigan consumer survey, BLS, BEA, Philadelphia Fed; 247k news headlines &amp; posts. Data up to 16 Oct 2026 (election 3 Nov 2026).</a:t>
            </a:r>
            <a:endParaRPr lang="en-US" sz="9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828800"/>
          </a:xfrm>
          <a:prstGeom prst="rect">
            <a:avLst/>
          </a:prstGeom>
          <a:noFill/>
          <a:ln/>
        </p:spPr>
        <p:txBody>
          <a:bodyPr wrap="square" rtlCol="0" anchor="b"/>
          <a:lstStyle/>
          <a:p>
            <a:pPr indent="0" marL="0">
              <a:buNone/>
            </a:pPr>
            <a:r>
              <a:rPr lang="en-US" sz="4400" b="1" dirty="0">
                <a:solidFill>
                  <a:schemeClr val="bg1"/>
                </a:solidFill>
                <a:latin typeface="Cambria" pitchFamily="34" charset="0"/>
                <a:ea typeface="Cambria" pitchFamily="34" charset="-122"/>
                <a:cs typeface="Cambria" pitchFamily="34" charset="-120"/>
              </a:rPr>
              <a:t>Americans feel worse than the economy says they should. Why?</a:t>
            </a:r>
            <a:endParaRPr lang="en-US" sz="4400" dirty="0"/>
          </a:p>
        </p:txBody>
      </p:sp>
      <p:sp>
        <p:nvSpPr>
          <p:cNvPr id="3" name="Text 0"/>
          <p:cNvSpPr/>
          <p:nvPr>
            <p:ph idx="101" type="body" hasCustomPrompt="1"/>
          </p:nvPr>
        </p:nvSpPr>
        <p:spPr>
          <a:xfrm>
            <a:off x="731520" y="3749040"/>
            <a:ext cx="10698480" cy="164592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Short answer: not media bias. High prices, how the survey is done, and what people lived through.</a:t>
            </a:r>
            <a:endParaRPr lang="en-US" sz="1800" dirty="0"/>
          </a:p>
          <a:p>
            <a:pPr indent="0" marL="0">
              <a:buNone/>
            </a:pPr>
            <a:r>
              <a:rPr lang="en-US" sz="1400" dirty="0">
                <a:solidFill>
                  <a:srgbClr val="CBD2DC"/>
                </a:solidFill>
                <a:latin typeface="Calibri" pitchFamily="34" charset="0"/>
                <a:ea typeface="Calibri" pitchFamily="34" charset="-122"/>
                <a:cs typeface="Calibri" pitchFamily="34" charset="-120"/>
              </a:rPr>
              <a:t>Consumer sentiment before the 2026 midterm elections · AI Applications in Finance · Final project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On paper the economy is fine. People feel terrible.</a:t>
            </a:r>
            <a:endParaRPr lang="en-US" sz="3000" dirty="0"/>
          </a:p>
        </p:txBody>
      </p:sp>
      <p:sp>
        <p:nvSpPr>
          <p:cNvPr id="3" name="Shape 1"/>
          <p:cNvSpPr/>
          <p:nvPr/>
        </p:nvSpPr>
        <p:spPr>
          <a:xfrm>
            <a:off x="548640" y="1234440"/>
            <a:ext cx="3520440" cy="1143000"/>
          </a:xfrm>
          <a:prstGeom prst="roundRect">
            <a:avLst>
              <a:gd name="adj" fmla="val 6400"/>
            </a:avLst>
          </a:prstGeom>
          <a:solidFill>
            <a:srgbClr val="EAF2FC"/>
          </a:solidFill>
          <a:ln w="12700">
            <a:solidFill>
              <a:srgbClr val="EAF2FC"/>
            </a:solidFill>
            <a:prstDash val="solid"/>
          </a:ln>
        </p:spPr>
      </p:sp>
      <p:sp>
        <p:nvSpPr>
          <p:cNvPr id="4" name="Text 2"/>
          <p:cNvSpPr txBox="1"/>
          <p:nvPr/>
        </p:nvSpPr>
        <p:spPr>
          <a:xfrm>
            <a:off x="777240" y="1298448"/>
            <a:ext cx="1463040" cy="594360"/>
          </a:xfrm>
          <a:prstGeom prst="rect">
            <a:avLst/>
          </a:prstGeom>
          <a:noFill/>
          <a:ln/>
        </p:spPr>
        <p:txBody>
          <a:bodyPr wrap="square" lIns="0" tIns="0" rIns="0" bIns="0" rtlCol="0" anchor="t"/>
          <a:lstStyle/>
          <a:p>
            <a:pPr indent="0" marL="0">
              <a:buNone/>
            </a:pPr>
            <a:r>
              <a:rPr lang="en-US" sz="3000" b="1" dirty="0">
                <a:solidFill>
                  <a:srgbClr val="2A78D6"/>
                </a:solidFill>
                <a:latin typeface="Cambria" pitchFamily="34" charset="0"/>
                <a:ea typeface="Cambria" pitchFamily="34" charset="-122"/>
                <a:cs typeface="Cambria" pitchFamily="34" charset="-120"/>
              </a:rPr>
              <a:t>4.2%</a:t>
            </a:r>
            <a:endParaRPr lang="en-US" sz="3000" dirty="0"/>
          </a:p>
        </p:txBody>
      </p:sp>
      <p:sp>
        <p:nvSpPr>
          <p:cNvPr id="5" name="Text 3"/>
          <p:cNvSpPr txBox="1"/>
          <p:nvPr/>
        </p:nvSpPr>
        <p:spPr>
          <a:xfrm>
            <a:off x="2240280" y="1353312"/>
            <a:ext cx="1737360" cy="5029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Unemployment</a:t>
            </a:r>
            <a:endParaRPr lang="en-US" sz="1300" dirty="0"/>
          </a:p>
        </p:txBody>
      </p:sp>
      <p:sp>
        <p:nvSpPr>
          <p:cNvPr id="6" name="Text 4"/>
          <p:cNvSpPr txBox="1"/>
          <p:nvPr/>
        </p:nvSpPr>
        <p:spPr>
          <a:xfrm>
            <a:off x="777240" y="1901952"/>
            <a:ext cx="3108960" cy="411480"/>
          </a:xfrm>
          <a:prstGeom prst="rect">
            <a:avLst/>
          </a:prstGeom>
          <a:noFill/>
          <a:ln/>
        </p:spPr>
        <p:txBody>
          <a:bodyPr wrap="square" lIns="0" tIns="0" rIns="0" bIns="0" rtlCol="0" anchor="t"/>
          <a:lstStyle/>
          <a:p>
            <a:pPr indent="0" marL="0">
              <a:buNone/>
            </a:pPr>
            <a:r>
              <a:rPr lang="en-US" sz="1150" dirty="0">
                <a:solidFill>
                  <a:srgbClr val="3A4150"/>
                </a:solidFill>
                <a:latin typeface="Calibri" pitchFamily="34" charset="0"/>
                <a:ea typeface="Calibri" pitchFamily="34" charset="-122"/>
                <a:cs typeface="Calibri" pitchFamily="34" charset="-120"/>
              </a:rPr>
              <a:t>Low — the 1978–2019 average was 6.2%</a:t>
            </a:r>
            <a:endParaRPr lang="en-US" sz="1150" dirty="0"/>
          </a:p>
        </p:txBody>
      </p:sp>
      <p:sp>
        <p:nvSpPr>
          <p:cNvPr id="7" name="Shape 5"/>
          <p:cNvSpPr/>
          <p:nvPr/>
        </p:nvSpPr>
        <p:spPr>
          <a:xfrm>
            <a:off x="4297680" y="1234440"/>
            <a:ext cx="3520440" cy="1143000"/>
          </a:xfrm>
          <a:prstGeom prst="roundRect">
            <a:avLst>
              <a:gd name="adj" fmla="val 6400"/>
            </a:avLst>
          </a:prstGeom>
          <a:solidFill>
            <a:srgbClr val="EAF2FC"/>
          </a:solidFill>
          <a:ln w="12700">
            <a:solidFill>
              <a:srgbClr val="EAF2FC"/>
            </a:solidFill>
            <a:prstDash val="solid"/>
          </a:ln>
        </p:spPr>
      </p:sp>
      <p:sp>
        <p:nvSpPr>
          <p:cNvPr id="8" name="Text 6"/>
          <p:cNvSpPr txBox="1"/>
          <p:nvPr/>
        </p:nvSpPr>
        <p:spPr>
          <a:xfrm>
            <a:off x="4526280" y="1298448"/>
            <a:ext cx="1463040" cy="594360"/>
          </a:xfrm>
          <a:prstGeom prst="rect">
            <a:avLst/>
          </a:prstGeom>
          <a:noFill/>
          <a:ln/>
        </p:spPr>
        <p:txBody>
          <a:bodyPr wrap="square" lIns="0" tIns="0" rIns="0" bIns="0" rtlCol="0" anchor="t"/>
          <a:lstStyle/>
          <a:p>
            <a:pPr indent="0" marL="0">
              <a:buNone/>
            </a:pPr>
            <a:r>
              <a:rPr lang="en-US" sz="3000" b="1" dirty="0">
                <a:solidFill>
                  <a:srgbClr val="2A78D6"/>
                </a:solidFill>
                <a:latin typeface="Cambria" pitchFamily="34" charset="0"/>
                <a:ea typeface="Cambria" pitchFamily="34" charset="-122"/>
                <a:cs typeface="Cambria" pitchFamily="34" charset="-120"/>
              </a:rPr>
              <a:t>+2.2%</a:t>
            </a:r>
            <a:endParaRPr lang="en-US" sz="3000" dirty="0"/>
          </a:p>
        </p:txBody>
      </p:sp>
      <p:sp>
        <p:nvSpPr>
          <p:cNvPr id="9" name="Text 7"/>
          <p:cNvSpPr txBox="1"/>
          <p:nvPr/>
        </p:nvSpPr>
        <p:spPr>
          <a:xfrm>
            <a:off x="5989320" y="1353312"/>
            <a:ext cx="1737360" cy="5029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Economic growth (GDP, yearly pace)</a:t>
            </a:r>
            <a:endParaRPr lang="en-US" sz="1300" dirty="0"/>
          </a:p>
        </p:txBody>
      </p:sp>
      <p:sp>
        <p:nvSpPr>
          <p:cNvPr id="10" name="Text 8"/>
          <p:cNvSpPr txBox="1"/>
          <p:nvPr/>
        </p:nvSpPr>
        <p:spPr>
          <a:xfrm>
            <a:off x="4526280" y="1901952"/>
            <a:ext cx="3108960" cy="411480"/>
          </a:xfrm>
          <a:prstGeom prst="rect">
            <a:avLst/>
          </a:prstGeom>
          <a:noFill/>
          <a:ln/>
        </p:spPr>
        <p:txBody>
          <a:bodyPr wrap="square" lIns="0" tIns="0" rIns="0" bIns="0" rtlCol="0" anchor="t"/>
          <a:lstStyle/>
          <a:p>
            <a:pPr indent="0" marL="0">
              <a:buNone/>
            </a:pPr>
            <a:r>
              <a:rPr lang="en-US" sz="1150" dirty="0">
                <a:solidFill>
                  <a:srgbClr val="3A4150"/>
                </a:solidFill>
                <a:latin typeface="Calibri" pitchFamily="34" charset="0"/>
                <a:ea typeface="Calibri" pitchFamily="34" charset="-122"/>
                <a:cs typeface="Calibri" pitchFamily="34" charset="-120"/>
              </a:rPr>
              <a:t>Normal, healthy growth — no recession</a:t>
            </a:r>
            <a:endParaRPr lang="en-US" sz="1150" dirty="0"/>
          </a:p>
        </p:txBody>
      </p:sp>
      <p:sp>
        <p:nvSpPr>
          <p:cNvPr id="11" name="Shape 9"/>
          <p:cNvSpPr/>
          <p:nvPr/>
        </p:nvSpPr>
        <p:spPr>
          <a:xfrm>
            <a:off x="8046720" y="1234440"/>
            <a:ext cx="3520440" cy="1143000"/>
          </a:xfrm>
          <a:prstGeom prst="roundRect">
            <a:avLst>
              <a:gd name="adj" fmla="val 6400"/>
            </a:avLst>
          </a:prstGeom>
          <a:solidFill>
            <a:srgbClr val="EAF2FC"/>
          </a:solidFill>
          <a:ln w="12700">
            <a:solidFill>
              <a:srgbClr val="EAF2FC"/>
            </a:solidFill>
            <a:prstDash val="solid"/>
          </a:ln>
        </p:spPr>
      </p:sp>
      <p:sp>
        <p:nvSpPr>
          <p:cNvPr id="12" name="Text 10"/>
          <p:cNvSpPr txBox="1"/>
          <p:nvPr/>
        </p:nvSpPr>
        <p:spPr>
          <a:xfrm>
            <a:off x="8275320" y="1298448"/>
            <a:ext cx="1463040" cy="594360"/>
          </a:xfrm>
          <a:prstGeom prst="rect">
            <a:avLst/>
          </a:prstGeom>
          <a:noFill/>
          <a:ln/>
        </p:spPr>
        <p:txBody>
          <a:bodyPr wrap="square" lIns="0" tIns="0" rIns="0" bIns="0" rtlCol="0" anchor="t"/>
          <a:lstStyle/>
          <a:p>
            <a:pPr indent="0" marL="0">
              <a:buNone/>
            </a:pPr>
            <a:r>
              <a:rPr lang="en-US" sz="3000" b="1" dirty="0">
                <a:solidFill>
                  <a:srgbClr val="2A78D6"/>
                </a:solidFill>
                <a:latin typeface="Cambria" pitchFamily="34" charset="0"/>
                <a:ea typeface="Cambria" pitchFamily="34" charset="-122"/>
                <a:cs typeface="Cambria" pitchFamily="34" charset="-120"/>
              </a:rPr>
              <a:t>3.4%</a:t>
            </a:r>
            <a:endParaRPr lang="en-US" sz="3000" dirty="0"/>
          </a:p>
        </p:txBody>
      </p:sp>
      <p:sp>
        <p:nvSpPr>
          <p:cNvPr id="13" name="Text 11"/>
          <p:cNvSpPr txBox="1"/>
          <p:nvPr/>
        </p:nvSpPr>
        <p:spPr>
          <a:xfrm>
            <a:off x="9738360" y="1353312"/>
            <a:ext cx="1737360" cy="5029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Inflation (PCE, latest)</a:t>
            </a:r>
            <a:endParaRPr lang="en-US" sz="1300" dirty="0"/>
          </a:p>
        </p:txBody>
      </p:sp>
      <p:sp>
        <p:nvSpPr>
          <p:cNvPr id="14" name="Text 12"/>
          <p:cNvSpPr txBox="1"/>
          <p:nvPr/>
        </p:nvSpPr>
        <p:spPr>
          <a:xfrm>
            <a:off x="8275320" y="1901952"/>
            <a:ext cx="3108960" cy="411480"/>
          </a:xfrm>
          <a:prstGeom prst="rect">
            <a:avLst/>
          </a:prstGeom>
          <a:noFill/>
          <a:ln/>
        </p:spPr>
        <p:txBody>
          <a:bodyPr wrap="square" lIns="0" tIns="0" rIns="0" bIns="0" rtlCol="0" anchor="t"/>
          <a:lstStyle/>
          <a:p>
            <a:pPr indent="0" marL="0">
              <a:buNone/>
            </a:pPr>
            <a:r>
              <a:rPr lang="en-US" sz="1150" dirty="0">
                <a:solidFill>
                  <a:srgbClr val="3A4150"/>
                </a:solidFill>
                <a:latin typeface="Calibri" pitchFamily="34" charset="0"/>
                <a:ea typeface="Calibri" pitchFamily="34" charset="-122"/>
                <a:cs typeface="Calibri" pitchFamily="34" charset="-120"/>
              </a:rPr>
              <a:t>Above the 2% goal, but far below the 7.2% peak of 2022</a:t>
            </a:r>
            <a:endParaRPr lang="en-US" sz="1150" dirty="0"/>
          </a:p>
        </p:txBody>
      </p:sp>
      <p:graphicFrame>
        <p:nvGraphicFramePr>
          <p:cNvPr id="15" name="Chart 0" descr=""/>
          <p:cNvGraphicFramePr/>
          <p:nvPr/>
        </p:nvGraphicFramePr>
        <p:xfrm>
          <a:off x="548640" y="2514600"/>
          <a:ext cx="7498080" cy="310896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8412480" y="2560320"/>
            <a:ext cx="3200400" cy="1234440"/>
          </a:xfrm>
          <a:prstGeom prst="roundRect">
            <a:avLst>
              <a:gd name="adj" fmla="val 5926"/>
            </a:avLst>
          </a:prstGeom>
          <a:solidFill>
            <a:srgbClr val="F2F4F7"/>
          </a:solidFill>
          <a:ln w="12700">
            <a:solidFill>
              <a:srgbClr val="F2F4F7"/>
            </a:solidFill>
            <a:prstDash val="solid"/>
          </a:ln>
        </p:spPr>
      </p:sp>
      <p:sp>
        <p:nvSpPr>
          <p:cNvPr id="17" name="Text 14"/>
          <p:cNvSpPr txBox="1"/>
          <p:nvPr/>
        </p:nvSpPr>
        <p:spPr>
          <a:xfrm>
            <a:off x="8641080" y="2651760"/>
            <a:ext cx="2743200" cy="594360"/>
          </a:xfrm>
          <a:prstGeom prst="rect">
            <a:avLst/>
          </a:prstGeom>
          <a:noFill/>
          <a:ln/>
        </p:spPr>
        <p:txBody>
          <a:bodyPr wrap="square" lIns="0" tIns="0" rIns="0" bIns="0" rtlCol="0" anchor="t"/>
          <a:lstStyle/>
          <a:p>
            <a:pPr indent="0" marL="0">
              <a:buNone/>
            </a:pPr>
            <a:r>
              <a:rPr lang="en-US" sz="3200" b="1" dirty="0">
                <a:solidFill>
                  <a:srgbClr val="C8433F"/>
                </a:solidFill>
                <a:latin typeface="Cambria" pitchFamily="34" charset="0"/>
                <a:ea typeface="Cambria" pitchFamily="34" charset="-122"/>
                <a:cs typeface="Cambria" pitchFamily="34" charset="-120"/>
              </a:rPr>
              <a:t>83 vs 46.3</a:t>
            </a:r>
            <a:endParaRPr lang="en-US" sz="3200" dirty="0"/>
          </a:p>
        </p:txBody>
      </p:sp>
      <p:sp>
        <p:nvSpPr>
          <p:cNvPr id="18" name="Text 15"/>
          <p:cNvSpPr txBox="1"/>
          <p:nvPr/>
        </p:nvSpPr>
        <p:spPr>
          <a:xfrm>
            <a:off x="8641080" y="3273552"/>
            <a:ext cx="2743200" cy="475488"/>
          </a:xfrm>
          <a:prstGeom prst="rect">
            <a:avLst/>
          </a:prstGeom>
          <a:noFill/>
          <a:ln/>
        </p:spPr>
        <p:txBody>
          <a:bodyPr wrap="square" lIns="0" tIns="0" rIns="0" bIns="0" rtlCol="0" anchor="t"/>
          <a:lstStyle/>
          <a:p>
            <a:pPr indent="0" marL="0">
              <a:buNone/>
            </a:pPr>
            <a:r>
              <a:rPr lang="en-US" sz="1200" dirty="0">
                <a:solidFill>
                  <a:srgbClr val="3A4150"/>
                </a:solidFill>
                <a:latin typeface="Calibri" pitchFamily="34" charset="0"/>
                <a:ea typeface="Calibri" pitchFamily="34" charset="-122"/>
                <a:cs typeface="Calibri" pitchFamily="34" charset="-120"/>
              </a:rPr>
              <a:t>'Should feel' vs actually feel, October 2026</a:t>
            </a:r>
            <a:endParaRPr lang="en-US" sz="1200" dirty="0"/>
          </a:p>
        </p:txBody>
      </p:sp>
      <p:sp>
        <p:nvSpPr>
          <p:cNvPr id="19" name="Shape 16"/>
          <p:cNvSpPr/>
          <p:nvPr/>
        </p:nvSpPr>
        <p:spPr>
          <a:xfrm>
            <a:off x="8412480" y="3977640"/>
            <a:ext cx="3200400" cy="1234440"/>
          </a:xfrm>
          <a:prstGeom prst="roundRect">
            <a:avLst>
              <a:gd name="adj" fmla="val 5926"/>
            </a:avLst>
          </a:prstGeom>
          <a:solidFill>
            <a:srgbClr val="F2F4F7"/>
          </a:solidFill>
          <a:ln w="12700">
            <a:solidFill>
              <a:srgbClr val="F2F4F7"/>
            </a:solidFill>
            <a:prstDash val="solid"/>
          </a:ln>
        </p:spPr>
      </p:sp>
      <p:sp>
        <p:nvSpPr>
          <p:cNvPr id="20" name="Text 17"/>
          <p:cNvSpPr txBox="1"/>
          <p:nvPr/>
        </p:nvSpPr>
        <p:spPr>
          <a:xfrm>
            <a:off x="8641080" y="4069080"/>
            <a:ext cx="2743200" cy="594360"/>
          </a:xfrm>
          <a:prstGeom prst="rect">
            <a:avLst/>
          </a:prstGeom>
          <a:noFill/>
          <a:ln/>
        </p:spPr>
        <p:txBody>
          <a:bodyPr wrap="square" lIns="0" tIns="0" rIns="0" bIns="0" rtlCol="0" anchor="t"/>
          <a:lstStyle/>
          <a:p>
            <a:pPr indent="0" marL="0">
              <a:buNone/>
            </a:pPr>
            <a:r>
              <a:rPr lang="en-US" sz="3200" b="1" dirty="0">
                <a:solidFill>
                  <a:srgbClr val="1B1F27"/>
                </a:solidFill>
                <a:latin typeface="Cambria" pitchFamily="34" charset="0"/>
                <a:ea typeface="Cambria" pitchFamily="34" charset="-122"/>
                <a:cs typeface="Cambria" pitchFamily="34" charset="-120"/>
              </a:rPr>
              <a:t>2×</a:t>
            </a:r>
            <a:endParaRPr lang="en-US" sz="3200" dirty="0"/>
          </a:p>
        </p:txBody>
      </p:sp>
      <p:sp>
        <p:nvSpPr>
          <p:cNvPr id="21" name="Text 18"/>
          <p:cNvSpPr txBox="1"/>
          <p:nvPr/>
        </p:nvSpPr>
        <p:spPr>
          <a:xfrm>
            <a:off x="8641080" y="4690872"/>
            <a:ext cx="2743200" cy="475488"/>
          </a:xfrm>
          <a:prstGeom prst="rect">
            <a:avLst/>
          </a:prstGeom>
          <a:noFill/>
          <a:ln/>
        </p:spPr>
        <p:txBody>
          <a:bodyPr wrap="square" lIns="0" tIns="0" rIns="0" bIns="0" rtlCol="0" anchor="t"/>
          <a:lstStyle/>
          <a:p>
            <a:pPr indent="0" marL="0">
              <a:buNone/>
            </a:pPr>
            <a:r>
              <a:rPr lang="en-US" sz="1200" dirty="0">
                <a:solidFill>
                  <a:srgbClr val="3A4150"/>
                </a:solidFill>
                <a:latin typeface="Calibri" pitchFamily="34" charset="0"/>
                <a:ea typeface="Calibri" pitchFamily="34" charset="-122"/>
                <a:cs typeface="Calibri" pitchFamily="34" charset="-120"/>
              </a:rPr>
              <a:t>the gap is twice as big as in the 2008 crisis; May 2026 (44.8) was the lowest ever</a:t>
            </a:r>
            <a:endParaRPr lang="en-US" sz="1200" dirty="0"/>
          </a:p>
        </p:txBody>
      </p:sp>
      <p:sp>
        <p:nvSpPr>
          <p:cNvPr id="22" name="Shape 19"/>
          <p:cNvSpPr/>
          <p:nvPr/>
        </p:nvSpPr>
        <p:spPr>
          <a:xfrm>
            <a:off x="548640" y="5715000"/>
            <a:ext cx="11064240" cy="548640"/>
          </a:xfrm>
          <a:prstGeom prst="roundRect">
            <a:avLst>
              <a:gd name="adj" fmla="val 13333"/>
            </a:avLst>
          </a:prstGeom>
          <a:solidFill>
            <a:srgbClr val="1B1F27"/>
          </a:solidFill>
          <a:ln w="12700">
            <a:solidFill>
              <a:srgbClr val="1B1F27"/>
            </a:solidFill>
            <a:prstDash val="solid"/>
          </a:ln>
        </p:spPr>
      </p:sp>
      <p:sp>
        <p:nvSpPr>
          <p:cNvPr id="23" name="Text 20"/>
          <p:cNvSpPr txBox="1"/>
          <p:nvPr/>
        </p:nvSpPr>
        <p:spPr>
          <a:xfrm>
            <a:off x="777240" y="5788152"/>
            <a:ext cx="10607040" cy="411480"/>
          </a:xfrm>
          <a:prstGeom prst="rect">
            <a:avLst/>
          </a:prstGeom>
          <a:noFill/>
          <a:ln/>
        </p:spPr>
        <p:txBody>
          <a:bodyPr wrap="square" lIns="0" tIns="0" rIns="0" bIns="0" rtlCol="0" anchor="ctr"/>
          <a:lstStyle/>
          <a:p>
            <a:pPr indent="0" marL="0">
              <a:buNone/>
            </a:pPr>
            <a:r>
              <a:rPr lang="en-US" sz="1500" b="1" dirty="0">
                <a:solidFill>
                  <a:srgbClr val="F2B8B5"/>
                </a:solidFill>
                <a:latin typeface="Calibri" pitchFamily="34" charset="0"/>
                <a:ea typeface="Calibri" pitchFamily="34" charset="-122"/>
                <a:cs typeface="Calibri" pitchFamily="34" charset="-120"/>
              </a:rPr>
              <a:t>What this means:  </a:t>
            </a:r>
            <a:pPr indent="0" marL="0">
              <a:buNone/>
            </a:pPr>
            <a:r>
              <a:rPr lang="en-US" sz="1500" b="1" dirty="0">
                <a:solidFill>
                  <a:srgbClr val="FFFFFF"/>
                </a:solidFill>
                <a:latin typeface="Calibri" pitchFamily="34" charset="0"/>
                <a:ea typeface="Calibri" pitchFamily="34" charset="-122"/>
                <a:cs typeface="Calibri" pitchFamily="34" charset="-120"/>
              </a:rPr>
              <a:t>These numbers say people should feel fine (~83). They feel near the worst ever recorded (~46).</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Three possible explanations — we tested all three</a:t>
            </a:r>
            <a:endParaRPr lang="en-US" sz="3000" dirty="0"/>
          </a:p>
        </p:txBody>
      </p:sp>
      <p:sp>
        <p:nvSpPr>
          <p:cNvPr id="3" name="Shape 1"/>
          <p:cNvSpPr/>
          <p:nvPr/>
        </p:nvSpPr>
        <p:spPr>
          <a:xfrm>
            <a:off x="548640" y="1325880"/>
            <a:ext cx="3520440" cy="4160520"/>
          </a:xfrm>
          <a:prstGeom prst="roundRect">
            <a:avLst>
              <a:gd name="adj" fmla="val 2078"/>
            </a:avLst>
          </a:prstGeom>
          <a:solidFill>
            <a:srgbClr val="F2F4F7"/>
          </a:solidFill>
          <a:ln w="12700">
            <a:solidFill>
              <a:srgbClr val="F2F4F7"/>
            </a:solidFill>
            <a:prstDash val="solid"/>
          </a:ln>
        </p:spPr>
      </p:sp>
      <p:sp>
        <p:nvSpPr>
          <p:cNvPr id="4" name="Shape 2"/>
          <p:cNvSpPr/>
          <p:nvPr/>
        </p:nvSpPr>
        <p:spPr>
          <a:xfrm>
            <a:off x="822960" y="1554480"/>
            <a:ext cx="731520" cy="731520"/>
          </a:xfrm>
          <a:prstGeom prst="ellipse">
            <a:avLst/>
          </a:prstGeom>
          <a:solidFill>
            <a:srgbClr val="1B1F27"/>
          </a:solidFill>
          <a:ln w="12700">
            <a:solidFill>
              <a:srgbClr val="1B1F27"/>
            </a:solidFill>
            <a:prstDash val="solid"/>
          </a:ln>
        </p:spPr>
      </p:sp>
      <p:sp>
        <p:nvSpPr>
          <p:cNvPr id="5" name="Text 3"/>
          <p:cNvSpPr txBox="1"/>
          <p:nvPr/>
        </p:nvSpPr>
        <p:spPr>
          <a:xfrm>
            <a:off x="822960" y="155448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1</a:t>
            </a:r>
            <a:endParaRPr lang="en-US" sz="2200" dirty="0"/>
          </a:p>
        </p:txBody>
      </p:sp>
      <p:sp>
        <p:nvSpPr>
          <p:cNvPr id="6" name="Text 4"/>
          <p:cNvSpPr txBox="1"/>
          <p:nvPr/>
        </p:nvSpPr>
        <p:spPr>
          <a:xfrm>
            <a:off x="822960" y="2468880"/>
            <a:ext cx="3017520" cy="73152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Real pain the numbers miss</a:t>
            </a:r>
            <a:endParaRPr lang="en-US" sz="2000" dirty="0"/>
          </a:p>
        </p:txBody>
      </p:sp>
      <p:sp>
        <p:nvSpPr>
          <p:cNvPr id="7" name="Text 5"/>
          <p:cNvSpPr txBox="1"/>
          <p:nvPr/>
        </p:nvSpPr>
        <p:spPr>
          <a:xfrm>
            <a:off x="822960" y="3200400"/>
            <a:ext cx="3017520" cy="1097280"/>
          </a:xfrm>
          <a:prstGeom prst="rect">
            <a:avLst/>
          </a:prstGeom>
          <a:noFill/>
          <a:ln/>
        </p:spPr>
        <p:txBody>
          <a:bodyPr wrap="square" lIns="0" tIns="0" rIns="0" bIns="0" rtlCol="0" anchor="t"/>
          <a:lstStyle/>
          <a:p>
            <a:pPr indent="0" marL="0">
              <a:buNone/>
            </a:pPr>
            <a:r>
              <a:rPr lang="en-US" sz="1400" dirty="0">
                <a:solidFill>
                  <a:srgbClr val="3A4150"/>
                </a:solidFill>
                <a:latin typeface="Calibri" pitchFamily="34" charset="0"/>
                <a:ea typeface="Calibri" pitchFamily="34" charset="-122"/>
                <a:cs typeface="Calibri" pitchFamily="34" charset="-120"/>
              </a:rPr>
              <a:t>Prices stayed high, loans got expensive, rent and food went up.</a:t>
            </a:r>
            <a:endParaRPr lang="en-US" sz="1400" dirty="0"/>
          </a:p>
        </p:txBody>
      </p:sp>
      <p:sp>
        <p:nvSpPr>
          <p:cNvPr id="8" name="Text 6"/>
          <p:cNvSpPr txBox="1"/>
          <p:nvPr/>
        </p:nvSpPr>
        <p:spPr>
          <a:xfrm>
            <a:off x="822960" y="4224528"/>
            <a:ext cx="3017520" cy="274320"/>
          </a:xfrm>
          <a:prstGeom prst="rect">
            <a:avLst/>
          </a:prstGeom>
          <a:noFill/>
          <a:ln/>
        </p:spPr>
        <p:txBody>
          <a:bodyPr wrap="square" lIns="0" tIns="0" rIns="0" bIns="0" rtlCol="0" anchor="t"/>
          <a:lstStyle/>
          <a:p>
            <a:pPr indent="0" marL="0">
              <a:buNone/>
            </a:pPr>
            <a:r>
              <a:rPr lang="en-US" sz="1100" b="1" dirty="0">
                <a:solidFill>
                  <a:srgbClr val="7A8392"/>
                </a:solidFill>
                <a:latin typeface="Calibri" pitchFamily="34" charset="0"/>
                <a:ea typeface="Calibri" pitchFamily="34" charset="-122"/>
                <a:cs typeface="Calibri" pitchFamily="34" charset="-120"/>
              </a:rPr>
              <a:t>Our verdict</a:t>
            </a:r>
            <a:endParaRPr lang="en-US" sz="1100" dirty="0"/>
          </a:p>
        </p:txBody>
      </p:sp>
      <p:sp>
        <p:nvSpPr>
          <p:cNvPr id="9" name="Shape 7"/>
          <p:cNvSpPr/>
          <p:nvPr/>
        </p:nvSpPr>
        <p:spPr>
          <a:xfrm>
            <a:off x="822960" y="4526280"/>
            <a:ext cx="2971800" cy="731520"/>
          </a:xfrm>
          <a:prstGeom prst="roundRect">
            <a:avLst>
              <a:gd name="adj" fmla="val 12500"/>
            </a:avLst>
          </a:prstGeom>
          <a:solidFill>
            <a:srgbClr val="1F8A5B"/>
          </a:solidFill>
          <a:ln w="12700">
            <a:solidFill>
              <a:srgbClr val="1F8A5B"/>
            </a:solidFill>
            <a:prstDash val="solid"/>
          </a:ln>
        </p:spPr>
      </p:sp>
      <p:sp>
        <p:nvSpPr>
          <p:cNvPr id="10" name="Text 8"/>
          <p:cNvSpPr txBox="1"/>
          <p:nvPr/>
        </p:nvSpPr>
        <p:spPr>
          <a:xfrm>
            <a:off x="914400" y="4526280"/>
            <a:ext cx="2788920" cy="7315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Biggest piece</a:t>
            </a:r>
            <a:endParaRPr lang="en-US" sz="1400" dirty="0"/>
          </a:p>
        </p:txBody>
      </p:sp>
      <p:sp>
        <p:nvSpPr>
          <p:cNvPr id="11" name="Shape 9"/>
          <p:cNvSpPr/>
          <p:nvPr/>
        </p:nvSpPr>
        <p:spPr>
          <a:xfrm>
            <a:off x="4297680" y="1325880"/>
            <a:ext cx="3520440" cy="4160520"/>
          </a:xfrm>
          <a:prstGeom prst="roundRect">
            <a:avLst>
              <a:gd name="adj" fmla="val 2078"/>
            </a:avLst>
          </a:prstGeom>
          <a:solidFill>
            <a:srgbClr val="F2F4F7"/>
          </a:solidFill>
          <a:ln w="12700">
            <a:solidFill>
              <a:srgbClr val="F2F4F7"/>
            </a:solidFill>
            <a:prstDash val="solid"/>
          </a:ln>
        </p:spPr>
      </p:sp>
      <p:sp>
        <p:nvSpPr>
          <p:cNvPr id="12" name="Shape 10"/>
          <p:cNvSpPr/>
          <p:nvPr/>
        </p:nvSpPr>
        <p:spPr>
          <a:xfrm>
            <a:off x="4572000" y="1554480"/>
            <a:ext cx="731520" cy="731520"/>
          </a:xfrm>
          <a:prstGeom prst="ellipse">
            <a:avLst/>
          </a:prstGeom>
          <a:solidFill>
            <a:srgbClr val="1B1F27"/>
          </a:solidFill>
          <a:ln w="12700">
            <a:solidFill>
              <a:srgbClr val="1B1F27"/>
            </a:solidFill>
            <a:prstDash val="solid"/>
          </a:ln>
        </p:spPr>
      </p:sp>
      <p:sp>
        <p:nvSpPr>
          <p:cNvPr id="13" name="Text 11"/>
          <p:cNvSpPr txBox="1"/>
          <p:nvPr/>
        </p:nvSpPr>
        <p:spPr>
          <a:xfrm>
            <a:off x="4572000" y="155448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2</a:t>
            </a:r>
            <a:endParaRPr lang="en-US" sz="2200" dirty="0"/>
          </a:p>
        </p:txBody>
      </p:sp>
      <p:sp>
        <p:nvSpPr>
          <p:cNvPr id="14" name="Text 12"/>
          <p:cNvSpPr txBox="1"/>
          <p:nvPr/>
        </p:nvSpPr>
        <p:spPr>
          <a:xfrm>
            <a:off x="4572000" y="2468880"/>
            <a:ext cx="3017520" cy="73152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Media and psychology</a:t>
            </a:r>
            <a:endParaRPr lang="en-US" sz="2000" dirty="0"/>
          </a:p>
        </p:txBody>
      </p:sp>
      <p:sp>
        <p:nvSpPr>
          <p:cNvPr id="15" name="Text 13"/>
          <p:cNvSpPr txBox="1"/>
          <p:nvPr/>
        </p:nvSpPr>
        <p:spPr>
          <a:xfrm>
            <a:off x="4572000" y="3200400"/>
            <a:ext cx="3017520" cy="1097280"/>
          </a:xfrm>
          <a:prstGeom prst="rect">
            <a:avLst/>
          </a:prstGeom>
          <a:noFill/>
          <a:ln/>
        </p:spPr>
        <p:txBody>
          <a:bodyPr wrap="square" lIns="0" tIns="0" rIns="0" bIns="0" rtlCol="0" anchor="t"/>
          <a:lstStyle/>
          <a:p>
            <a:pPr indent="0" marL="0">
              <a:buNone/>
            </a:pPr>
            <a:r>
              <a:rPr lang="en-US" sz="1400" dirty="0">
                <a:solidFill>
                  <a:srgbClr val="3A4150"/>
                </a:solidFill>
                <a:latin typeface="Calibri" pitchFamily="34" charset="0"/>
                <a:ea typeface="Calibri" pitchFamily="34" charset="-122"/>
                <a:cs typeface="Calibri" pitchFamily="34" charset="-120"/>
              </a:rPr>
              <a:t>Negative or biased news coverage; how people's minds process shocks.</a:t>
            </a:r>
            <a:endParaRPr lang="en-US" sz="1400" dirty="0"/>
          </a:p>
        </p:txBody>
      </p:sp>
      <p:sp>
        <p:nvSpPr>
          <p:cNvPr id="16" name="Text 14"/>
          <p:cNvSpPr txBox="1"/>
          <p:nvPr/>
        </p:nvSpPr>
        <p:spPr>
          <a:xfrm>
            <a:off x="4572000" y="4224528"/>
            <a:ext cx="3017520" cy="274320"/>
          </a:xfrm>
          <a:prstGeom prst="rect">
            <a:avLst/>
          </a:prstGeom>
          <a:noFill/>
          <a:ln/>
        </p:spPr>
        <p:txBody>
          <a:bodyPr wrap="square" lIns="0" tIns="0" rIns="0" bIns="0" rtlCol="0" anchor="t"/>
          <a:lstStyle/>
          <a:p>
            <a:pPr indent="0" marL="0">
              <a:buNone/>
            </a:pPr>
            <a:r>
              <a:rPr lang="en-US" sz="1100" b="1" dirty="0">
                <a:solidFill>
                  <a:srgbClr val="7A8392"/>
                </a:solidFill>
                <a:latin typeface="Calibri" pitchFamily="34" charset="0"/>
                <a:ea typeface="Calibri" pitchFamily="34" charset="-122"/>
                <a:cs typeface="Calibri" pitchFamily="34" charset="-120"/>
              </a:rPr>
              <a:t>Our verdict</a:t>
            </a:r>
            <a:endParaRPr lang="en-US" sz="1100" dirty="0"/>
          </a:p>
        </p:txBody>
      </p:sp>
      <p:sp>
        <p:nvSpPr>
          <p:cNvPr id="17" name="Shape 15"/>
          <p:cNvSpPr/>
          <p:nvPr/>
        </p:nvSpPr>
        <p:spPr>
          <a:xfrm>
            <a:off x="4572000" y="4526280"/>
            <a:ext cx="2971800" cy="731520"/>
          </a:xfrm>
          <a:prstGeom prst="roundRect">
            <a:avLst>
              <a:gd name="adj" fmla="val 12500"/>
            </a:avLst>
          </a:prstGeom>
          <a:solidFill>
            <a:srgbClr val="D99A1E"/>
          </a:solidFill>
          <a:ln w="12700">
            <a:solidFill>
              <a:srgbClr val="D99A1E"/>
            </a:solidFill>
            <a:prstDash val="solid"/>
          </a:ln>
        </p:spPr>
      </p:sp>
      <p:sp>
        <p:nvSpPr>
          <p:cNvPr id="18" name="Text 16"/>
          <p:cNvSpPr txBox="1"/>
          <p:nvPr/>
        </p:nvSpPr>
        <p:spPr>
          <a:xfrm>
            <a:off x="4663440" y="4526280"/>
            <a:ext cx="2788920" cy="7315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Media: no.  Lived experience: yes.</a:t>
            </a:r>
            <a:endParaRPr lang="en-US" sz="1400" dirty="0"/>
          </a:p>
        </p:txBody>
      </p:sp>
      <p:sp>
        <p:nvSpPr>
          <p:cNvPr id="19" name="Shape 17"/>
          <p:cNvSpPr/>
          <p:nvPr/>
        </p:nvSpPr>
        <p:spPr>
          <a:xfrm>
            <a:off x="8046720" y="1325880"/>
            <a:ext cx="3520440" cy="4160520"/>
          </a:xfrm>
          <a:prstGeom prst="roundRect">
            <a:avLst>
              <a:gd name="adj" fmla="val 2078"/>
            </a:avLst>
          </a:prstGeom>
          <a:solidFill>
            <a:srgbClr val="F2F4F7"/>
          </a:solidFill>
          <a:ln w="12700">
            <a:solidFill>
              <a:srgbClr val="F2F4F7"/>
            </a:solidFill>
            <a:prstDash val="solid"/>
          </a:ln>
        </p:spPr>
      </p:sp>
      <p:sp>
        <p:nvSpPr>
          <p:cNvPr id="20" name="Shape 18"/>
          <p:cNvSpPr/>
          <p:nvPr/>
        </p:nvSpPr>
        <p:spPr>
          <a:xfrm>
            <a:off x="8321040" y="1554480"/>
            <a:ext cx="731520" cy="731520"/>
          </a:xfrm>
          <a:prstGeom prst="ellipse">
            <a:avLst/>
          </a:prstGeom>
          <a:solidFill>
            <a:srgbClr val="1B1F27"/>
          </a:solidFill>
          <a:ln w="12700">
            <a:solidFill>
              <a:srgbClr val="1B1F27"/>
            </a:solidFill>
            <a:prstDash val="solid"/>
          </a:ln>
        </p:spPr>
      </p:sp>
      <p:sp>
        <p:nvSpPr>
          <p:cNvPr id="21" name="Text 19"/>
          <p:cNvSpPr txBox="1"/>
          <p:nvPr/>
        </p:nvSpPr>
        <p:spPr>
          <a:xfrm>
            <a:off x="8321040" y="155448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3</a:t>
            </a:r>
            <a:endParaRPr lang="en-US" sz="2200" dirty="0"/>
          </a:p>
        </p:txBody>
      </p:sp>
      <p:sp>
        <p:nvSpPr>
          <p:cNvPr id="22" name="Text 20"/>
          <p:cNvSpPr txBox="1"/>
          <p:nvPr/>
        </p:nvSpPr>
        <p:spPr>
          <a:xfrm>
            <a:off x="8321040" y="2468880"/>
            <a:ext cx="3017520" cy="73152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Measurement</a:t>
            </a:r>
            <a:endParaRPr lang="en-US" sz="2000" dirty="0"/>
          </a:p>
        </p:txBody>
      </p:sp>
      <p:sp>
        <p:nvSpPr>
          <p:cNvPr id="23" name="Text 21"/>
          <p:cNvSpPr txBox="1"/>
          <p:nvPr/>
        </p:nvSpPr>
        <p:spPr>
          <a:xfrm>
            <a:off x="8321040" y="3200400"/>
            <a:ext cx="3017520" cy="1097280"/>
          </a:xfrm>
          <a:prstGeom prst="rect">
            <a:avLst/>
          </a:prstGeom>
          <a:noFill/>
          <a:ln/>
        </p:spPr>
        <p:txBody>
          <a:bodyPr wrap="square" lIns="0" tIns="0" rIns="0" bIns="0" rtlCol="0" anchor="t"/>
          <a:lstStyle/>
          <a:p>
            <a:pPr indent="0" marL="0">
              <a:buNone/>
            </a:pPr>
            <a:r>
              <a:rPr lang="en-US" sz="1400" dirty="0">
                <a:solidFill>
                  <a:srgbClr val="3A4150"/>
                </a:solidFill>
                <a:latin typeface="Calibri" pitchFamily="34" charset="0"/>
                <a:ea typeface="Calibri" pitchFamily="34" charset="-122"/>
                <a:cs typeface="Calibri" pitchFamily="34" charset="-120"/>
              </a:rPr>
              <a:t>The survey changed how it asks; old models miss new kinds of shocks.</a:t>
            </a:r>
            <a:endParaRPr lang="en-US" sz="1400" dirty="0"/>
          </a:p>
        </p:txBody>
      </p:sp>
      <p:sp>
        <p:nvSpPr>
          <p:cNvPr id="24" name="Text 22"/>
          <p:cNvSpPr txBox="1"/>
          <p:nvPr/>
        </p:nvSpPr>
        <p:spPr>
          <a:xfrm>
            <a:off x="8321040" y="4224528"/>
            <a:ext cx="3017520" cy="274320"/>
          </a:xfrm>
          <a:prstGeom prst="rect">
            <a:avLst/>
          </a:prstGeom>
          <a:noFill/>
          <a:ln/>
        </p:spPr>
        <p:txBody>
          <a:bodyPr wrap="square" lIns="0" tIns="0" rIns="0" bIns="0" rtlCol="0" anchor="t"/>
          <a:lstStyle/>
          <a:p>
            <a:pPr indent="0" marL="0">
              <a:buNone/>
            </a:pPr>
            <a:r>
              <a:rPr lang="en-US" sz="1100" b="1" dirty="0">
                <a:solidFill>
                  <a:srgbClr val="7A8392"/>
                </a:solidFill>
                <a:latin typeface="Calibri" pitchFamily="34" charset="0"/>
                <a:ea typeface="Calibri" pitchFamily="34" charset="-122"/>
                <a:cs typeface="Calibri" pitchFamily="34" charset="-120"/>
              </a:rPr>
              <a:t>Our verdict</a:t>
            </a:r>
            <a:endParaRPr lang="en-US" sz="1100" dirty="0"/>
          </a:p>
        </p:txBody>
      </p:sp>
      <p:sp>
        <p:nvSpPr>
          <p:cNvPr id="25" name="Shape 23"/>
          <p:cNvSpPr/>
          <p:nvPr/>
        </p:nvSpPr>
        <p:spPr>
          <a:xfrm>
            <a:off x="8321040" y="4526280"/>
            <a:ext cx="2971800" cy="731520"/>
          </a:xfrm>
          <a:prstGeom prst="roundRect">
            <a:avLst>
              <a:gd name="adj" fmla="val 12500"/>
            </a:avLst>
          </a:prstGeom>
          <a:solidFill>
            <a:srgbClr val="2A78D6"/>
          </a:solidFill>
          <a:ln w="12700">
            <a:solidFill>
              <a:srgbClr val="2A78D6"/>
            </a:solidFill>
            <a:prstDash val="solid"/>
          </a:ln>
        </p:spPr>
      </p:sp>
      <p:sp>
        <p:nvSpPr>
          <p:cNvPr id="26" name="Text 24"/>
          <p:cNvSpPr txBox="1"/>
          <p:nvPr/>
        </p:nvSpPr>
        <p:spPr>
          <a:xfrm>
            <a:off x="8412480" y="4526280"/>
            <a:ext cx="2788920" cy="7315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Yes, a real part</a:t>
            </a:r>
            <a:endParaRPr lang="en-US" sz="1400" dirty="0"/>
          </a:p>
        </p:txBody>
      </p:sp>
      <p:sp>
        <p:nvSpPr>
          <p:cNvPr id="27" name="Shape 25"/>
          <p:cNvSpPr/>
          <p:nvPr/>
        </p:nvSpPr>
        <p:spPr>
          <a:xfrm>
            <a:off x="548640" y="5715000"/>
            <a:ext cx="11064240" cy="548640"/>
          </a:xfrm>
          <a:prstGeom prst="roundRect">
            <a:avLst>
              <a:gd name="adj" fmla="val 13333"/>
            </a:avLst>
          </a:prstGeom>
          <a:solidFill>
            <a:srgbClr val="1B1F27"/>
          </a:solidFill>
          <a:ln w="12700">
            <a:solidFill>
              <a:srgbClr val="1B1F27"/>
            </a:solidFill>
            <a:prstDash val="solid"/>
          </a:ln>
        </p:spPr>
      </p:sp>
      <p:sp>
        <p:nvSpPr>
          <p:cNvPr id="28" name="Text 26"/>
          <p:cNvSpPr txBox="1"/>
          <p:nvPr/>
        </p:nvSpPr>
        <p:spPr>
          <a:xfrm>
            <a:off x="777240" y="5788152"/>
            <a:ext cx="10607040" cy="411480"/>
          </a:xfrm>
          <a:prstGeom prst="rect">
            <a:avLst/>
          </a:prstGeom>
          <a:noFill/>
          <a:ln/>
        </p:spPr>
        <p:txBody>
          <a:bodyPr wrap="square" lIns="0" tIns="0" rIns="0" bIns="0" rtlCol="0" anchor="ctr"/>
          <a:lstStyle/>
          <a:p>
            <a:pPr indent="0" marL="0">
              <a:buNone/>
            </a:pPr>
            <a:r>
              <a:rPr lang="en-US" sz="1500" b="1" dirty="0">
                <a:solidFill>
                  <a:srgbClr val="F2B8B5"/>
                </a:solidFill>
                <a:latin typeface="Calibri" pitchFamily="34" charset="0"/>
                <a:ea typeface="Calibri" pitchFamily="34" charset="-122"/>
                <a:cs typeface="Calibri" pitchFamily="34" charset="-120"/>
              </a:rPr>
              <a:t>What this means:  </a:t>
            </a:r>
            <a:pPr indent="0" marL="0">
              <a:buNone/>
            </a:pPr>
            <a:r>
              <a:rPr lang="en-US" sz="1500" b="1" dirty="0">
                <a:solidFill>
                  <a:srgbClr val="FFFFFF"/>
                </a:solidFill>
                <a:latin typeface="Calibri" pitchFamily="34" charset="0"/>
                <a:ea typeface="Calibri" pitchFamily="34" charset="-122"/>
                <a:cs typeface="Calibri" pitchFamily="34" charset="-120"/>
              </a:rPr>
              <a:t>We didn't assume people are irrational or that the news is biased — each explanation had to prove itself with data.</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First, we made sure the data was right</a:t>
            </a:r>
            <a:endParaRPr lang="en-US" sz="3000" dirty="0"/>
          </a:p>
        </p:txBody>
      </p:sp>
      <p:sp>
        <p:nvSpPr>
          <p:cNvPr id="3" name="Shape 1"/>
          <p:cNvSpPr/>
          <p:nvPr/>
        </p:nvSpPr>
        <p:spPr>
          <a:xfrm>
            <a:off x="548640" y="1325880"/>
            <a:ext cx="5440680" cy="1920240"/>
          </a:xfrm>
          <a:prstGeom prst="roundRect">
            <a:avLst>
              <a:gd name="adj" fmla="val 3810"/>
            </a:avLst>
          </a:prstGeom>
          <a:solidFill>
            <a:srgbClr val="F2F4F7"/>
          </a:solidFill>
          <a:ln w="12700">
            <a:solidFill>
              <a:srgbClr val="F2F4F7"/>
            </a:solidFill>
            <a:prstDash val="solid"/>
          </a:ln>
        </p:spPr>
      </p:sp>
      <p:sp>
        <p:nvSpPr>
          <p:cNvPr id="4" name="Shape 2"/>
          <p:cNvSpPr/>
          <p:nvPr/>
        </p:nvSpPr>
        <p:spPr>
          <a:xfrm>
            <a:off x="822960" y="1691640"/>
            <a:ext cx="731520" cy="731520"/>
          </a:xfrm>
          <a:prstGeom prst="ellipse">
            <a:avLst/>
          </a:prstGeom>
          <a:solidFill>
            <a:srgbClr val="1B1F27"/>
          </a:solidFill>
          <a:ln w="12700">
            <a:solidFill>
              <a:srgbClr val="1B1F27"/>
            </a:solidFill>
            <a:prstDash val="solid"/>
          </a:ln>
        </p:spPr>
      </p:sp>
      <p:sp>
        <p:nvSpPr>
          <p:cNvPr id="5" name="Text 3"/>
          <p:cNvSpPr txBox="1"/>
          <p:nvPr/>
        </p:nvSpPr>
        <p:spPr>
          <a:xfrm>
            <a:off x="822960" y="169164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783080" y="1600200"/>
            <a:ext cx="4023360" cy="50292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Wrong inflation number</a:t>
            </a:r>
            <a:endParaRPr lang="en-US" sz="1800" dirty="0"/>
          </a:p>
        </p:txBody>
      </p:sp>
      <p:sp>
        <p:nvSpPr>
          <p:cNvPr id="7" name="Text 5"/>
          <p:cNvSpPr txBox="1"/>
          <p:nvPr/>
        </p:nvSpPr>
        <p:spPr>
          <a:xfrm>
            <a:off x="1783080" y="2148840"/>
            <a:ext cx="4023360" cy="1005840"/>
          </a:xfrm>
          <a:prstGeom prst="rect">
            <a:avLst/>
          </a:prstGeom>
          <a:noFill/>
          <a:ln/>
        </p:spPr>
        <p:txBody>
          <a:bodyPr wrap="square" lIns="0" tIns="0" rIns="0" bIns="0" rtlCol="0" anchor="t"/>
          <a:lstStyle/>
          <a:p>
            <a:pPr indent="0" marL="0">
              <a:buNone/>
            </a:pPr>
            <a:r>
              <a:rPr lang="en-US" sz="1400" dirty="0">
                <a:solidFill>
                  <a:srgbClr val="3A4150"/>
                </a:solidFill>
                <a:latin typeface="Calibri" pitchFamily="34" charset="0"/>
                <a:ea typeface="Calibri" pitchFamily="34" charset="-122"/>
                <a:cs typeface="Calibri" pitchFamily="34" charset="-120"/>
              </a:rPr>
              <a:t>The file's inflation column left out food and gas. We used the full number.</a:t>
            </a:r>
            <a:endParaRPr lang="en-US" sz="1400" dirty="0"/>
          </a:p>
        </p:txBody>
      </p:sp>
      <p:sp>
        <p:nvSpPr>
          <p:cNvPr id="8" name="Shape 6"/>
          <p:cNvSpPr/>
          <p:nvPr/>
        </p:nvSpPr>
        <p:spPr>
          <a:xfrm>
            <a:off x="6172200" y="1325880"/>
            <a:ext cx="5440680" cy="1920240"/>
          </a:xfrm>
          <a:prstGeom prst="roundRect">
            <a:avLst>
              <a:gd name="adj" fmla="val 3810"/>
            </a:avLst>
          </a:prstGeom>
          <a:solidFill>
            <a:srgbClr val="F2F4F7"/>
          </a:solidFill>
          <a:ln w="12700">
            <a:solidFill>
              <a:srgbClr val="F2F4F7"/>
            </a:solidFill>
            <a:prstDash val="solid"/>
          </a:ln>
        </p:spPr>
      </p:sp>
      <p:sp>
        <p:nvSpPr>
          <p:cNvPr id="9" name="Shape 7"/>
          <p:cNvSpPr/>
          <p:nvPr/>
        </p:nvSpPr>
        <p:spPr>
          <a:xfrm>
            <a:off x="6446520" y="1691640"/>
            <a:ext cx="731520" cy="731520"/>
          </a:xfrm>
          <a:prstGeom prst="ellipse">
            <a:avLst/>
          </a:prstGeom>
          <a:solidFill>
            <a:srgbClr val="1B1F27"/>
          </a:solidFill>
          <a:ln w="12700">
            <a:solidFill>
              <a:srgbClr val="1B1F27"/>
            </a:solidFill>
            <a:prstDash val="solid"/>
          </a:ln>
        </p:spPr>
      </p:sp>
      <p:sp>
        <p:nvSpPr>
          <p:cNvPr id="10" name="Text 8"/>
          <p:cNvSpPr txBox="1"/>
          <p:nvPr/>
        </p:nvSpPr>
        <p:spPr>
          <a:xfrm>
            <a:off x="6446520" y="169164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11" name="Text 9"/>
          <p:cNvSpPr txBox="1"/>
          <p:nvPr/>
        </p:nvSpPr>
        <p:spPr>
          <a:xfrm>
            <a:off x="7406640" y="1600200"/>
            <a:ext cx="4023360" cy="50292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A number from the future</a:t>
            </a:r>
            <a:endParaRPr lang="en-US" sz="1800" dirty="0"/>
          </a:p>
        </p:txBody>
      </p:sp>
      <p:sp>
        <p:nvSpPr>
          <p:cNvPr id="12" name="Text 10"/>
          <p:cNvSpPr txBox="1"/>
          <p:nvPr/>
        </p:nvSpPr>
        <p:spPr>
          <a:xfrm>
            <a:off x="7406640" y="2148840"/>
            <a:ext cx="4023360" cy="1005840"/>
          </a:xfrm>
          <a:prstGeom prst="rect">
            <a:avLst/>
          </a:prstGeom>
          <a:noFill/>
          <a:ln/>
        </p:spPr>
        <p:txBody>
          <a:bodyPr wrap="square" lIns="0" tIns="0" rIns="0" bIns="0" rtlCol="0" anchor="t"/>
          <a:lstStyle/>
          <a:p>
            <a:pPr indent="0" marL="0">
              <a:buNone/>
            </a:pPr>
            <a:r>
              <a:rPr lang="en-US" sz="1400" dirty="0">
                <a:solidFill>
                  <a:srgbClr val="3A4150"/>
                </a:solidFill>
                <a:latin typeface="Calibri" pitchFamily="34" charset="0"/>
                <a:ea typeface="Calibri" pitchFamily="34" charset="-122"/>
                <a:cs typeface="Calibri" pitchFamily="34" charset="-120"/>
              </a:rPr>
              <a:t>It included a GDP figure not published until late October. We removed it.</a:t>
            </a:r>
            <a:endParaRPr lang="en-US" sz="1400" dirty="0"/>
          </a:p>
        </p:txBody>
      </p:sp>
      <p:sp>
        <p:nvSpPr>
          <p:cNvPr id="13" name="Shape 11"/>
          <p:cNvSpPr/>
          <p:nvPr/>
        </p:nvSpPr>
        <p:spPr>
          <a:xfrm>
            <a:off x="548640" y="3429000"/>
            <a:ext cx="5440680" cy="1920240"/>
          </a:xfrm>
          <a:prstGeom prst="roundRect">
            <a:avLst>
              <a:gd name="adj" fmla="val 3810"/>
            </a:avLst>
          </a:prstGeom>
          <a:solidFill>
            <a:srgbClr val="F2F4F7"/>
          </a:solidFill>
          <a:ln w="12700">
            <a:solidFill>
              <a:srgbClr val="F2F4F7"/>
            </a:solidFill>
            <a:prstDash val="solid"/>
          </a:ln>
        </p:spPr>
      </p:sp>
      <p:sp>
        <p:nvSpPr>
          <p:cNvPr id="14" name="Shape 12"/>
          <p:cNvSpPr/>
          <p:nvPr/>
        </p:nvSpPr>
        <p:spPr>
          <a:xfrm>
            <a:off x="822960" y="3794760"/>
            <a:ext cx="731520" cy="731520"/>
          </a:xfrm>
          <a:prstGeom prst="ellipse">
            <a:avLst/>
          </a:prstGeom>
          <a:solidFill>
            <a:srgbClr val="1B1F27"/>
          </a:solidFill>
          <a:ln w="12700">
            <a:solidFill>
              <a:srgbClr val="1B1F27"/>
            </a:solidFill>
            <a:prstDash val="solid"/>
          </a:ln>
        </p:spPr>
      </p:sp>
      <p:sp>
        <p:nvSpPr>
          <p:cNvPr id="15" name="Text 13"/>
          <p:cNvSpPr txBox="1"/>
          <p:nvPr/>
        </p:nvSpPr>
        <p:spPr>
          <a:xfrm>
            <a:off x="822960" y="379476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3</a:t>
            </a:r>
            <a:endParaRPr lang="en-US" sz="2000" dirty="0"/>
          </a:p>
        </p:txBody>
      </p:sp>
      <p:sp>
        <p:nvSpPr>
          <p:cNvPr id="16" name="Text 14"/>
          <p:cNvSpPr txBox="1"/>
          <p:nvPr/>
        </p:nvSpPr>
        <p:spPr>
          <a:xfrm>
            <a:off x="1783080" y="3703320"/>
            <a:ext cx="4023360" cy="50292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Missing month</a:t>
            </a:r>
            <a:endParaRPr lang="en-US" sz="1800" dirty="0"/>
          </a:p>
        </p:txBody>
      </p:sp>
      <p:sp>
        <p:nvSpPr>
          <p:cNvPr id="17" name="Text 15"/>
          <p:cNvSpPr txBox="1"/>
          <p:nvPr/>
        </p:nvSpPr>
        <p:spPr>
          <a:xfrm>
            <a:off x="1783080" y="4251960"/>
            <a:ext cx="4023360" cy="1005840"/>
          </a:xfrm>
          <a:prstGeom prst="rect">
            <a:avLst/>
          </a:prstGeom>
          <a:noFill/>
          <a:ln/>
        </p:spPr>
        <p:txBody>
          <a:bodyPr wrap="square" lIns="0" tIns="0" rIns="0" bIns="0" rtlCol="0" anchor="t"/>
          <a:lstStyle/>
          <a:p>
            <a:pPr indent="0" marL="0">
              <a:buNone/>
            </a:pPr>
            <a:r>
              <a:rPr lang="en-US" sz="1400" dirty="0">
                <a:solidFill>
                  <a:srgbClr val="3A4150"/>
                </a:solidFill>
                <a:latin typeface="Calibri" pitchFamily="34" charset="0"/>
                <a:ea typeface="Calibri" pitchFamily="34" charset="-122"/>
                <a:cs typeface="Calibri" pitchFamily="34" charset="-120"/>
              </a:rPr>
              <a:t>The 2025 government shutdown meant October 2025 jobs data was never collected.</a:t>
            </a:r>
            <a:endParaRPr lang="en-US" sz="1400" dirty="0"/>
          </a:p>
        </p:txBody>
      </p:sp>
      <p:sp>
        <p:nvSpPr>
          <p:cNvPr id="18" name="Shape 16"/>
          <p:cNvSpPr/>
          <p:nvPr/>
        </p:nvSpPr>
        <p:spPr>
          <a:xfrm>
            <a:off x="6172200" y="3429000"/>
            <a:ext cx="5440680" cy="1920240"/>
          </a:xfrm>
          <a:prstGeom prst="roundRect">
            <a:avLst>
              <a:gd name="adj" fmla="val 3810"/>
            </a:avLst>
          </a:prstGeom>
          <a:solidFill>
            <a:srgbClr val="F2F4F7"/>
          </a:solidFill>
          <a:ln w="12700">
            <a:solidFill>
              <a:srgbClr val="F2F4F7"/>
            </a:solidFill>
            <a:prstDash val="solid"/>
          </a:ln>
        </p:spPr>
      </p:sp>
      <p:sp>
        <p:nvSpPr>
          <p:cNvPr id="19" name="Shape 17"/>
          <p:cNvSpPr/>
          <p:nvPr/>
        </p:nvSpPr>
        <p:spPr>
          <a:xfrm>
            <a:off x="6446520" y="3794760"/>
            <a:ext cx="731520" cy="731520"/>
          </a:xfrm>
          <a:prstGeom prst="ellipse">
            <a:avLst/>
          </a:prstGeom>
          <a:solidFill>
            <a:srgbClr val="1B1F27"/>
          </a:solidFill>
          <a:ln w="12700">
            <a:solidFill>
              <a:srgbClr val="1B1F27"/>
            </a:solidFill>
            <a:prstDash val="solid"/>
          </a:ln>
        </p:spPr>
      </p:sp>
      <p:sp>
        <p:nvSpPr>
          <p:cNvPr id="20" name="Text 18"/>
          <p:cNvSpPr txBox="1"/>
          <p:nvPr/>
        </p:nvSpPr>
        <p:spPr>
          <a:xfrm>
            <a:off x="6446520" y="379476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
        <p:nvSpPr>
          <p:cNvPr id="21" name="Text 19"/>
          <p:cNvSpPr txBox="1"/>
          <p:nvPr/>
        </p:nvSpPr>
        <p:spPr>
          <a:xfrm>
            <a:off x="7406640" y="3703320"/>
            <a:ext cx="4023360" cy="50292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Survey changed</a:t>
            </a:r>
            <a:endParaRPr lang="en-US" sz="1800" dirty="0"/>
          </a:p>
        </p:txBody>
      </p:sp>
      <p:sp>
        <p:nvSpPr>
          <p:cNvPr id="22" name="Text 20"/>
          <p:cNvSpPr txBox="1"/>
          <p:nvPr/>
        </p:nvSpPr>
        <p:spPr>
          <a:xfrm>
            <a:off x="7406640" y="4251960"/>
            <a:ext cx="4023360" cy="1005840"/>
          </a:xfrm>
          <a:prstGeom prst="rect">
            <a:avLst/>
          </a:prstGeom>
          <a:noFill/>
          <a:ln/>
        </p:spPr>
        <p:txBody>
          <a:bodyPr wrap="square" lIns="0" tIns="0" rIns="0" bIns="0" rtlCol="0" anchor="t"/>
          <a:lstStyle/>
          <a:p>
            <a:pPr indent="0" marL="0">
              <a:buNone/>
            </a:pPr>
            <a:r>
              <a:rPr lang="en-US" sz="1400" dirty="0">
                <a:solidFill>
                  <a:srgbClr val="3A4150"/>
                </a:solidFill>
                <a:latin typeface="Calibri" pitchFamily="34" charset="0"/>
                <a:ea typeface="Calibri" pitchFamily="34" charset="-122"/>
                <a:cs typeface="Calibri" pitchFamily="34" charset="-120"/>
              </a:rPr>
              <a:t>Michigan moved from phone to online in 2024. Online answers are ~6.6 points gloomier.</a:t>
            </a:r>
            <a:endParaRPr lang="en-US" sz="1400" dirty="0"/>
          </a:p>
        </p:txBody>
      </p:sp>
      <p:sp>
        <p:nvSpPr>
          <p:cNvPr id="23" name="Shape 21"/>
          <p:cNvSpPr/>
          <p:nvPr/>
        </p:nvSpPr>
        <p:spPr>
          <a:xfrm>
            <a:off x="548640" y="5715000"/>
            <a:ext cx="11064240" cy="548640"/>
          </a:xfrm>
          <a:prstGeom prst="roundRect">
            <a:avLst>
              <a:gd name="adj" fmla="val 13333"/>
            </a:avLst>
          </a:prstGeom>
          <a:solidFill>
            <a:srgbClr val="1B1F27"/>
          </a:solidFill>
          <a:ln w="12700">
            <a:solidFill>
              <a:srgbClr val="1B1F27"/>
            </a:solidFill>
            <a:prstDash val="solid"/>
          </a:ln>
        </p:spPr>
      </p:sp>
      <p:sp>
        <p:nvSpPr>
          <p:cNvPr id="24" name="Text 22"/>
          <p:cNvSpPr txBox="1"/>
          <p:nvPr/>
        </p:nvSpPr>
        <p:spPr>
          <a:xfrm>
            <a:off x="777240" y="5788152"/>
            <a:ext cx="10607040" cy="411480"/>
          </a:xfrm>
          <a:prstGeom prst="rect">
            <a:avLst/>
          </a:prstGeom>
          <a:noFill/>
          <a:ln/>
        </p:spPr>
        <p:txBody>
          <a:bodyPr wrap="square" lIns="0" tIns="0" rIns="0" bIns="0" rtlCol="0" anchor="ctr"/>
          <a:lstStyle/>
          <a:p>
            <a:pPr indent="0" marL="0">
              <a:buNone/>
            </a:pPr>
            <a:r>
              <a:rPr lang="en-US" sz="1500" b="1" dirty="0">
                <a:solidFill>
                  <a:srgbClr val="F2B8B5"/>
                </a:solidFill>
                <a:latin typeface="Calibri" pitchFamily="34" charset="0"/>
                <a:ea typeface="Calibri" pitchFamily="34" charset="-122"/>
                <a:cs typeface="Calibri" pitchFamily="34" charset="-120"/>
              </a:rPr>
              <a:t>What this means:  </a:t>
            </a:r>
            <a:pPr indent="0" marL="0">
              <a:buNone/>
            </a:pPr>
            <a:r>
              <a:rPr lang="en-US" sz="1500" b="1" dirty="0">
                <a:solidFill>
                  <a:srgbClr val="FFFFFF"/>
                </a:solidFill>
                <a:latin typeface="Calibri" pitchFamily="34" charset="0"/>
                <a:ea typeface="Calibri" pitchFamily="34" charset="-122"/>
                <a:cs typeface="Calibri" pitchFamily="34" charset="-120"/>
              </a:rPr>
              <a:t>Our rule: only use numbers that were actually available at the time — no hindsight.</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Who feels worst? Everyone fell — young adults the most</a:t>
            </a:r>
            <a:endParaRPr lang="en-US" sz="3000" dirty="0"/>
          </a:p>
        </p:txBody>
      </p:sp>
      <p:graphicFrame>
        <p:nvGraphicFramePr>
          <p:cNvPr id="3" name="Chart 0" descr=""/>
          <p:cNvGraphicFramePr/>
          <p:nvPr/>
        </p:nvGraphicFramePr>
        <p:xfrm>
          <a:off x="548640" y="1234440"/>
          <a:ext cx="6400800" cy="43434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315200" y="1325880"/>
            <a:ext cx="4297680" cy="2011680"/>
          </a:xfrm>
          <a:prstGeom prst="roundRect">
            <a:avLst>
              <a:gd name="adj" fmla="val 3636"/>
            </a:avLst>
          </a:prstGeom>
          <a:solidFill>
            <a:srgbClr val="F2F4F7"/>
          </a:solidFill>
          <a:ln w="12700">
            <a:solidFill>
              <a:srgbClr val="F2F4F7"/>
            </a:solidFill>
            <a:prstDash val="solid"/>
          </a:ln>
        </p:spPr>
      </p:sp>
      <p:sp>
        <p:nvSpPr>
          <p:cNvPr id="5" name="Text 2"/>
          <p:cNvSpPr txBox="1"/>
          <p:nvPr/>
        </p:nvSpPr>
        <p:spPr>
          <a:xfrm>
            <a:off x="7498080" y="1463040"/>
            <a:ext cx="3931920" cy="182880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1F27"/>
                </a:solidFill>
                <a:latin typeface="Calibri" pitchFamily="34" charset="0"/>
                <a:ea typeface="Calibri" pitchFamily="34" charset="-122"/>
                <a:cs typeface="Calibri" pitchFamily="34" charset="-120"/>
              </a:rPr>
              <a:t>18–34: 101 → 54 (fell 47) — went from most optimistic to as gloomy as everyone.</a:t>
            </a:r>
            <a:endParaRPr lang="en-US" sz="1250" dirty="0"/>
          </a:p>
          <a:p>
            <a:pPr marL="342900" indent="-342900">
              <a:spcAft>
                <a:spcPts val="700"/>
              </a:spcAft>
              <a:buSzPct val="100000"/>
              <a:buChar char="•"/>
            </a:pPr>
            <a:r>
              <a:rPr lang="en-US" sz="1250" dirty="0">
                <a:solidFill>
                  <a:srgbClr val="1B1F27"/>
                </a:solidFill>
                <a:latin typeface="Calibri" pitchFamily="34" charset="0"/>
                <a:ea typeface="Calibri" pitchFamily="34" charset="-122"/>
                <a:cs typeface="Calibri" pitchFamily="34" charset="-120"/>
              </a:rPr>
              <a:t>55+: 93 → 56 (fell 37) — smallest drop.</a:t>
            </a:r>
            <a:endParaRPr lang="en-US" sz="1250" dirty="0"/>
          </a:p>
          <a:p>
            <a:pPr marL="342900" indent="-342900">
              <a:spcAft>
                <a:spcPts val="700"/>
              </a:spcAft>
              <a:buSzPct val="100000"/>
              <a:buChar char="•"/>
            </a:pPr>
            <a:r>
              <a:rPr lang="en-US" sz="1250" dirty="0">
                <a:solidFill>
                  <a:srgbClr val="1B1F27"/>
                </a:solidFill>
                <a:latin typeface="Calibri" pitchFamily="34" charset="0"/>
                <a:ea typeface="Calibri" pitchFamily="34" charset="-122"/>
                <a:cs typeface="Calibri" pitchFamily="34" charset="-120"/>
              </a:rPr>
              <a:t>But 55+ is 44% of the national score (young: 22%), so older people still move it most.</a:t>
            </a:r>
            <a:endParaRPr lang="en-US" sz="1250" dirty="0"/>
          </a:p>
        </p:txBody>
      </p:sp>
      <p:sp>
        <p:nvSpPr>
          <p:cNvPr id="6" name="Shape 3"/>
          <p:cNvSpPr/>
          <p:nvPr/>
        </p:nvSpPr>
        <p:spPr>
          <a:xfrm>
            <a:off x="7315200" y="3474720"/>
            <a:ext cx="4297680" cy="2103120"/>
          </a:xfrm>
          <a:prstGeom prst="roundRect">
            <a:avLst>
              <a:gd name="adj" fmla="val 3478"/>
            </a:avLst>
          </a:prstGeom>
          <a:solidFill>
            <a:srgbClr val="EAF2FC"/>
          </a:solidFill>
          <a:ln w="12700">
            <a:solidFill>
              <a:srgbClr val="EAF2FC"/>
            </a:solidFill>
            <a:prstDash val="solid"/>
          </a:ln>
        </p:spPr>
      </p:sp>
      <p:sp>
        <p:nvSpPr>
          <p:cNvPr id="7" name="Text 4"/>
          <p:cNvSpPr txBox="1"/>
          <p:nvPr/>
        </p:nvSpPr>
        <p:spPr>
          <a:xfrm>
            <a:off x="7498080" y="3611880"/>
            <a:ext cx="3931920" cy="1874520"/>
          </a:xfrm>
          <a:prstGeom prst="rect">
            <a:avLst/>
          </a:prstGeom>
          <a:noFill/>
          <a:ln/>
        </p:spPr>
        <p:txBody>
          <a:bodyPr wrap="square" lIns="0" tIns="0" rIns="0" bIns="0" rtlCol="0" anchor="t"/>
          <a:lstStyle/>
          <a:p>
            <a:pPr indent="0" marL="0">
              <a:spcAft>
                <a:spcPts val="500"/>
              </a:spcAft>
              <a:buNone/>
            </a:pPr>
            <a:r>
              <a:rPr lang="en-US" sz="1400" b="1" dirty="0">
                <a:solidFill>
                  <a:srgbClr val="2A78D6"/>
                </a:solidFill>
                <a:latin typeface="Calibri" pitchFamily="34" charset="0"/>
                <a:ea typeface="Calibri" pitchFamily="34" charset="-122"/>
                <a:cs typeface="Calibri" pitchFamily="34" charset="-120"/>
              </a:rPr>
              <a:t>How we got this data</a:t>
            </a:r>
            <a:endParaRPr lang="en-US" sz="1400" dirty="0"/>
          </a:p>
          <a:p>
            <a:pPr indent="0" marL="0">
              <a:buNone/>
            </a:pPr>
            <a:r>
              <a:rPr lang="en-US" sz="1250" dirty="0">
                <a:solidFill>
                  <a:srgbClr val="1B1F27"/>
                </a:solidFill>
                <a:latin typeface="Calibri" pitchFamily="34" charset="0"/>
                <a:ea typeface="Calibri" pitchFamily="34" charset="-122"/>
                <a:cs typeface="Calibri" pitchFamily="34" charset="-120"/>
              </a:rPr>
              <a:t>University of Michigan's monthly consumer survey (~1,000 adults a month) publishes the sentiment score separately for each age group. We averaged 2019 vs Jan 2025–Aug 2026. Each group's share of the national score was found by matching the three age scores to the national score, 2015–2026.</a:t>
            </a:r>
            <a:endParaRPr lang="en-US" sz="1400" dirty="0"/>
          </a:p>
        </p:txBody>
      </p:sp>
      <p:sp>
        <p:nvSpPr>
          <p:cNvPr id="8" name="Shape 5"/>
          <p:cNvSpPr/>
          <p:nvPr/>
        </p:nvSpPr>
        <p:spPr>
          <a:xfrm>
            <a:off x="548640" y="5715000"/>
            <a:ext cx="11064240" cy="548640"/>
          </a:xfrm>
          <a:prstGeom prst="roundRect">
            <a:avLst>
              <a:gd name="adj" fmla="val 13333"/>
            </a:avLst>
          </a:prstGeom>
          <a:solidFill>
            <a:srgbClr val="1B1F27"/>
          </a:solidFill>
          <a:ln w="12700">
            <a:solidFill>
              <a:srgbClr val="1B1F27"/>
            </a:solidFill>
            <a:prstDash val="solid"/>
          </a:ln>
        </p:spPr>
      </p:sp>
      <p:sp>
        <p:nvSpPr>
          <p:cNvPr id="9" name="Text 6"/>
          <p:cNvSpPr txBox="1"/>
          <p:nvPr/>
        </p:nvSpPr>
        <p:spPr>
          <a:xfrm>
            <a:off x="777240" y="5788152"/>
            <a:ext cx="10607040" cy="411480"/>
          </a:xfrm>
          <a:prstGeom prst="rect">
            <a:avLst/>
          </a:prstGeom>
          <a:noFill/>
          <a:ln/>
        </p:spPr>
        <p:txBody>
          <a:bodyPr wrap="square" lIns="0" tIns="0" rIns="0" bIns="0" rtlCol="0" anchor="ctr"/>
          <a:lstStyle/>
          <a:p>
            <a:pPr indent="0" marL="0">
              <a:buNone/>
            </a:pPr>
            <a:r>
              <a:rPr lang="en-US" sz="1500" b="1" dirty="0">
                <a:solidFill>
                  <a:srgbClr val="F2B8B5"/>
                </a:solidFill>
                <a:latin typeface="Calibri" pitchFamily="34" charset="0"/>
                <a:ea typeface="Calibri" pitchFamily="34" charset="-122"/>
                <a:cs typeface="Calibri" pitchFamily="34" charset="-120"/>
              </a:rPr>
              <a:t>What this means:  </a:t>
            </a:r>
            <a:pPr indent="0" marL="0">
              <a:buNone/>
            </a:pPr>
            <a:r>
              <a:rPr lang="en-US" sz="1500" b="1" dirty="0">
                <a:solidFill>
                  <a:srgbClr val="FFFFFF"/>
                </a:solidFill>
                <a:latin typeface="Calibri" pitchFamily="34" charset="0"/>
                <a:ea typeface="Calibri" pitchFamily="34" charset="-122"/>
                <a:cs typeface="Calibri" pitchFamily="34" charset="-120"/>
              </a:rPr>
              <a:t>This isn't one generation's problem — everyone got gloomier; young adults fell furthest.</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It's not one part of the country or one income group</a:t>
            </a:r>
            <a:endParaRPr lang="en-US" sz="3000" dirty="0"/>
          </a:p>
        </p:txBody>
      </p:sp>
      <p:graphicFrame>
        <p:nvGraphicFramePr>
          <p:cNvPr id="3" name="Chart 0" descr=""/>
          <p:cNvGraphicFramePr/>
          <p:nvPr/>
        </p:nvGraphicFramePr>
        <p:xfrm>
          <a:off x="548640" y="1234440"/>
          <a:ext cx="548640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17920" y="1234440"/>
          <a:ext cx="5394960" cy="434340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548640" y="5715000"/>
            <a:ext cx="11064240" cy="548640"/>
          </a:xfrm>
          <a:prstGeom prst="roundRect">
            <a:avLst>
              <a:gd name="adj" fmla="val 13333"/>
            </a:avLst>
          </a:prstGeom>
          <a:solidFill>
            <a:srgbClr val="1B1F27"/>
          </a:solidFill>
          <a:ln w="12700">
            <a:solidFill>
              <a:srgbClr val="1B1F27"/>
            </a:solidFill>
            <a:prstDash val="solid"/>
          </a:ln>
        </p:spPr>
      </p:sp>
      <p:sp>
        <p:nvSpPr>
          <p:cNvPr id="6" name="Text 2"/>
          <p:cNvSpPr txBox="1"/>
          <p:nvPr/>
        </p:nvSpPr>
        <p:spPr>
          <a:xfrm>
            <a:off x="777240" y="5788152"/>
            <a:ext cx="10607040" cy="411480"/>
          </a:xfrm>
          <a:prstGeom prst="rect">
            <a:avLst/>
          </a:prstGeom>
          <a:noFill/>
          <a:ln/>
        </p:spPr>
        <p:txBody>
          <a:bodyPr wrap="square" lIns="0" tIns="0" rIns="0" bIns="0" rtlCol="0" anchor="ctr"/>
          <a:lstStyle/>
          <a:p>
            <a:pPr indent="0" marL="0">
              <a:buNone/>
            </a:pPr>
            <a:r>
              <a:rPr lang="en-US" sz="1500" b="1" dirty="0">
                <a:solidFill>
                  <a:srgbClr val="F2B8B5"/>
                </a:solidFill>
                <a:latin typeface="Calibri" pitchFamily="34" charset="0"/>
                <a:ea typeface="Calibri" pitchFamily="34" charset="-122"/>
                <a:cs typeface="Calibri" pitchFamily="34" charset="-120"/>
              </a:rPr>
              <a:t>What this means:  </a:t>
            </a:r>
            <a:pPr indent="0" marL="0">
              <a:buNone/>
            </a:pPr>
            <a:r>
              <a:rPr lang="en-US" sz="1500" b="1" dirty="0">
                <a:solidFill>
                  <a:srgbClr val="FFFFFF"/>
                </a:solidFill>
                <a:latin typeface="Calibri" pitchFamily="34" charset="0"/>
                <a:ea typeface="Calibri" pitchFamily="34" charset="-122"/>
                <a:cs typeface="Calibri" pitchFamily="34" charset="-120"/>
              </a:rPr>
              <a:t>Every region and every income level lost about 40 points — a nationwide shock, not a local one.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In their own words: people say it's prices and borrowing costs</a:t>
            </a:r>
            <a:endParaRPr lang="en-US" sz="3000" dirty="0"/>
          </a:p>
        </p:txBody>
      </p:sp>
      <p:graphicFrame>
        <p:nvGraphicFramePr>
          <p:cNvPr id="3" name="Chart 0" descr=""/>
          <p:cNvGraphicFramePr/>
          <p:nvPr/>
        </p:nvGraphicFramePr>
        <p:xfrm>
          <a:off x="548640" y="1234440"/>
          <a:ext cx="6949440" cy="43434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772400" y="1325880"/>
            <a:ext cx="3840480" cy="4206240"/>
          </a:xfrm>
          <a:prstGeom prst="roundRect">
            <a:avLst>
              <a:gd name="adj" fmla="val 1905"/>
            </a:avLst>
          </a:prstGeom>
          <a:solidFill>
            <a:srgbClr val="F2F4F7"/>
          </a:solidFill>
          <a:ln w="12700">
            <a:solidFill>
              <a:srgbClr val="F2F4F7"/>
            </a:solidFill>
            <a:prstDash val="solid"/>
          </a:ln>
        </p:spPr>
      </p:sp>
      <p:sp>
        <p:nvSpPr>
          <p:cNvPr id="5" name="Text 2"/>
          <p:cNvSpPr txBox="1"/>
          <p:nvPr/>
        </p:nvSpPr>
        <p:spPr>
          <a:xfrm>
            <a:off x="8001000" y="1508760"/>
            <a:ext cx="3429000" cy="3931920"/>
          </a:xfrm>
          <a:prstGeom prst="rect">
            <a:avLst/>
          </a:prstGeom>
          <a:noFill/>
          <a:ln/>
        </p:spPr>
        <p:txBody>
          <a:bodyPr wrap="square" lIns="0" tIns="0" rIns="0" bIns="0" rtlCol="0" anchor="t"/>
          <a:lstStyle/>
          <a:p>
            <a:pPr indent="0" marL="0">
              <a:spcAft>
                <a:spcPts val="600"/>
              </a:spcAft>
              <a:buNone/>
            </a:pPr>
            <a:r>
              <a:rPr lang="en-US" sz="1600" b="1" dirty="0">
                <a:solidFill>
                  <a:srgbClr val="1B1F27"/>
                </a:solidFill>
                <a:latin typeface="Calibri" pitchFamily="34" charset="0"/>
                <a:ea typeface="Calibri" pitchFamily="34" charset="-122"/>
                <a:cs typeface="Calibri" pitchFamily="34" charset="-120"/>
              </a:rPr>
              <a:t>It's about today, not the future</a:t>
            </a:r>
            <a:endParaRPr lang="en-US" sz="1600" dirty="0"/>
          </a:p>
          <a:p>
            <a:pPr indent="0" marL="0">
              <a:spcAft>
                <a:spcPts val="1200"/>
              </a:spcAft>
              <a:buNone/>
            </a:pPr>
            <a:r>
              <a:rPr lang="en-US" sz="1350" dirty="0">
                <a:solidFill>
                  <a:srgbClr val="1B1F27"/>
                </a:solidFill>
                <a:latin typeface="Calibri" pitchFamily="34" charset="0"/>
                <a:ea typeface="Calibri" pitchFamily="34" charset="-122"/>
                <a:cs typeface="Calibri" pitchFamily="34" charset="-120"/>
              </a:rPr>
              <a:t>The gap in how people rate their situation right now (-43.7 points) is much bigger than in what they expect for the future (-25.8).</a:t>
            </a:r>
            <a:endParaRPr lang="en-US" sz="1600" dirty="0"/>
          </a:p>
          <a:p>
            <a:pPr indent="0" marL="0">
              <a:spcAft>
                <a:spcPts val="600"/>
              </a:spcAft>
              <a:buNone/>
            </a:pPr>
            <a:r>
              <a:rPr lang="en-US" sz="1600" b="1" dirty="0">
                <a:solidFill>
                  <a:srgbClr val="1B1F27"/>
                </a:solidFill>
                <a:latin typeface="Calibri" pitchFamily="34" charset="0"/>
                <a:ea typeface="Calibri" pitchFamily="34" charset="-122"/>
                <a:cs typeface="Calibri" pitchFamily="34" charset="-120"/>
              </a:rPr>
              <a:t>Worse than 2022 — even though inflation was higher then</a:t>
            </a:r>
            <a:endParaRPr lang="en-US" sz="1600" dirty="0"/>
          </a:p>
          <a:p>
            <a:pPr indent="0" marL="0">
              <a:buNone/>
            </a:pPr>
            <a:r>
              <a:rPr lang="en-US" sz="1350" dirty="0">
                <a:solidFill>
                  <a:srgbClr val="1B1F27"/>
                </a:solidFill>
                <a:latin typeface="Calibri" pitchFamily="34" charset="0"/>
                <a:ea typeface="Calibri" pitchFamily="34" charset="-122"/>
                <a:cs typeface="Calibri" pitchFamily="34" charset="-120"/>
              </a:rPr>
              <a:t>45% now blame higher prices vs 40% at the 2022 peak. Expected inflation is 4.6% (2019: 2.6%).</a:t>
            </a:r>
            <a:endParaRPr lang="en-US" sz="1600" dirty="0"/>
          </a:p>
        </p:txBody>
      </p:sp>
      <p:sp>
        <p:nvSpPr>
          <p:cNvPr id="6" name="Shape 3"/>
          <p:cNvSpPr/>
          <p:nvPr/>
        </p:nvSpPr>
        <p:spPr>
          <a:xfrm>
            <a:off x="548640" y="5715000"/>
            <a:ext cx="11064240" cy="548640"/>
          </a:xfrm>
          <a:prstGeom prst="roundRect">
            <a:avLst>
              <a:gd name="adj" fmla="val 13333"/>
            </a:avLst>
          </a:prstGeom>
          <a:solidFill>
            <a:srgbClr val="1B1F27"/>
          </a:solidFill>
          <a:ln w="12700">
            <a:solidFill>
              <a:srgbClr val="1B1F27"/>
            </a:solidFill>
            <a:prstDash val="solid"/>
          </a:ln>
        </p:spPr>
      </p:sp>
      <p:sp>
        <p:nvSpPr>
          <p:cNvPr id="7" name="Text 4"/>
          <p:cNvSpPr txBox="1"/>
          <p:nvPr/>
        </p:nvSpPr>
        <p:spPr>
          <a:xfrm>
            <a:off x="777240" y="5788152"/>
            <a:ext cx="10607040" cy="411480"/>
          </a:xfrm>
          <a:prstGeom prst="rect">
            <a:avLst/>
          </a:prstGeom>
          <a:noFill/>
          <a:ln/>
        </p:spPr>
        <p:txBody>
          <a:bodyPr wrap="square" lIns="0" tIns="0" rIns="0" bIns="0" rtlCol="0" anchor="ctr"/>
          <a:lstStyle/>
          <a:p>
            <a:pPr indent="0" marL="0">
              <a:buNone/>
            </a:pPr>
            <a:r>
              <a:rPr lang="en-US" sz="1500" b="1" dirty="0">
                <a:solidFill>
                  <a:srgbClr val="F2B8B5"/>
                </a:solidFill>
                <a:latin typeface="Calibri" pitchFamily="34" charset="0"/>
                <a:ea typeface="Calibri" pitchFamily="34" charset="-122"/>
                <a:cs typeface="Calibri" pitchFamily="34" charset="-120"/>
              </a:rPr>
              <a:t>What this means:  </a:t>
            </a:r>
            <a:pPr indent="0" marL="0">
              <a:buNone/>
            </a:pPr>
            <a:r>
              <a:rPr lang="en-US" sz="1500" b="1" dirty="0">
                <a:solidFill>
                  <a:srgbClr val="FFFFFF"/>
                </a:solidFill>
                <a:latin typeface="Calibri" pitchFamily="34" charset="0"/>
                <a:ea typeface="Calibri" pitchFamily="34" charset="-122"/>
                <a:cs typeface="Calibri" pitchFamily="34" charset="-120"/>
              </a:rPr>
              <a:t>People tell us directly what hurts: the cost of living today — and it hurts more now than at the 2022 peak.</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Why 'inflation is down' doesn't feel like it</a:t>
            </a:r>
            <a:endParaRPr lang="en-US" sz="3000" dirty="0"/>
          </a:p>
        </p:txBody>
      </p:sp>
      <p:sp>
        <p:nvSpPr>
          <p:cNvPr id="3" name="Shape 1"/>
          <p:cNvSpPr/>
          <p:nvPr/>
        </p:nvSpPr>
        <p:spPr>
          <a:xfrm>
            <a:off x="548640" y="1325880"/>
            <a:ext cx="5120640" cy="4206240"/>
          </a:xfrm>
          <a:prstGeom prst="roundRect">
            <a:avLst>
              <a:gd name="adj" fmla="val 1739"/>
            </a:avLst>
          </a:prstGeom>
          <a:solidFill>
            <a:srgbClr val="EAF2FC"/>
          </a:solidFill>
          <a:ln w="12700">
            <a:solidFill>
              <a:srgbClr val="EAF2FC"/>
            </a:solidFill>
            <a:prstDash val="solid"/>
          </a:ln>
        </p:spPr>
      </p:sp>
      <p:sp>
        <p:nvSpPr>
          <p:cNvPr id="4" name="Text 2"/>
          <p:cNvSpPr txBox="1"/>
          <p:nvPr/>
        </p:nvSpPr>
        <p:spPr>
          <a:xfrm>
            <a:off x="777240" y="1508760"/>
            <a:ext cx="4663440" cy="3931920"/>
          </a:xfrm>
          <a:prstGeom prst="rect">
            <a:avLst/>
          </a:prstGeom>
          <a:noFill/>
          <a:ln/>
        </p:spPr>
        <p:txBody>
          <a:bodyPr wrap="square" lIns="0" tIns="0" rIns="0" bIns="0" rtlCol="0" anchor="t"/>
          <a:lstStyle/>
          <a:p>
            <a:pPr indent="0" marL="0">
              <a:spcAft>
                <a:spcPts val="800"/>
              </a:spcAft>
              <a:buNone/>
            </a:pPr>
            <a:r>
              <a:rPr lang="en-US" sz="1800" b="1" dirty="0">
                <a:solidFill>
                  <a:srgbClr val="2A78D6"/>
                </a:solidFill>
                <a:latin typeface="Calibri" pitchFamily="34" charset="0"/>
                <a:ea typeface="Calibri" pitchFamily="34" charset="-122"/>
                <a:cs typeface="Calibri" pitchFamily="34" charset="-120"/>
              </a:rPr>
              <a:t>The egg example</a:t>
            </a:r>
            <a:endParaRPr lang="en-US" sz="1800" dirty="0"/>
          </a:p>
          <a:p>
            <a:pPr indent="0" marL="0">
              <a:spcAft>
                <a:spcPts val="400"/>
              </a:spcAft>
              <a:buNone/>
            </a:pPr>
            <a:r>
              <a:rPr lang="en-US" sz="1500" dirty="0">
                <a:solidFill>
                  <a:schemeClr val="tx1"/>
                </a:solidFill>
                <a:latin typeface="Calibri" pitchFamily="34" charset="0"/>
                <a:ea typeface="Calibri" pitchFamily="34" charset="-122"/>
                <a:cs typeface="Calibri" pitchFamily="34" charset="-120"/>
              </a:rPr>
              <a:t>2021: eggs cost $2.</a:t>
            </a:r>
            <a:endParaRPr lang="en-US" sz="1800" dirty="0"/>
          </a:p>
          <a:p>
            <a:pPr indent="0" marL="0">
              <a:spcAft>
                <a:spcPts val="400"/>
              </a:spcAft>
              <a:buNone/>
            </a:pPr>
            <a:r>
              <a:rPr lang="en-US" sz="1500" dirty="0">
                <a:solidFill>
                  <a:schemeClr val="tx1"/>
                </a:solidFill>
                <a:latin typeface="Calibri" pitchFamily="34" charset="0"/>
                <a:ea typeface="Calibri" pitchFamily="34" charset="-122"/>
                <a:cs typeface="Calibri" pitchFamily="34" charset="-120"/>
              </a:rPr>
              <a:t>2023: eggs cost $4. Inflation was high.</a:t>
            </a:r>
            <a:endParaRPr lang="en-US" sz="1800" dirty="0"/>
          </a:p>
          <a:p>
            <a:pPr indent="0" marL="0">
              <a:spcAft>
                <a:spcPts val="1200"/>
              </a:spcAft>
              <a:buNone/>
            </a:pPr>
            <a:r>
              <a:rPr lang="en-US" sz="1500" dirty="0">
                <a:solidFill>
                  <a:schemeClr val="tx1"/>
                </a:solidFill>
                <a:latin typeface="Calibri" pitchFamily="34" charset="0"/>
                <a:ea typeface="Calibri" pitchFamily="34" charset="-122"/>
                <a:cs typeface="Calibri" pitchFamily="34" charset="-120"/>
              </a:rPr>
              <a:t>2026: eggs cost $4.12. The government says inflation is 'low' (3%).</a:t>
            </a:r>
            <a:endParaRPr lang="en-US" sz="1800" dirty="0"/>
          </a:p>
          <a:p>
            <a:pPr indent="0" marL="0">
              <a:spcAft>
                <a:spcPts val="1200"/>
              </a:spcAft>
              <a:buNone/>
            </a:pPr>
            <a:r>
              <a:rPr lang="en-US" sz="1500" b="1" dirty="0">
                <a:solidFill>
                  <a:schemeClr val="tx1"/>
                </a:solidFill>
                <a:latin typeface="Calibri" pitchFamily="34" charset="0"/>
                <a:ea typeface="Calibri" pitchFamily="34" charset="-122"/>
                <a:cs typeface="Calibri" pitchFamily="34" charset="-120"/>
              </a:rPr>
              <a:t>Official inflation measures how fast prices are rising now — not whether they came back down. People remember $2.</a:t>
            </a:r>
            <a:endParaRPr lang="en-US" sz="1800" dirty="0"/>
          </a:p>
          <a:p>
            <a:pPr indent="0" marL="0">
              <a:buNone/>
            </a:pPr>
            <a:r>
              <a:rPr lang="en-US" sz="1400" dirty="0">
                <a:solidFill>
                  <a:srgbClr val="3A4150"/>
                </a:solidFill>
                <a:latin typeface="Calibri" pitchFamily="34" charset="0"/>
                <a:ea typeface="Calibri" pitchFamily="34" charset="-122"/>
                <a:cs typeface="Calibri" pitchFamily="34" charset="-120"/>
              </a:rPr>
              <a:t>It also leaves out loan costs: a 7% mortgage instead of 3% doesn't count as 'inflation'.</a:t>
            </a:r>
            <a:endParaRPr lang="en-US" sz="1800" dirty="0"/>
          </a:p>
        </p:txBody>
      </p:sp>
      <p:graphicFrame>
        <p:nvGraphicFramePr>
          <p:cNvPr id="5" name="Chart 0" descr=""/>
          <p:cNvGraphicFramePr/>
          <p:nvPr/>
        </p:nvGraphicFramePr>
        <p:xfrm>
          <a:off x="5943600" y="1234440"/>
          <a:ext cx="5669280" cy="4343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48640" y="5715000"/>
            <a:ext cx="11064240" cy="548640"/>
          </a:xfrm>
          <a:prstGeom prst="roundRect">
            <a:avLst>
              <a:gd name="adj" fmla="val 13333"/>
            </a:avLst>
          </a:prstGeom>
          <a:solidFill>
            <a:srgbClr val="1B1F27"/>
          </a:solidFill>
          <a:ln w="12700">
            <a:solidFill>
              <a:srgbClr val="1B1F27"/>
            </a:solidFill>
            <a:prstDash val="solid"/>
          </a:ln>
        </p:spPr>
      </p:sp>
      <p:sp>
        <p:nvSpPr>
          <p:cNvPr id="7" name="Text 4"/>
          <p:cNvSpPr txBox="1"/>
          <p:nvPr/>
        </p:nvSpPr>
        <p:spPr>
          <a:xfrm>
            <a:off x="777240" y="5788152"/>
            <a:ext cx="10607040" cy="411480"/>
          </a:xfrm>
          <a:prstGeom prst="rect">
            <a:avLst/>
          </a:prstGeom>
          <a:noFill/>
          <a:ln/>
        </p:spPr>
        <p:txBody>
          <a:bodyPr wrap="square" lIns="0" tIns="0" rIns="0" bIns="0" rtlCol="0" anchor="ctr"/>
          <a:lstStyle/>
          <a:p>
            <a:pPr indent="0" marL="0">
              <a:buNone/>
            </a:pPr>
            <a:r>
              <a:rPr lang="en-US" sz="1500" b="1" dirty="0">
                <a:solidFill>
                  <a:srgbClr val="F2B8B5"/>
                </a:solidFill>
                <a:latin typeface="Calibri" pitchFamily="34" charset="0"/>
                <a:ea typeface="Calibri" pitchFamily="34" charset="-122"/>
                <a:cs typeface="Calibri" pitchFamily="34" charset="-120"/>
              </a:rPr>
              <a:t>What this means:  </a:t>
            </a:r>
            <a:pPr indent="0" marL="0">
              <a:buNone/>
            </a:pPr>
            <a:r>
              <a:rPr lang="en-US" sz="1500" b="1" dirty="0">
                <a:solidFill>
                  <a:srgbClr val="FFFFFF"/>
                </a:solidFill>
                <a:latin typeface="Calibri" pitchFamily="34" charset="0"/>
                <a:ea typeface="Calibri" pitchFamily="34" charset="-122"/>
                <a:cs typeface="Calibri" pitchFamily="34" charset="-120"/>
              </a:rPr>
              <a:t>Prices up 28%, paychecks up 26% — people aren't imagining it.</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What's causing the 41-point drop, ranked</a:t>
            </a:r>
            <a:endParaRPr lang="en-US" sz="3000" dirty="0"/>
          </a:p>
        </p:txBody>
      </p:sp>
      <p:graphicFrame>
        <p:nvGraphicFramePr>
          <p:cNvPr id="3" name="Chart 0" descr=""/>
          <p:cNvGraphicFramePr/>
          <p:nvPr/>
        </p:nvGraphicFramePr>
        <p:xfrm>
          <a:off x="548640" y="1234440"/>
          <a:ext cx="7223760" cy="43434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046720" y="1325880"/>
            <a:ext cx="3566160" cy="4206240"/>
          </a:xfrm>
          <a:prstGeom prst="roundRect">
            <a:avLst>
              <a:gd name="adj" fmla="val 2051"/>
            </a:avLst>
          </a:prstGeom>
          <a:solidFill>
            <a:srgbClr val="F2F4F7"/>
          </a:solidFill>
          <a:ln w="12700">
            <a:solidFill>
              <a:srgbClr val="F2F4F7"/>
            </a:solidFill>
            <a:prstDash val="solid"/>
          </a:ln>
        </p:spPr>
      </p:sp>
      <p:sp>
        <p:nvSpPr>
          <p:cNvPr id="5" name="Text 2"/>
          <p:cNvSpPr txBox="1"/>
          <p:nvPr/>
        </p:nvSpPr>
        <p:spPr>
          <a:xfrm>
            <a:off x="8275320" y="1463040"/>
            <a:ext cx="3154680" cy="40233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B1F27"/>
                </a:solidFill>
                <a:latin typeface="Calibri" pitchFamily="34" charset="0"/>
                <a:ea typeface="Calibri" pitchFamily="34" charset="-122"/>
                <a:cs typeface="Calibri" pitchFamily="34" charset="-120"/>
              </a:rPr>
              <a:t>Prices &amp; cost of living: the #1 cause (28% of the drop) — prices ~11% above normal, food, gas.</a:t>
            </a:r>
            <a:endParaRPr lang="en-US" sz="1300" dirty="0"/>
          </a:p>
          <a:p>
            <a:pPr marL="342900" indent="-342900">
              <a:spcAft>
                <a:spcPts val="700"/>
              </a:spcAft>
              <a:buSzPct val="100000"/>
              <a:buChar char="•"/>
            </a:pPr>
            <a:r>
              <a:rPr lang="en-US" sz="1300" dirty="0">
                <a:solidFill>
                  <a:srgbClr val="1B1F27"/>
                </a:solidFill>
                <a:latin typeface="Calibri" pitchFamily="34" charset="0"/>
                <a:ea typeface="Calibri" pitchFamily="34" charset="-122"/>
                <a:cs typeface="Calibri" pitchFamily="34" charset="-120"/>
              </a:rPr>
              <a:t>The survey moving online: 16%.</a:t>
            </a:r>
            <a:endParaRPr lang="en-US" sz="1300" dirty="0"/>
          </a:p>
          <a:p>
            <a:pPr marL="342900" indent="-342900">
              <a:spcAft>
                <a:spcPts val="700"/>
              </a:spcAft>
              <a:buSzPct val="100000"/>
              <a:buChar char="•"/>
            </a:pPr>
            <a:r>
              <a:rPr lang="en-US" sz="1300" dirty="0">
                <a:solidFill>
                  <a:srgbClr val="1B1F27"/>
                </a:solidFill>
                <a:latin typeface="Calibri" pitchFamily="34" charset="0"/>
                <a:ea typeface="Calibri" pitchFamily="34" charset="-122"/>
                <a:cs typeface="Calibri" pitchFamily="34" charset="-120"/>
              </a:rPr>
              <a:t>Tariff and shutdown uncertainty: 15%.</a:t>
            </a:r>
            <a:endParaRPr lang="en-US" sz="1300" dirty="0"/>
          </a:p>
          <a:p>
            <a:pPr marL="342900" indent="-342900">
              <a:spcAft>
                <a:spcPts val="700"/>
              </a:spcAft>
              <a:buSzPct val="100000"/>
              <a:buChar char="•"/>
            </a:pPr>
            <a:r>
              <a:rPr lang="en-US" sz="1300" dirty="0">
                <a:solidFill>
                  <a:srgbClr val="1B1F27"/>
                </a:solidFill>
                <a:latin typeface="Calibri" pitchFamily="34" charset="0"/>
                <a:ea typeface="Calibri" pitchFamily="34" charset="-122"/>
                <a:cs typeface="Calibri" pitchFamily="34" charset="-120"/>
              </a:rPr>
              <a:t>The official 'headline' numbers (jobs, growth) explain very little.</a:t>
            </a:r>
            <a:endParaRPr lang="en-US" sz="1300" dirty="0"/>
          </a:p>
          <a:p>
            <a:pPr marL="342900" indent="-342900">
              <a:spcAft>
                <a:spcPts val="700"/>
              </a:spcAft>
              <a:buSzPct val="100000"/>
              <a:buChar char="•"/>
            </a:pPr>
            <a:r>
              <a:rPr lang="en-US" sz="1300" dirty="0">
                <a:solidFill>
                  <a:srgbClr val="1B1F27"/>
                </a:solidFill>
                <a:latin typeface="Calibri" pitchFamily="34" charset="0"/>
                <a:ea typeface="Calibri" pitchFamily="34" charset="-122"/>
                <a:cs typeface="Calibri" pitchFamily="34" charset="-120"/>
              </a:rPr>
              <a:t>About 12 points remain unexplained — we say so honestly.</a:t>
            </a:r>
            <a:endParaRPr lang="en-US" sz="1300" dirty="0"/>
          </a:p>
        </p:txBody>
      </p:sp>
      <p:sp>
        <p:nvSpPr>
          <p:cNvPr id="6" name="Shape 3"/>
          <p:cNvSpPr/>
          <p:nvPr/>
        </p:nvSpPr>
        <p:spPr>
          <a:xfrm>
            <a:off x="548640" y="5715000"/>
            <a:ext cx="11064240" cy="548640"/>
          </a:xfrm>
          <a:prstGeom prst="roundRect">
            <a:avLst>
              <a:gd name="adj" fmla="val 13333"/>
            </a:avLst>
          </a:prstGeom>
          <a:solidFill>
            <a:srgbClr val="1B1F27"/>
          </a:solidFill>
          <a:ln w="12700">
            <a:solidFill>
              <a:srgbClr val="1B1F27"/>
            </a:solidFill>
            <a:prstDash val="solid"/>
          </a:ln>
        </p:spPr>
      </p:sp>
      <p:sp>
        <p:nvSpPr>
          <p:cNvPr id="7" name="Text 4"/>
          <p:cNvSpPr txBox="1"/>
          <p:nvPr/>
        </p:nvSpPr>
        <p:spPr>
          <a:xfrm>
            <a:off x="777240" y="5788152"/>
            <a:ext cx="10607040" cy="411480"/>
          </a:xfrm>
          <a:prstGeom prst="rect">
            <a:avLst/>
          </a:prstGeom>
          <a:noFill/>
          <a:ln/>
        </p:spPr>
        <p:txBody>
          <a:bodyPr wrap="square" lIns="0" tIns="0" rIns="0" bIns="0" rtlCol="0" anchor="ctr"/>
          <a:lstStyle/>
          <a:p>
            <a:pPr indent="0" marL="0">
              <a:buNone/>
            </a:pPr>
            <a:r>
              <a:rPr lang="en-US" sz="1500" b="1" dirty="0">
                <a:solidFill>
                  <a:srgbClr val="F2B8B5"/>
                </a:solidFill>
                <a:latin typeface="Calibri" pitchFamily="34" charset="0"/>
                <a:ea typeface="Calibri" pitchFamily="34" charset="-122"/>
                <a:cs typeface="Calibri" pitchFamily="34" charset="-120"/>
              </a:rPr>
              <a:t>What this means:  </a:t>
            </a:r>
            <a:pPr indent="0" marL="0">
              <a:buNone/>
            </a:pPr>
            <a:r>
              <a:rPr lang="en-US" sz="1500" b="1" dirty="0">
                <a:solidFill>
                  <a:srgbClr val="FFFFFF"/>
                </a:solidFill>
                <a:latin typeface="Calibri" pitchFamily="34" charset="0"/>
                <a:ea typeface="Calibri" pitchFamily="34" charset="-122"/>
                <a:cs typeface="Calibri" pitchFamily="34" charset="-120"/>
              </a:rPr>
              <a:t>High prices, the survey change and policy uncertainty: 24 of the 29 points we can explain.</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Why young adults fell furthest: it was their first big inflation</a:t>
            </a:r>
            <a:endParaRPr lang="en-US" sz="3000" dirty="0"/>
          </a:p>
        </p:txBody>
      </p:sp>
      <p:graphicFrame>
        <p:nvGraphicFramePr>
          <p:cNvPr id="3" name="Chart 0" descr=""/>
          <p:cNvGraphicFramePr/>
          <p:nvPr/>
        </p:nvGraphicFramePr>
        <p:xfrm>
          <a:off x="548640" y="1234440"/>
          <a:ext cx="4937760" cy="43434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852160" y="1325880"/>
            <a:ext cx="5760720" cy="4206240"/>
          </a:xfrm>
          <a:prstGeom prst="roundRect">
            <a:avLst>
              <a:gd name="adj" fmla="val 1739"/>
            </a:avLst>
          </a:prstGeom>
          <a:solidFill>
            <a:srgbClr val="F2F4F7"/>
          </a:solidFill>
          <a:ln w="12700">
            <a:solidFill>
              <a:srgbClr val="F2F4F7"/>
            </a:solidFill>
            <a:prstDash val="solid"/>
          </a:ln>
        </p:spPr>
      </p:sp>
      <p:sp>
        <p:nvSpPr>
          <p:cNvPr id="5" name="Text 2"/>
          <p:cNvSpPr txBox="1"/>
          <p:nvPr/>
        </p:nvSpPr>
        <p:spPr>
          <a:xfrm>
            <a:off x="6080760" y="1508760"/>
            <a:ext cx="5349240" cy="3931920"/>
          </a:xfrm>
          <a:prstGeom prst="rect">
            <a:avLst/>
          </a:prstGeom>
          <a:noFill/>
          <a:ln/>
        </p:spPr>
        <p:txBody>
          <a:bodyPr wrap="square" lIns="0" tIns="0" rIns="0" bIns="0" rtlCol="0" anchor="t"/>
          <a:lstStyle/>
          <a:p>
            <a:pPr indent="0" marL="0">
              <a:spcAft>
                <a:spcPts val="600"/>
              </a:spcAft>
              <a:buNone/>
            </a:pPr>
            <a:r>
              <a:rPr lang="en-US" sz="1700" b="1" dirty="0">
                <a:solidFill>
                  <a:srgbClr val="1B1F27"/>
                </a:solidFill>
                <a:latin typeface="Calibri" pitchFamily="34" charset="0"/>
                <a:ea typeface="Calibri" pitchFamily="34" charset="-122"/>
                <a:cs typeface="Calibri" pitchFamily="34" charset="-120"/>
              </a:rPr>
              <a:t>The idea</a:t>
            </a:r>
            <a:endParaRPr lang="en-US" sz="1700" dirty="0"/>
          </a:p>
          <a:p>
            <a:pPr indent="0" marL="0">
              <a:spcAft>
                <a:spcPts val="1200"/>
              </a:spcAft>
              <a:buNone/>
            </a:pPr>
            <a:r>
              <a:rPr lang="en-US" sz="1400" dirty="0">
                <a:solidFill>
                  <a:srgbClr val="1B1F27"/>
                </a:solidFill>
                <a:latin typeface="Calibri" pitchFamily="34" charset="0"/>
                <a:ea typeface="Calibri" pitchFamily="34" charset="-122"/>
                <a:cs typeface="Calibri" pitchFamily="34" charset="-120"/>
              </a:rPr>
              <a:t>People learn about inflation from what they have lived through. For a 26-year-old, two years of high inflation is a big share of their whole life. For a 66-year-old who lived through the 1970s, it's a small blip.</a:t>
            </a:r>
            <a:endParaRPr lang="en-US" sz="1700" dirty="0"/>
          </a:p>
          <a:p>
            <a:pPr indent="0" marL="0">
              <a:spcAft>
                <a:spcPts val="600"/>
              </a:spcAft>
              <a:buNone/>
            </a:pPr>
            <a:r>
              <a:rPr lang="en-US" sz="1700" b="1" dirty="0">
                <a:solidFill>
                  <a:srgbClr val="1B1F27"/>
                </a:solidFill>
                <a:latin typeface="Calibri" pitchFamily="34" charset="0"/>
                <a:ea typeface="Calibri" pitchFamily="34" charset="-122"/>
                <a:cs typeface="Calibri" pitchFamily="34" charset="-120"/>
              </a:rPr>
              <a:t>What we found</a:t>
            </a:r>
            <a:endParaRPr lang="en-US" sz="1700" dirty="0"/>
          </a:p>
          <a:p>
            <a:pPr indent="0" marL="0">
              <a:spcAft>
                <a:spcPts val="600"/>
              </a:spcAft>
              <a:buNone/>
            </a:pPr>
            <a:r>
              <a:rPr lang="en-US" sz="1400" dirty="0">
                <a:solidFill>
                  <a:srgbClr val="1B1F27"/>
                </a:solidFill>
                <a:latin typeface="Calibri" pitchFamily="34" charset="0"/>
                <a:ea typeface="Calibri" pitchFamily="34" charset="-122"/>
                <a:cs typeface="Calibri" pitchFamily="34" charset="-120"/>
              </a:rPr>
              <a:t>The 2021–23 shock raised young adults' inflation memory about 10× more than older adults'.</a:t>
            </a:r>
            <a:endParaRPr lang="en-US" sz="1700" dirty="0"/>
          </a:p>
          <a:p>
            <a:pPr indent="0" marL="0">
              <a:buNone/>
            </a:pPr>
            <a:r>
              <a:rPr lang="en-US" sz="1400" b="1" dirty="0">
                <a:solidFill>
                  <a:srgbClr val="1B1F27"/>
                </a:solidFill>
                <a:latin typeface="Calibri" pitchFamily="34" charset="0"/>
                <a:ea typeface="Calibri" pitchFamily="34" charset="-122"/>
                <a:cs typeface="Calibri" pitchFamily="34" charset="-120"/>
              </a:rPr>
              <a:t>Young adults fell 10.4 points more than 55+. This effect explains about 8.2 of those 10.4 points.</a:t>
            </a:r>
            <a:endParaRPr lang="en-US" sz="1700" dirty="0"/>
          </a:p>
        </p:txBody>
      </p:sp>
      <p:sp>
        <p:nvSpPr>
          <p:cNvPr id="6" name="Shape 3"/>
          <p:cNvSpPr/>
          <p:nvPr/>
        </p:nvSpPr>
        <p:spPr>
          <a:xfrm>
            <a:off x="548640" y="5715000"/>
            <a:ext cx="11064240" cy="548640"/>
          </a:xfrm>
          <a:prstGeom prst="roundRect">
            <a:avLst>
              <a:gd name="adj" fmla="val 13333"/>
            </a:avLst>
          </a:prstGeom>
          <a:solidFill>
            <a:srgbClr val="1B1F27"/>
          </a:solidFill>
          <a:ln w="12700">
            <a:solidFill>
              <a:srgbClr val="1B1F27"/>
            </a:solidFill>
            <a:prstDash val="solid"/>
          </a:ln>
        </p:spPr>
      </p:sp>
      <p:sp>
        <p:nvSpPr>
          <p:cNvPr id="7" name="Text 4"/>
          <p:cNvSpPr txBox="1"/>
          <p:nvPr/>
        </p:nvSpPr>
        <p:spPr>
          <a:xfrm>
            <a:off x="777240" y="5788152"/>
            <a:ext cx="10607040" cy="411480"/>
          </a:xfrm>
          <a:prstGeom prst="rect">
            <a:avLst/>
          </a:prstGeom>
          <a:noFill/>
          <a:ln/>
        </p:spPr>
        <p:txBody>
          <a:bodyPr wrap="square" lIns="0" tIns="0" rIns="0" bIns="0" rtlCol="0" anchor="ctr"/>
          <a:lstStyle/>
          <a:p>
            <a:pPr indent="0" marL="0">
              <a:buNone/>
            </a:pPr>
            <a:r>
              <a:rPr lang="en-US" sz="1500" b="1" dirty="0">
                <a:solidFill>
                  <a:srgbClr val="F2B8B5"/>
                </a:solidFill>
                <a:latin typeface="Calibri" pitchFamily="34" charset="0"/>
                <a:ea typeface="Calibri" pitchFamily="34" charset="-122"/>
                <a:cs typeface="Calibri" pitchFamily="34" charset="-120"/>
              </a:rPr>
              <a:t>What this means:  </a:t>
            </a:r>
            <a:pPr indent="0" marL="0">
              <a:buNone/>
            </a:pPr>
            <a:r>
              <a:rPr lang="en-US" sz="1500" b="1" dirty="0">
                <a:solidFill>
                  <a:srgbClr val="FFFFFF"/>
                </a:solidFill>
                <a:latin typeface="Calibri" pitchFamily="34" charset="0"/>
                <a:ea typeface="Calibri" pitchFamily="34" charset="-122"/>
                <a:cs typeface="Calibri" pitchFamily="34" charset="-120"/>
              </a:rPr>
              <a:t>Young people aren't irrational — they're learning from the only big inflation they've ever seen.</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Party matters — but independents are gloomy too</a:t>
            </a:r>
            <a:endParaRPr lang="en-US" sz="3000" dirty="0"/>
          </a:p>
        </p:txBody>
      </p:sp>
      <p:graphicFrame>
        <p:nvGraphicFramePr>
          <p:cNvPr id="3" name="Chart 0" descr=""/>
          <p:cNvGraphicFramePr/>
          <p:nvPr/>
        </p:nvGraphicFramePr>
        <p:xfrm>
          <a:off x="548640" y="1234440"/>
          <a:ext cx="6583680" cy="43434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498080" y="1325880"/>
            <a:ext cx="4114800" cy="4206240"/>
          </a:xfrm>
          <a:prstGeom prst="roundRect">
            <a:avLst>
              <a:gd name="adj" fmla="val 1778"/>
            </a:avLst>
          </a:prstGeom>
          <a:solidFill>
            <a:srgbClr val="F2F4F7"/>
          </a:solidFill>
          <a:ln w="12700">
            <a:solidFill>
              <a:srgbClr val="F2F4F7"/>
            </a:solidFill>
            <a:prstDash val="solid"/>
          </a:ln>
        </p:spPr>
      </p:sp>
      <p:sp>
        <p:nvSpPr>
          <p:cNvPr id="5" name="Text 2"/>
          <p:cNvSpPr txBox="1"/>
          <p:nvPr/>
        </p:nvSpPr>
        <p:spPr>
          <a:xfrm>
            <a:off x="7726680" y="1508760"/>
            <a:ext cx="3703320" cy="39319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1B1F27"/>
                </a:solidFill>
                <a:latin typeface="Calibri" pitchFamily="34" charset="0"/>
                <a:ea typeface="Calibri" pitchFamily="34" charset="-122"/>
                <a:cs typeface="Calibri" pitchFamily="34" charset="-120"/>
              </a:rPr>
              <a:t>People whose party holds the White House feel much better. This flips every election — Michigan has seen it since the 1980s.</a:t>
            </a:r>
            <a:endParaRPr lang="en-US" sz="1350" dirty="0"/>
          </a:p>
          <a:p>
            <a:pPr marL="342900" indent="-342900">
              <a:spcAft>
                <a:spcPts val="700"/>
              </a:spcAft>
              <a:buSzPct val="100000"/>
              <a:buChar char="•"/>
            </a:pPr>
            <a:r>
              <a:rPr lang="en-US" sz="1350" dirty="0">
                <a:solidFill>
                  <a:srgbClr val="1B1F27"/>
                </a:solidFill>
                <a:latin typeface="Calibri" pitchFamily="34" charset="0"/>
                <a:ea typeface="Calibri" pitchFamily="34" charset="-122"/>
                <a:cs typeface="Calibri" pitchFamily="34" charset="-120"/>
              </a:rPr>
              <a:t>Independents — the middle — are the best guide to the national mood. They are at 41: very gloomy too.</a:t>
            </a:r>
            <a:endParaRPr lang="en-US" sz="1350" dirty="0"/>
          </a:p>
          <a:p>
            <a:pPr marL="342900" indent="-342900">
              <a:spcAft>
                <a:spcPts val="700"/>
              </a:spcAft>
              <a:buSzPct val="100000"/>
              <a:buChar char="•"/>
            </a:pPr>
            <a:r>
              <a:rPr lang="en-US" sz="1350" dirty="0">
                <a:solidFill>
                  <a:srgbClr val="1B1F27"/>
                </a:solidFill>
                <a:latin typeface="Calibri" pitchFamily="34" charset="0"/>
                <a:ea typeface="Calibri" pitchFamily="34" charset="-122"/>
                <a:cs typeface="Calibri" pitchFamily="34" charset="-120"/>
              </a:rPr>
              <a:t>Since 2025, fewer people call themselves Republican in the survey. That alone lowers the national score by about 2 points.</a:t>
            </a:r>
            <a:endParaRPr lang="en-US" sz="1350" dirty="0"/>
          </a:p>
        </p:txBody>
      </p:sp>
      <p:sp>
        <p:nvSpPr>
          <p:cNvPr id="6" name="Shape 3"/>
          <p:cNvSpPr/>
          <p:nvPr/>
        </p:nvSpPr>
        <p:spPr>
          <a:xfrm>
            <a:off x="548640" y="5715000"/>
            <a:ext cx="11064240" cy="548640"/>
          </a:xfrm>
          <a:prstGeom prst="roundRect">
            <a:avLst>
              <a:gd name="adj" fmla="val 13333"/>
            </a:avLst>
          </a:prstGeom>
          <a:solidFill>
            <a:srgbClr val="1B1F27"/>
          </a:solidFill>
          <a:ln w="12700">
            <a:solidFill>
              <a:srgbClr val="1B1F27"/>
            </a:solidFill>
            <a:prstDash val="solid"/>
          </a:ln>
        </p:spPr>
      </p:sp>
      <p:sp>
        <p:nvSpPr>
          <p:cNvPr id="7" name="Text 4"/>
          <p:cNvSpPr txBox="1"/>
          <p:nvPr/>
        </p:nvSpPr>
        <p:spPr>
          <a:xfrm>
            <a:off x="777240" y="5788152"/>
            <a:ext cx="10607040" cy="411480"/>
          </a:xfrm>
          <a:prstGeom prst="rect">
            <a:avLst/>
          </a:prstGeom>
          <a:noFill/>
          <a:ln/>
        </p:spPr>
        <p:txBody>
          <a:bodyPr wrap="square" lIns="0" tIns="0" rIns="0" bIns="0" rtlCol="0" anchor="ctr"/>
          <a:lstStyle/>
          <a:p>
            <a:pPr indent="0" marL="0">
              <a:buNone/>
            </a:pPr>
            <a:r>
              <a:rPr lang="en-US" sz="1500" b="1" dirty="0">
                <a:solidFill>
                  <a:srgbClr val="F2B8B5"/>
                </a:solidFill>
                <a:latin typeface="Calibri" pitchFamily="34" charset="0"/>
                <a:ea typeface="Calibri" pitchFamily="34" charset="-122"/>
                <a:cs typeface="Calibri" pitchFamily="34" charset="-120"/>
              </a:rPr>
              <a:t>What this means:  </a:t>
            </a:r>
            <a:pPr indent="0" marL="0">
              <a:buNone/>
            </a:pPr>
            <a:r>
              <a:rPr lang="en-US" sz="1500" b="1" dirty="0">
                <a:solidFill>
                  <a:srgbClr val="FFFFFF"/>
                </a:solidFill>
                <a:latin typeface="Calibri" pitchFamily="34" charset="0"/>
                <a:ea typeface="Calibri" pitchFamily="34" charset="-122"/>
                <a:cs typeface="Calibri" pitchFamily="34" charset="-120"/>
              </a:rPr>
              <a:t>Party colors how people judge the economy, but the gloom is real across the political middle.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Is the media to blame? How we checked</a:t>
            </a:r>
            <a:endParaRPr lang="en-US" sz="3000" dirty="0"/>
          </a:p>
        </p:txBody>
      </p:sp>
      <p:sp>
        <p:nvSpPr>
          <p:cNvPr id="3" name="Shape 1"/>
          <p:cNvSpPr/>
          <p:nvPr/>
        </p:nvSpPr>
        <p:spPr>
          <a:xfrm>
            <a:off x="548640" y="1280160"/>
            <a:ext cx="2606040" cy="2423160"/>
          </a:xfrm>
          <a:prstGeom prst="roundRect">
            <a:avLst>
              <a:gd name="adj" fmla="val 3019"/>
            </a:avLst>
          </a:prstGeom>
          <a:solidFill>
            <a:srgbClr val="F2F4F7"/>
          </a:solidFill>
          <a:ln w="12700">
            <a:solidFill>
              <a:srgbClr val="F2F4F7"/>
            </a:solidFill>
            <a:prstDash val="solid"/>
          </a:ln>
        </p:spPr>
      </p:sp>
      <p:sp>
        <p:nvSpPr>
          <p:cNvPr id="4" name="Text 2"/>
          <p:cNvSpPr txBox="1"/>
          <p:nvPr/>
        </p:nvSpPr>
        <p:spPr>
          <a:xfrm>
            <a:off x="731520" y="1417320"/>
            <a:ext cx="2240280" cy="411480"/>
          </a:xfrm>
          <a:prstGeom prst="rect">
            <a:avLst/>
          </a:prstGeom>
          <a:noFill/>
          <a:ln/>
        </p:spPr>
        <p:txBody>
          <a:bodyPr wrap="square" lIns="0" tIns="0" rIns="0" bIns="0"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1  Collected</a:t>
            </a:r>
            <a:endParaRPr lang="en-US" sz="1700" dirty="0"/>
          </a:p>
        </p:txBody>
      </p:sp>
      <p:sp>
        <p:nvSpPr>
          <p:cNvPr id="5" name="Text 3"/>
          <p:cNvSpPr txBox="1"/>
          <p:nvPr/>
        </p:nvSpPr>
        <p:spPr>
          <a:xfrm>
            <a:off x="731520" y="1874520"/>
            <a:ext cx="2240280" cy="1737360"/>
          </a:xfrm>
          <a:prstGeom prst="rect">
            <a:avLst/>
          </a:prstGeom>
          <a:noFill/>
          <a:ln/>
        </p:spPr>
        <p:txBody>
          <a:bodyPr wrap="square" lIns="0" tIns="0" rIns="0" bIns="0" rtlCol="0" anchor="t"/>
          <a:lstStyle/>
          <a:p>
            <a:pPr indent="0" marL="0">
              <a:buNone/>
            </a:pPr>
            <a:r>
              <a:rPr lang="en-US" sz="1300" dirty="0">
                <a:solidFill>
                  <a:srgbClr val="3A4150"/>
                </a:solidFill>
                <a:latin typeface="Calibri" pitchFamily="34" charset="0"/>
                <a:ea typeface="Calibri" pitchFamily="34" charset="-122"/>
                <a:cs typeface="Calibri" pitchFamily="34" charset="-120"/>
              </a:rPr>
              <a:t>247k news headlines and social posts, 2010–2026, from 9,515+ outlets</a:t>
            </a:r>
            <a:endParaRPr lang="en-US" sz="1300" dirty="0"/>
          </a:p>
        </p:txBody>
      </p:sp>
      <p:sp>
        <p:nvSpPr>
          <p:cNvPr id="6" name="Shape 4"/>
          <p:cNvSpPr/>
          <p:nvPr/>
        </p:nvSpPr>
        <p:spPr>
          <a:xfrm>
            <a:off x="3383280" y="1280160"/>
            <a:ext cx="2606040" cy="2423160"/>
          </a:xfrm>
          <a:prstGeom prst="roundRect">
            <a:avLst>
              <a:gd name="adj" fmla="val 3019"/>
            </a:avLst>
          </a:prstGeom>
          <a:solidFill>
            <a:srgbClr val="F2F4F7"/>
          </a:solidFill>
          <a:ln w="12700">
            <a:solidFill>
              <a:srgbClr val="F2F4F7"/>
            </a:solidFill>
            <a:prstDash val="solid"/>
          </a:ln>
        </p:spPr>
      </p:sp>
      <p:sp>
        <p:nvSpPr>
          <p:cNvPr id="7" name="Text 5"/>
          <p:cNvSpPr txBox="1"/>
          <p:nvPr/>
        </p:nvSpPr>
        <p:spPr>
          <a:xfrm>
            <a:off x="3566160" y="1417320"/>
            <a:ext cx="2240280" cy="411480"/>
          </a:xfrm>
          <a:prstGeom prst="rect">
            <a:avLst/>
          </a:prstGeom>
          <a:noFill/>
          <a:ln/>
        </p:spPr>
        <p:txBody>
          <a:bodyPr wrap="square" lIns="0" tIns="0" rIns="0" bIns="0"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2  Rulebook</a:t>
            </a:r>
            <a:endParaRPr lang="en-US" sz="1700" dirty="0"/>
          </a:p>
        </p:txBody>
      </p:sp>
      <p:sp>
        <p:nvSpPr>
          <p:cNvPr id="8" name="Text 6"/>
          <p:cNvSpPr txBox="1"/>
          <p:nvPr/>
        </p:nvSpPr>
        <p:spPr>
          <a:xfrm>
            <a:off x="3566160" y="1874520"/>
            <a:ext cx="2240280" cy="1737360"/>
          </a:xfrm>
          <a:prstGeom prst="rect">
            <a:avLst/>
          </a:prstGeom>
          <a:noFill/>
          <a:ln/>
        </p:spPr>
        <p:txBody>
          <a:bodyPr wrap="square" lIns="0" tIns="0" rIns="0" bIns="0" rtlCol="0" anchor="t"/>
          <a:lstStyle/>
          <a:p>
            <a:pPr indent="0" marL="0">
              <a:buNone/>
            </a:pPr>
            <a:r>
              <a:rPr lang="en-US" sz="1300" dirty="0">
                <a:solidFill>
                  <a:srgbClr val="3A4150"/>
                </a:solidFill>
                <a:latin typeface="Calibri" pitchFamily="34" charset="0"/>
                <a:ea typeface="Calibri" pitchFamily="34" charset="-122"/>
                <a:cs typeface="Calibri" pitchFamily="34" charset="-120"/>
              </a:rPr>
              <a:t>Wrote clear rules first: is this good or bad news for households? Is it slanted?</a:t>
            </a:r>
            <a:endParaRPr lang="en-US" sz="1300" dirty="0"/>
          </a:p>
        </p:txBody>
      </p:sp>
      <p:sp>
        <p:nvSpPr>
          <p:cNvPr id="9" name="Shape 7"/>
          <p:cNvSpPr/>
          <p:nvPr/>
        </p:nvSpPr>
        <p:spPr>
          <a:xfrm>
            <a:off x="6217920" y="1280160"/>
            <a:ext cx="2606040" cy="2423160"/>
          </a:xfrm>
          <a:prstGeom prst="roundRect">
            <a:avLst>
              <a:gd name="adj" fmla="val 3019"/>
            </a:avLst>
          </a:prstGeom>
          <a:solidFill>
            <a:srgbClr val="F2F4F7"/>
          </a:solidFill>
          <a:ln w="12700">
            <a:solidFill>
              <a:srgbClr val="F2F4F7"/>
            </a:solidFill>
            <a:prstDash val="solid"/>
          </a:ln>
        </p:spPr>
      </p:sp>
      <p:sp>
        <p:nvSpPr>
          <p:cNvPr id="10" name="Text 8"/>
          <p:cNvSpPr txBox="1"/>
          <p:nvPr/>
        </p:nvSpPr>
        <p:spPr>
          <a:xfrm>
            <a:off x="6400800" y="1417320"/>
            <a:ext cx="2240280" cy="411480"/>
          </a:xfrm>
          <a:prstGeom prst="rect">
            <a:avLst/>
          </a:prstGeom>
          <a:noFill/>
          <a:ln/>
        </p:spPr>
        <p:txBody>
          <a:bodyPr wrap="square" lIns="0" tIns="0" rIns="0" bIns="0"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3  AI reader</a:t>
            </a:r>
            <a:endParaRPr lang="en-US" sz="1700" dirty="0"/>
          </a:p>
        </p:txBody>
      </p:sp>
      <p:sp>
        <p:nvSpPr>
          <p:cNvPr id="11" name="Text 9"/>
          <p:cNvSpPr txBox="1"/>
          <p:nvPr/>
        </p:nvSpPr>
        <p:spPr>
          <a:xfrm>
            <a:off x="6400800" y="1874520"/>
            <a:ext cx="2240280" cy="1737360"/>
          </a:xfrm>
          <a:prstGeom prst="rect">
            <a:avLst/>
          </a:prstGeom>
          <a:noFill/>
          <a:ln/>
        </p:spPr>
        <p:txBody>
          <a:bodyPr wrap="square" lIns="0" tIns="0" rIns="0" bIns="0" rtlCol="0" anchor="t"/>
          <a:lstStyle/>
          <a:p>
            <a:pPr indent="0" marL="0">
              <a:buNone/>
            </a:pPr>
            <a:r>
              <a:rPr lang="en-US" sz="1300" dirty="0">
                <a:solidFill>
                  <a:srgbClr val="3A4150"/>
                </a:solidFill>
                <a:latin typeface="Calibri" pitchFamily="34" charset="0"/>
                <a:ea typeface="Calibri" pitchFamily="34" charset="-122"/>
                <a:cs typeface="Calibri" pitchFamily="34" charset="-120"/>
              </a:rPr>
              <a:t>An AI read every headline. A human checked 300: the AI agreed 70% of the time — better than word lists (43%) or other AI (50%)</a:t>
            </a:r>
            <a:endParaRPr lang="en-US" sz="1300" dirty="0"/>
          </a:p>
        </p:txBody>
      </p:sp>
      <p:sp>
        <p:nvSpPr>
          <p:cNvPr id="12" name="Shape 10"/>
          <p:cNvSpPr/>
          <p:nvPr/>
        </p:nvSpPr>
        <p:spPr>
          <a:xfrm>
            <a:off x="9052560" y="1280160"/>
            <a:ext cx="2606040" cy="2423160"/>
          </a:xfrm>
          <a:prstGeom prst="roundRect">
            <a:avLst>
              <a:gd name="adj" fmla="val 3019"/>
            </a:avLst>
          </a:prstGeom>
          <a:solidFill>
            <a:srgbClr val="F2F4F7"/>
          </a:solidFill>
          <a:ln w="12700">
            <a:solidFill>
              <a:srgbClr val="F2F4F7"/>
            </a:solidFill>
            <a:prstDash val="solid"/>
          </a:ln>
        </p:spPr>
      </p:sp>
      <p:sp>
        <p:nvSpPr>
          <p:cNvPr id="13" name="Text 11"/>
          <p:cNvSpPr txBox="1"/>
          <p:nvPr/>
        </p:nvSpPr>
        <p:spPr>
          <a:xfrm>
            <a:off x="9235440" y="1417320"/>
            <a:ext cx="2240280" cy="411480"/>
          </a:xfrm>
          <a:prstGeom prst="rect">
            <a:avLst/>
          </a:prstGeom>
          <a:noFill/>
          <a:ln/>
        </p:spPr>
        <p:txBody>
          <a:bodyPr wrap="square" lIns="0" tIns="0" rIns="0" bIns="0"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4  Fair tests</a:t>
            </a:r>
            <a:endParaRPr lang="en-US" sz="1700" dirty="0"/>
          </a:p>
        </p:txBody>
      </p:sp>
      <p:sp>
        <p:nvSpPr>
          <p:cNvPr id="14" name="Text 12"/>
          <p:cNvSpPr txBox="1"/>
          <p:nvPr/>
        </p:nvSpPr>
        <p:spPr>
          <a:xfrm>
            <a:off x="9235440" y="1874520"/>
            <a:ext cx="2240280" cy="1737360"/>
          </a:xfrm>
          <a:prstGeom prst="rect">
            <a:avLst/>
          </a:prstGeom>
          <a:noFill/>
          <a:ln/>
        </p:spPr>
        <p:txBody>
          <a:bodyPr wrap="square" lIns="0" tIns="0" rIns="0" bIns="0" rtlCol="0" anchor="t"/>
          <a:lstStyle/>
          <a:p>
            <a:pPr indent="0" marL="0">
              <a:buNone/>
            </a:pPr>
            <a:r>
              <a:rPr lang="en-US" sz="1300" dirty="0">
                <a:solidFill>
                  <a:srgbClr val="3A4150"/>
                </a:solidFill>
                <a:latin typeface="Calibri" pitchFamily="34" charset="0"/>
                <a:ea typeface="Calibri" pitchFamily="34" charset="-122"/>
                <a:cs typeface="Calibri" pitchFamily="34" charset="-120"/>
              </a:rPr>
              <a:t>Negative isn't biased if the news is bad. We compared coverage to the real data and to other outlets in the same month</a:t>
            </a:r>
            <a:endParaRPr lang="en-US" sz="1300" dirty="0"/>
          </a:p>
        </p:txBody>
      </p:sp>
      <p:sp>
        <p:nvSpPr>
          <p:cNvPr id="15" name="Shape 13"/>
          <p:cNvSpPr/>
          <p:nvPr/>
        </p:nvSpPr>
        <p:spPr>
          <a:xfrm>
            <a:off x="548640" y="3886200"/>
            <a:ext cx="11064240" cy="1691640"/>
          </a:xfrm>
          <a:prstGeom prst="roundRect">
            <a:avLst>
              <a:gd name="adj" fmla="val 4324"/>
            </a:avLst>
          </a:prstGeom>
          <a:solidFill>
            <a:srgbClr val="EAF2FC"/>
          </a:solidFill>
          <a:ln w="12700">
            <a:solidFill>
              <a:srgbClr val="EAF2FC"/>
            </a:solidFill>
            <a:prstDash val="solid"/>
          </a:ln>
        </p:spPr>
      </p:sp>
      <p:sp>
        <p:nvSpPr>
          <p:cNvPr id="16" name="Text 14"/>
          <p:cNvSpPr txBox="1"/>
          <p:nvPr/>
        </p:nvSpPr>
        <p:spPr>
          <a:xfrm>
            <a:off x="777240" y="4005072"/>
            <a:ext cx="10607040" cy="15087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1F27"/>
                </a:solidFill>
                <a:latin typeface="Calibri" pitchFamily="34" charset="0"/>
                <a:ea typeface="Calibri" pitchFamily="34" charset="-122"/>
                <a:cs typeface="Calibri" pitchFamily="34" charset="-120"/>
              </a:rPr>
              <a:t>Yes, there is political slant: right-leaning outlets sound much more negative when a Democrat is president (and vice versa).</a:t>
            </a:r>
            <a:endParaRPr lang="en-US" sz="1400" dirty="0"/>
          </a:p>
          <a:p>
            <a:pPr marL="342900" indent="-342900">
              <a:spcAft>
                <a:spcPts val="700"/>
              </a:spcAft>
              <a:buSzPct val="100000"/>
              <a:buChar char="•"/>
            </a:pPr>
            <a:r>
              <a:rPr lang="en-US" sz="1400" dirty="0">
                <a:solidFill>
                  <a:srgbClr val="1B1F27"/>
                </a:solidFill>
                <a:latin typeface="Calibri" pitchFamily="34" charset="0"/>
                <a:ea typeface="Calibri" pitchFamily="34" charset="-122"/>
                <a:cs typeface="Calibri" pitchFamily="34" charset="-120"/>
              </a:rPr>
              <a:t>No, the news isn't overly negative: bad news isn't covered more than equally big good news, and 'inflation falling' stories rise when inflation falls.</a:t>
            </a:r>
            <a:endParaRPr lang="en-US" sz="1400" dirty="0"/>
          </a:p>
          <a:p>
            <a:pPr marL="342900" indent="-342900">
              <a:spcAft>
                <a:spcPts val="700"/>
              </a:spcAft>
              <a:buSzPct val="100000"/>
              <a:buChar char="•"/>
            </a:pPr>
            <a:r>
              <a:rPr lang="en-US" sz="1400" dirty="0">
                <a:solidFill>
                  <a:srgbClr val="1B1F27"/>
                </a:solidFill>
                <a:latin typeface="Calibri" pitchFamily="34" charset="0"/>
                <a:ea typeface="Calibri" pitchFamily="34" charset="-122"/>
                <a:cs typeface="Calibri" pitchFamily="34" charset="-120"/>
              </a:rPr>
              <a:t>Adding news data to our forecast made it 25% worse. Adding everyday-cost data made it 24% better.</a:t>
            </a:r>
            <a:endParaRPr lang="en-US" sz="1400" dirty="0"/>
          </a:p>
        </p:txBody>
      </p:sp>
      <p:sp>
        <p:nvSpPr>
          <p:cNvPr id="17" name="Shape 15"/>
          <p:cNvSpPr/>
          <p:nvPr/>
        </p:nvSpPr>
        <p:spPr>
          <a:xfrm>
            <a:off x="548640" y="5715000"/>
            <a:ext cx="11064240" cy="548640"/>
          </a:xfrm>
          <a:prstGeom prst="roundRect">
            <a:avLst>
              <a:gd name="adj" fmla="val 13333"/>
            </a:avLst>
          </a:prstGeom>
          <a:solidFill>
            <a:srgbClr val="1B1F27"/>
          </a:solidFill>
          <a:ln w="12700">
            <a:solidFill>
              <a:srgbClr val="1B1F27"/>
            </a:solidFill>
            <a:prstDash val="solid"/>
          </a:ln>
        </p:spPr>
      </p:sp>
      <p:sp>
        <p:nvSpPr>
          <p:cNvPr id="18" name="Text 16"/>
          <p:cNvSpPr txBox="1"/>
          <p:nvPr/>
        </p:nvSpPr>
        <p:spPr>
          <a:xfrm>
            <a:off x="777240" y="5788152"/>
            <a:ext cx="10607040" cy="411480"/>
          </a:xfrm>
          <a:prstGeom prst="rect">
            <a:avLst/>
          </a:prstGeom>
          <a:noFill/>
          <a:ln/>
        </p:spPr>
        <p:txBody>
          <a:bodyPr wrap="square" lIns="0" tIns="0" rIns="0" bIns="0" rtlCol="0" anchor="ctr"/>
          <a:lstStyle/>
          <a:p>
            <a:pPr indent="0" marL="0">
              <a:buNone/>
            </a:pPr>
            <a:r>
              <a:rPr lang="en-US" sz="1500" b="1" dirty="0">
                <a:solidFill>
                  <a:srgbClr val="F2B8B5"/>
                </a:solidFill>
                <a:latin typeface="Calibri" pitchFamily="34" charset="0"/>
                <a:ea typeface="Calibri" pitchFamily="34" charset="-122"/>
                <a:cs typeface="Calibri" pitchFamily="34" charset="-120"/>
              </a:rPr>
              <a:t>What this means:  </a:t>
            </a:r>
            <a:pPr indent="0" marL="0">
              <a:buNone/>
            </a:pPr>
            <a:r>
              <a:rPr lang="en-US" sz="1500" b="1" dirty="0">
                <a:solidFill>
                  <a:srgbClr val="FFFFFF"/>
                </a:solidFill>
                <a:latin typeface="Calibri" pitchFamily="34" charset="0"/>
                <a:ea typeface="Calibri" pitchFamily="34" charset="-122"/>
                <a:cs typeface="Calibri" pitchFamily="34" charset="-120"/>
              </a:rPr>
              <a:t>The news has a political tilt, but it isn't driving the mood — knowing the news doesn't help predict it.</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The test: moods kept falling, but the news didn't get worse</a:t>
            </a:r>
            <a:endParaRPr lang="en-US" sz="3000" dirty="0"/>
          </a:p>
        </p:txBody>
      </p:sp>
      <p:graphicFrame>
        <p:nvGraphicFramePr>
          <p:cNvPr id="3" name="Chart 0" descr=""/>
          <p:cNvGraphicFramePr/>
          <p:nvPr/>
        </p:nvGraphicFramePr>
        <p:xfrm>
          <a:off x="548640" y="1234440"/>
          <a:ext cx="5394960" cy="43434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309360" y="1325880"/>
            <a:ext cx="5303520" cy="4206240"/>
          </a:xfrm>
          <a:prstGeom prst="roundRect">
            <a:avLst>
              <a:gd name="adj" fmla="val 1739"/>
            </a:avLst>
          </a:prstGeom>
          <a:solidFill>
            <a:srgbClr val="F2F4F7"/>
          </a:solidFill>
          <a:ln w="12700">
            <a:solidFill>
              <a:srgbClr val="F2F4F7"/>
            </a:solidFill>
            <a:prstDash val="solid"/>
          </a:ln>
        </p:spPr>
      </p:sp>
      <p:sp>
        <p:nvSpPr>
          <p:cNvPr id="5" name="Text 2"/>
          <p:cNvSpPr txBox="1"/>
          <p:nvPr/>
        </p:nvSpPr>
        <p:spPr>
          <a:xfrm>
            <a:off x="6537960" y="1508760"/>
            <a:ext cx="4892040" cy="3931920"/>
          </a:xfrm>
          <a:prstGeom prst="rect">
            <a:avLst/>
          </a:prstGeom>
          <a:noFill/>
          <a:ln/>
        </p:spPr>
        <p:txBody>
          <a:bodyPr wrap="square" lIns="0" tIns="0" rIns="0" bIns="0" rtlCol="0" anchor="t"/>
          <a:lstStyle/>
          <a:p>
            <a:pPr indent="0" marL="0">
              <a:spcAft>
                <a:spcPts val="600"/>
              </a:spcAft>
              <a:buNone/>
            </a:pPr>
            <a:r>
              <a:rPr lang="en-US" sz="1600" b="1" dirty="0">
                <a:solidFill>
                  <a:srgbClr val="1B1F27"/>
                </a:solidFill>
                <a:latin typeface="Calibri" pitchFamily="34" charset="0"/>
                <a:ea typeface="Calibri" pitchFamily="34" charset="-122"/>
                <a:cs typeface="Calibri" pitchFamily="34" charset="-120"/>
              </a:rPr>
              <a:t>What should have happened if media caused it</a:t>
            </a:r>
            <a:endParaRPr lang="en-US" sz="1600" dirty="0"/>
          </a:p>
          <a:p>
            <a:pPr indent="0" marL="0">
              <a:spcAft>
                <a:spcPts val="1200"/>
              </a:spcAft>
              <a:buNone/>
            </a:pPr>
            <a:r>
              <a:rPr lang="en-US" sz="1400" dirty="0">
                <a:solidFill>
                  <a:srgbClr val="1B1F27"/>
                </a:solidFill>
                <a:latin typeface="Calibri" pitchFamily="34" charset="0"/>
                <a:ea typeface="Calibri" pitchFamily="34" charset="-122"/>
                <a:cs typeface="Calibri" pitchFamily="34" charset="-120"/>
              </a:rPr>
              <a:t>Sentiment fell another 14.5 points after January 2025. If the news drove that, news coverage should have turned much more negative.</a:t>
            </a:r>
            <a:endParaRPr lang="en-US" sz="1600" dirty="0"/>
          </a:p>
          <a:p>
            <a:pPr indent="0" marL="0">
              <a:spcAft>
                <a:spcPts val="600"/>
              </a:spcAft>
              <a:buNone/>
            </a:pPr>
            <a:r>
              <a:rPr lang="en-US" sz="1600" b="1" dirty="0">
                <a:solidFill>
                  <a:srgbClr val="1B1F27"/>
                </a:solidFill>
                <a:latin typeface="Calibri" pitchFamily="34" charset="0"/>
                <a:ea typeface="Calibri" pitchFamily="34" charset="-122"/>
                <a:cs typeface="Calibri" pitchFamily="34" charset="-120"/>
              </a:rPr>
              <a:t>What actually happened</a:t>
            </a:r>
            <a:endParaRPr lang="en-US" sz="1600" dirty="0"/>
          </a:p>
          <a:p>
            <a:pPr indent="0" marL="0">
              <a:spcAft>
                <a:spcPts val="1200"/>
              </a:spcAft>
              <a:buNone/>
            </a:pPr>
            <a:r>
              <a:rPr lang="en-US" sz="1400" dirty="0">
                <a:solidFill>
                  <a:srgbClr val="1B1F27"/>
                </a:solidFill>
                <a:latin typeface="Calibri" pitchFamily="34" charset="0"/>
                <a:ea typeface="Calibri" pitchFamily="34" charset="-122"/>
                <a:cs typeface="Calibri" pitchFamily="34" charset="-120"/>
              </a:rPr>
              <a:t>Overall news tone barely changed. Even in the worst case, that change explains about 0.9 point of the 14.5-point drop.</a:t>
            </a:r>
            <a:endParaRPr lang="en-US" sz="1600" dirty="0"/>
          </a:p>
          <a:p>
            <a:pPr indent="0" marL="0">
              <a:buNone/>
            </a:pPr>
            <a:r>
              <a:rPr lang="en-US" sz="1300" dirty="0">
                <a:solidFill>
                  <a:srgbClr val="3A4150"/>
                </a:solidFill>
                <a:latin typeface="Calibri" pitchFamily="34" charset="0"/>
                <a:ea typeface="Calibri" pitchFamily="34" charset="-122"/>
                <a:cs typeface="Calibri" pitchFamily="34" charset="-120"/>
              </a:rPr>
              <a:t>Right-leaning outlets did turn more positive under Trump — slant follows whoever is in power — but the total news mood stayed the same.</a:t>
            </a:r>
            <a:endParaRPr lang="en-US" sz="1600" dirty="0"/>
          </a:p>
        </p:txBody>
      </p:sp>
      <p:sp>
        <p:nvSpPr>
          <p:cNvPr id="6" name="Shape 3"/>
          <p:cNvSpPr/>
          <p:nvPr/>
        </p:nvSpPr>
        <p:spPr>
          <a:xfrm>
            <a:off x="548640" y="5715000"/>
            <a:ext cx="11064240" cy="548640"/>
          </a:xfrm>
          <a:prstGeom prst="roundRect">
            <a:avLst>
              <a:gd name="adj" fmla="val 13333"/>
            </a:avLst>
          </a:prstGeom>
          <a:solidFill>
            <a:srgbClr val="1B1F27"/>
          </a:solidFill>
          <a:ln w="12700">
            <a:solidFill>
              <a:srgbClr val="1B1F27"/>
            </a:solidFill>
            <a:prstDash val="solid"/>
          </a:ln>
        </p:spPr>
      </p:sp>
      <p:sp>
        <p:nvSpPr>
          <p:cNvPr id="7" name="Text 4"/>
          <p:cNvSpPr txBox="1"/>
          <p:nvPr/>
        </p:nvSpPr>
        <p:spPr>
          <a:xfrm>
            <a:off x="777240" y="5788152"/>
            <a:ext cx="10607040" cy="411480"/>
          </a:xfrm>
          <a:prstGeom prst="rect">
            <a:avLst/>
          </a:prstGeom>
          <a:noFill/>
          <a:ln/>
        </p:spPr>
        <p:txBody>
          <a:bodyPr wrap="square" lIns="0" tIns="0" rIns="0" bIns="0" rtlCol="0" anchor="ctr"/>
          <a:lstStyle/>
          <a:p>
            <a:pPr indent="0" marL="0">
              <a:buNone/>
            </a:pPr>
            <a:r>
              <a:rPr lang="en-US" sz="1500" b="1" dirty="0">
                <a:solidFill>
                  <a:srgbClr val="F2B8B5"/>
                </a:solidFill>
                <a:latin typeface="Calibri" pitchFamily="34" charset="0"/>
                <a:ea typeface="Calibri" pitchFamily="34" charset="-122"/>
                <a:cs typeface="Calibri" pitchFamily="34" charset="-120"/>
              </a:rPr>
              <a:t>What this means:  </a:t>
            </a:r>
            <a:pPr indent="0" marL="0">
              <a:buNone/>
            </a:pPr>
            <a:r>
              <a:rPr lang="en-US" sz="1500" b="1" dirty="0">
                <a:solidFill>
                  <a:srgbClr val="FFFFFF"/>
                </a:solidFill>
                <a:latin typeface="Calibri" pitchFamily="34" charset="0"/>
                <a:ea typeface="Calibri" pitchFamily="34" charset="-122"/>
                <a:cs typeface="Calibri" pitchFamily="34" charset="-120"/>
              </a:rPr>
              <a:t>The news can amplify the mood, but it didn't cause the collapse.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So what is causing the mismatch?</a:t>
            </a:r>
            <a:endParaRPr lang="en-US" sz="3000" dirty="0"/>
          </a:p>
        </p:txBody>
      </p:sp>
      <p:sp>
        <p:nvSpPr>
          <p:cNvPr id="3" name="Shape 1"/>
          <p:cNvSpPr/>
          <p:nvPr/>
        </p:nvSpPr>
        <p:spPr>
          <a:xfrm>
            <a:off x="548640" y="1325880"/>
            <a:ext cx="3520440" cy="4206240"/>
          </a:xfrm>
          <a:prstGeom prst="roundRect">
            <a:avLst>
              <a:gd name="adj" fmla="val 2078"/>
            </a:avLst>
          </a:prstGeom>
          <a:solidFill>
            <a:srgbClr val="F2F4F7"/>
          </a:solidFill>
          <a:ln w="12700">
            <a:solidFill>
              <a:srgbClr val="F2F4F7"/>
            </a:solidFill>
            <a:prstDash val="solid"/>
          </a:ln>
        </p:spPr>
      </p:sp>
      <p:sp>
        <p:nvSpPr>
          <p:cNvPr id="4" name="Shape 2"/>
          <p:cNvSpPr/>
          <p:nvPr/>
        </p:nvSpPr>
        <p:spPr>
          <a:xfrm>
            <a:off x="777240" y="1508760"/>
            <a:ext cx="3063240" cy="502920"/>
          </a:xfrm>
          <a:prstGeom prst="roundRect">
            <a:avLst>
              <a:gd name="adj" fmla="val 18182"/>
            </a:avLst>
          </a:prstGeom>
          <a:solidFill>
            <a:srgbClr val="C8433F"/>
          </a:solidFill>
          <a:ln w="12700">
            <a:solidFill>
              <a:srgbClr val="C8433F"/>
            </a:solidFill>
            <a:prstDash val="solid"/>
          </a:ln>
        </p:spPr>
      </p:sp>
      <p:sp>
        <p:nvSpPr>
          <p:cNvPr id="5" name="Text 3"/>
          <p:cNvSpPr txBox="1"/>
          <p:nvPr/>
        </p:nvSpPr>
        <p:spPr>
          <a:xfrm>
            <a:off x="868680" y="1508760"/>
            <a:ext cx="288036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Real costs the headline numbers miss</a:t>
            </a:r>
            <a:endParaRPr lang="en-US" sz="1400" dirty="0"/>
          </a:p>
        </p:txBody>
      </p:sp>
      <p:sp>
        <p:nvSpPr>
          <p:cNvPr id="6" name="Text 4"/>
          <p:cNvSpPr txBox="1"/>
          <p:nvPr/>
        </p:nvSpPr>
        <p:spPr>
          <a:xfrm>
            <a:off x="822960" y="2148840"/>
            <a:ext cx="3017520" cy="548640"/>
          </a:xfrm>
          <a:prstGeom prst="rect">
            <a:avLst/>
          </a:prstGeom>
          <a:noFill/>
          <a:ln/>
        </p:spPr>
        <p:txBody>
          <a:bodyPr wrap="square" lIns="0" tIns="0" rIns="0" bIns="0" rtlCol="0" anchor="t"/>
          <a:lstStyle/>
          <a:p>
            <a:pPr indent="0" marL="0">
              <a:buNone/>
            </a:pPr>
            <a:r>
              <a:rPr lang="en-US" sz="2600" b="1" dirty="0">
                <a:solidFill>
                  <a:srgbClr val="1B1F27"/>
                </a:solidFill>
                <a:latin typeface="Cambria" pitchFamily="34" charset="0"/>
                <a:ea typeface="Cambria" pitchFamily="34" charset="-122"/>
                <a:cs typeface="Cambria" pitchFamily="34" charset="-120"/>
              </a:rPr>
              <a:t>20 points</a:t>
            </a:r>
            <a:endParaRPr lang="en-US" sz="2600" dirty="0"/>
          </a:p>
        </p:txBody>
      </p:sp>
      <p:sp>
        <p:nvSpPr>
          <p:cNvPr id="7" name="Text 5"/>
          <p:cNvSpPr txBox="1"/>
          <p:nvPr/>
        </p:nvSpPr>
        <p:spPr>
          <a:xfrm>
            <a:off x="822960" y="2788920"/>
            <a:ext cx="3017520" cy="26517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B1F27"/>
                </a:solidFill>
                <a:latin typeface="Calibri" pitchFamily="34" charset="0"/>
                <a:ea typeface="Calibri" pitchFamily="34" charset="-122"/>
                <a:cs typeface="Calibri" pitchFamily="34" charset="-120"/>
              </a:rPr>
              <a:t>Prices ~11% above normal; paychecks behind</a:t>
            </a:r>
            <a:endParaRPr lang="en-US" sz="1500" dirty="0"/>
          </a:p>
          <a:p>
            <a:pPr marL="342900" indent="-342900">
              <a:spcAft>
                <a:spcPts val="700"/>
              </a:spcAft>
              <a:buSzPct val="100000"/>
              <a:buChar char="•"/>
            </a:pPr>
            <a:r>
              <a:rPr lang="en-US" sz="1500" dirty="0">
                <a:solidFill>
                  <a:srgbClr val="1B1F27"/>
                </a:solidFill>
                <a:latin typeface="Calibri" pitchFamily="34" charset="0"/>
                <a:ea typeface="Calibri" pitchFamily="34" charset="-122"/>
                <a:cs typeface="Calibri" pitchFamily="34" charset="-120"/>
              </a:rPr>
              <a:t>Mortgage rates: 44% say it's a bad time to buy a home</a:t>
            </a:r>
            <a:endParaRPr lang="en-US" sz="1500" dirty="0"/>
          </a:p>
          <a:p>
            <a:pPr marL="342900" indent="-342900">
              <a:spcAft>
                <a:spcPts val="700"/>
              </a:spcAft>
              <a:buSzPct val="100000"/>
              <a:buChar char="•"/>
            </a:pPr>
            <a:r>
              <a:rPr lang="en-US" sz="1500" dirty="0">
                <a:solidFill>
                  <a:srgbClr val="1B1F27"/>
                </a:solidFill>
                <a:latin typeface="Calibri" pitchFamily="34" charset="0"/>
                <a:ea typeface="Calibri" pitchFamily="34" charset="-122"/>
                <a:cs typeface="Calibri" pitchFamily="34" charset="-120"/>
              </a:rPr>
              <a:t>Tariff &amp; shutdown uncertainty</a:t>
            </a:r>
            <a:endParaRPr lang="en-US" sz="1500" dirty="0"/>
          </a:p>
        </p:txBody>
      </p:sp>
      <p:sp>
        <p:nvSpPr>
          <p:cNvPr id="8" name="Shape 6"/>
          <p:cNvSpPr/>
          <p:nvPr/>
        </p:nvSpPr>
        <p:spPr>
          <a:xfrm>
            <a:off x="4297680" y="1325880"/>
            <a:ext cx="3520440" cy="4206240"/>
          </a:xfrm>
          <a:prstGeom prst="roundRect">
            <a:avLst>
              <a:gd name="adj" fmla="val 2078"/>
            </a:avLst>
          </a:prstGeom>
          <a:solidFill>
            <a:srgbClr val="F2F4F7"/>
          </a:solidFill>
          <a:ln w="12700">
            <a:solidFill>
              <a:srgbClr val="F2F4F7"/>
            </a:solidFill>
            <a:prstDash val="solid"/>
          </a:ln>
        </p:spPr>
      </p:sp>
      <p:sp>
        <p:nvSpPr>
          <p:cNvPr id="9" name="Shape 7"/>
          <p:cNvSpPr/>
          <p:nvPr/>
        </p:nvSpPr>
        <p:spPr>
          <a:xfrm>
            <a:off x="4526280" y="1508760"/>
            <a:ext cx="3063240" cy="502920"/>
          </a:xfrm>
          <a:prstGeom prst="roundRect">
            <a:avLst>
              <a:gd name="adj" fmla="val 18182"/>
            </a:avLst>
          </a:prstGeom>
          <a:solidFill>
            <a:srgbClr val="2A78D6"/>
          </a:solidFill>
          <a:ln w="12700">
            <a:solidFill>
              <a:srgbClr val="2A78D6"/>
            </a:solidFill>
            <a:prstDash val="solid"/>
          </a:ln>
        </p:spPr>
      </p:sp>
      <p:sp>
        <p:nvSpPr>
          <p:cNvPr id="10" name="Text 8"/>
          <p:cNvSpPr txBox="1"/>
          <p:nvPr/>
        </p:nvSpPr>
        <p:spPr>
          <a:xfrm>
            <a:off x="4617720" y="1508760"/>
            <a:ext cx="288036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How it's measured</a:t>
            </a:r>
            <a:endParaRPr lang="en-US" sz="1400" dirty="0"/>
          </a:p>
        </p:txBody>
      </p:sp>
      <p:sp>
        <p:nvSpPr>
          <p:cNvPr id="11" name="Text 9"/>
          <p:cNvSpPr txBox="1"/>
          <p:nvPr/>
        </p:nvSpPr>
        <p:spPr>
          <a:xfrm>
            <a:off x="4572000" y="2148840"/>
            <a:ext cx="3017520" cy="548640"/>
          </a:xfrm>
          <a:prstGeom prst="rect">
            <a:avLst/>
          </a:prstGeom>
          <a:noFill/>
          <a:ln/>
        </p:spPr>
        <p:txBody>
          <a:bodyPr wrap="square" lIns="0" tIns="0" rIns="0" bIns="0" rtlCol="0" anchor="t"/>
          <a:lstStyle/>
          <a:p>
            <a:pPr indent="0" marL="0">
              <a:buNone/>
            </a:pPr>
            <a:r>
              <a:rPr lang="en-US" sz="2600" b="1" dirty="0">
                <a:solidFill>
                  <a:srgbClr val="1B1F27"/>
                </a:solidFill>
                <a:latin typeface="Cambria" pitchFamily="34" charset="0"/>
                <a:ea typeface="Cambria" pitchFamily="34" charset="-122"/>
                <a:cs typeface="Cambria" pitchFamily="34" charset="-120"/>
              </a:rPr>
              <a:t>9 points</a:t>
            </a:r>
            <a:endParaRPr lang="en-US" sz="2600" dirty="0"/>
          </a:p>
        </p:txBody>
      </p:sp>
      <p:sp>
        <p:nvSpPr>
          <p:cNvPr id="12" name="Text 10"/>
          <p:cNvSpPr txBox="1"/>
          <p:nvPr/>
        </p:nvSpPr>
        <p:spPr>
          <a:xfrm>
            <a:off x="4572000" y="2788920"/>
            <a:ext cx="3017520" cy="26517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B1F27"/>
                </a:solidFill>
                <a:latin typeface="Calibri" pitchFamily="34" charset="0"/>
                <a:ea typeface="Calibri" pitchFamily="34" charset="-122"/>
                <a:cs typeface="Calibri" pitchFamily="34" charset="-120"/>
              </a:rPr>
              <a:t>Survey moved from phone to online (−6.6)</a:t>
            </a:r>
            <a:endParaRPr lang="en-US" sz="1500" dirty="0"/>
          </a:p>
          <a:p>
            <a:pPr marL="342900" indent="-342900">
              <a:spcAft>
                <a:spcPts val="700"/>
              </a:spcAft>
              <a:buSzPct val="100000"/>
              <a:buChar char="•"/>
            </a:pPr>
            <a:r>
              <a:rPr lang="en-US" sz="1500" dirty="0">
                <a:solidFill>
                  <a:srgbClr val="1B1F27"/>
                </a:solidFill>
                <a:latin typeface="Calibri" pitchFamily="34" charset="0"/>
                <a:ea typeface="Calibri" pitchFamily="34" charset="-122"/>
                <a:cs typeface="Calibri" pitchFamily="34" charset="-120"/>
              </a:rPr>
              <a:t>Fewer Republicans answering (−2.4)</a:t>
            </a:r>
            <a:endParaRPr lang="en-US" sz="1500" dirty="0"/>
          </a:p>
          <a:p>
            <a:pPr marL="342900" indent="-342900">
              <a:spcAft>
                <a:spcPts val="700"/>
              </a:spcAft>
              <a:buSzPct val="100000"/>
              <a:buChar char="•"/>
            </a:pPr>
            <a:r>
              <a:rPr lang="en-US" sz="1500" dirty="0">
                <a:solidFill>
                  <a:srgbClr val="1B1F27"/>
                </a:solidFill>
                <a:latin typeface="Calibri" pitchFamily="34" charset="0"/>
                <a:ea typeface="Calibri" pitchFamily="34" charset="-122"/>
                <a:cs typeface="Calibri" pitchFamily="34" charset="-120"/>
              </a:rPr>
              <a:t>Old models never saw a shock like this</a:t>
            </a:r>
            <a:endParaRPr lang="en-US" sz="1500" dirty="0"/>
          </a:p>
        </p:txBody>
      </p:sp>
      <p:sp>
        <p:nvSpPr>
          <p:cNvPr id="13" name="Shape 11"/>
          <p:cNvSpPr/>
          <p:nvPr/>
        </p:nvSpPr>
        <p:spPr>
          <a:xfrm>
            <a:off x="8046720" y="1325880"/>
            <a:ext cx="3520440" cy="4206240"/>
          </a:xfrm>
          <a:prstGeom prst="roundRect">
            <a:avLst>
              <a:gd name="adj" fmla="val 2078"/>
            </a:avLst>
          </a:prstGeom>
          <a:solidFill>
            <a:srgbClr val="F2F4F7"/>
          </a:solidFill>
          <a:ln w="12700">
            <a:solidFill>
              <a:srgbClr val="F2F4F7"/>
            </a:solidFill>
            <a:prstDash val="solid"/>
          </a:ln>
        </p:spPr>
      </p:sp>
      <p:sp>
        <p:nvSpPr>
          <p:cNvPr id="14" name="Shape 12"/>
          <p:cNvSpPr/>
          <p:nvPr/>
        </p:nvSpPr>
        <p:spPr>
          <a:xfrm>
            <a:off x="8275320" y="1508760"/>
            <a:ext cx="3063240" cy="502920"/>
          </a:xfrm>
          <a:prstGeom prst="roundRect">
            <a:avLst>
              <a:gd name="adj" fmla="val 18182"/>
            </a:avLst>
          </a:prstGeom>
          <a:solidFill>
            <a:srgbClr val="D99A1E"/>
          </a:solidFill>
          <a:ln w="12700">
            <a:solidFill>
              <a:srgbClr val="D99A1E"/>
            </a:solidFill>
            <a:prstDash val="solid"/>
          </a:ln>
        </p:spPr>
      </p:sp>
      <p:sp>
        <p:nvSpPr>
          <p:cNvPr id="15" name="Text 13"/>
          <p:cNvSpPr txBox="1"/>
          <p:nvPr/>
        </p:nvSpPr>
        <p:spPr>
          <a:xfrm>
            <a:off x="8366760" y="1508760"/>
            <a:ext cx="288036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How people interpret it</a:t>
            </a:r>
            <a:endParaRPr lang="en-US" sz="1400" dirty="0"/>
          </a:p>
        </p:txBody>
      </p:sp>
      <p:sp>
        <p:nvSpPr>
          <p:cNvPr id="16" name="Text 14"/>
          <p:cNvSpPr txBox="1"/>
          <p:nvPr/>
        </p:nvSpPr>
        <p:spPr>
          <a:xfrm>
            <a:off x="8321040" y="2148840"/>
            <a:ext cx="3017520" cy="548640"/>
          </a:xfrm>
          <a:prstGeom prst="rect">
            <a:avLst/>
          </a:prstGeom>
          <a:noFill/>
          <a:ln/>
        </p:spPr>
        <p:txBody>
          <a:bodyPr wrap="square" lIns="0" tIns="0" rIns="0" bIns="0" rtlCol="0" anchor="t"/>
          <a:lstStyle/>
          <a:p>
            <a:pPr indent="0" marL="0">
              <a:buNone/>
            </a:pPr>
            <a:r>
              <a:rPr lang="en-US" sz="2600" b="1" dirty="0">
                <a:solidFill>
                  <a:srgbClr val="1B1F27"/>
                </a:solidFill>
                <a:latin typeface="Cambria" pitchFamily="34" charset="0"/>
                <a:ea typeface="Cambria" pitchFamily="34" charset="-122"/>
                <a:cs typeface="Cambria" pitchFamily="34" charset="-120"/>
              </a:rPr>
              <a:t>who is hit hardest</a:t>
            </a:r>
            <a:endParaRPr lang="en-US" sz="2600" dirty="0"/>
          </a:p>
        </p:txBody>
      </p:sp>
      <p:sp>
        <p:nvSpPr>
          <p:cNvPr id="17" name="Text 15"/>
          <p:cNvSpPr txBox="1"/>
          <p:nvPr/>
        </p:nvSpPr>
        <p:spPr>
          <a:xfrm>
            <a:off x="8321040" y="2788920"/>
            <a:ext cx="3017520" cy="26517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B1F27"/>
                </a:solidFill>
                <a:latin typeface="Calibri" pitchFamily="34" charset="0"/>
                <a:ea typeface="Calibri" pitchFamily="34" charset="-122"/>
                <a:cs typeface="Calibri" pitchFamily="34" charset="-120"/>
              </a:rPr>
              <a:t>Young adults: first big inflation (~78% of their extra drop)</a:t>
            </a:r>
            <a:endParaRPr lang="en-US" sz="1500" dirty="0"/>
          </a:p>
          <a:p>
            <a:pPr marL="342900" indent="-342900">
              <a:spcAft>
                <a:spcPts val="700"/>
              </a:spcAft>
              <a:buSzPct val="100000"/>
              <a:buChar char="•"/>
            </a:pPr>
            <a:r>
              <a:rPr lang="en-US" sz="1500" dirty="0">
                <a:solidFill>
                  <a:srgbClr val="1B1F27"/>
                </a:solidFill>
                <a:latin typeface="Calibri" pitchFamily="34" charset="0"/>
                <a:ea typeface="Calibri" pitchFamily="34" charset="-122"/>
                <a:cs typeface="Calibri" pitchFamily="34" charset="-120"/>
              </a:rPr>
              <a:t>Party in power feels better</a:t>
            </a:r>
            <a:endParaRPr lang="en-US" sz="1500" dirty="0"/>
          </a:p>
          <a:p>
            <a:pPr marL="342900" indent="-342900">
              <a:spcAft>
                <a:spcPts val="700"/>
              </a:spcAft>
              <a:buSzPct val="100000"/>
              <a:buChar char="•"/>
            </a:pPr>
            <a:r>
              <a:rPr lang="en-US" sz="1500" dirty="0">
                <a:solidFill>
                  <a:srgbClr val="1B1F27"/>
                </a:solidFill>
                <a:latin typeface="Calibri" pitchFamily="34" charset="0"/>
                <a:ea typeface="Calibri" pitchFamily="34" charset="-122"/>
                <a:cs typeface="Calibri" pitchFamily="34" charset="-120"/>
              </a:rPr>
              <a:t>Media: ~0.9 point — not the cause</a:t>
            </a:r>
            <a:endParaRPr lang="en-US" sz="1500" dirty="0"/>
          </a:p>
        </p:txBody>
      </p:sp>
      <p:sp>
        <p:nvSpPr>
          <p:cNvPr id="18" name="Shape 16"/>
          <p:cNvSpPr/>
          <p:nvPr/>
        </p:nvSpPr>
        <p:spPr>
          <a:xfrm>
            <a:off x="548640" y="5715000"/>
            <a:ext cx="11064240" cy="548640"/>
          </a:xfrm>
          <a:prstGeom prst="roundRect">
            <a:avLst>
              <a:gd name="adj" fmla="val 13333"/>
            </a:avLst>
          </a:prstGeom>
          <a:solidFill>
            <a:srgbClr val="1B1F27"/>
          </a:solidFill>
          <a:ln w="12700">
            <a:solidFill>
              <a:srgbClr val="1B1F27"/>
            </a:solidFill>
            <a:prstDash val="solid"/>
          </a:ln>
        </p:spPr>
      </p:sp>
      <p:sp>
        <p:nvSpPr>
          <p:cNvPr id="19" name="Text 17"/>
          <p:cNvSpPr txBox="1"/>
          <p:nvPr/>
        </p:nvSpPr>
        <p:spPr>
          <a:xfrm>
            <a:off x="777240" y="5788152"/>
            <a:ext cx="10607040" cy="411480"/>
          </a:xfrm>
          <a:prstGeom prst="rect">
            <a:avLst/>
          </a:prstGeom>
          <a:noFill/>
          <a:ln/>
        </p:spPr>
        <p:txBody>
          <a:bodyPr wrap="square" lIns="0" tIns="0" rIns="0" bIns="0" rtlCol="0" anchor="ctr"/>
          <a:lstStyle/>
          <a:p>
            <a:pPr indent="0" marL="0">
              <a:buNone/>
            </a:pPr>
            <a:r>
              <a:rPr lang="en-US" sz="1500" b="1" dirty="0">
                <a:solidFill>
                  <a:srgbClr val="F2B8B5"/>
                </a:solidFill>
                <a:latin typeface="Calibri" pitchFamily="34" charset="0"/>
                <a:ea typeface="Calibri" pitchFamily="34" charset="-122"/>
                <a:cs typeface="Calibri" pitchFamily="34" charset="-120"/>
              </a:rPr>
              <a:t>What this means:  </a:t>
            </a:r>
            <a:pPr indent="0" marL="0">
              <a:buNone/>
            </a:pPr>
            <a:r>
              <a:rPr lang="en-US" sz="1500" b="1" dirty="0">
                <a:solidFill>
                  <a:srgbClr val="FFFFFF"/>
                </a:solidFill>
                <a:latin typeface="Calibri" pitchFamily="34" charset="0"/>
                <a:ea typeface="Calibri" pitchFamily="34" charset="-122"/>
                <a:cs typeface="Calibri" pitchFamily="34" charset="-120"/>
              </a:rPr>
              <a:t>Of 41 points: ~20 real costs, ~9 measurement, ~12 unexplained — and media explains about 1.</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What this means for investors and forecasters</a:t>
            </a:r>
            <a:endParaRPr lang="en-US" sz="3000" dirty="0"/>
          </a:p>
        </p:txBody>
      </p:sp>
      <p:graphicFrame>
        <p:nvGraphicFramePr>
          <p:cNvPr id="3" name="Chart 0" descr=""/>
          <p:cNvGraphicFramePr/>
          <p:nvPr/>
        </p:nvGraphicFramePr>
        <p:xfrm>
          <a:off x="548640" y="1234440"/>
          <a:ext cx="6675120" cy="43434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498080" y="1325880"/>
            <a:ext cx="4114800" cy="4206240"/>
          </a:xfrm>
          <a:prstGeom prst="roundRect">
            <a:avLst>
              <a:gd name="adj" fmla="val 1778"/>
            </a:avLst>
          </a:prstGeom>
          <a:solidFill>
            <a:srgbClr val="1B1F27"/>
          </a:solidFill>
          <a:ln w="12700">
            <a:solidFill>
              <a:srgbClr val="1B1F27"/>
            </a:solidFill>
            <a:prstDash val="solid"/>
          </a:ln>
        </p:spPr>
      </p:sp>
      <p:sp>
        <p:nvSpPr>
          <p:cNvPr id="5" name="Text 2"/>
          <p:cNvSpPr txBox="1"/>
          <p:nvPr/>
        </p:nvSpPr>
        <p:spPr>
          <a:xfrm>
            <a:off x="7726680" y="1554480"/>
            <a:ext cx="3657600" cy="3931920"/>
          </a:xfrm>
          <a:prstGeom prst="rect">
            <a:avLst/>
          </a:prstGeom>
          <a:noFill/>
          <a:ln/>
        </p:spPr>
        <p:txBody>
          <a:bodyPr wrap="square" lIns="0" tIns="0" rIns="0" bIns="0" rtlCol="0" anchor="t"/>
          <a:lstStyle/>
          <a:p>
            <a:pPr indent="0" marL="0">
              <a:spcAft>
                <a:spcPts val="800"/>
              </a:spcAft>
              <a:buNone/>
            </a:pPr>
            <a:r>
              <a:rPr lang="en-US" sz="1800" b="1" dirty="0">
                <a:solidFill>
                  <a:schemeClr val="bg1"/>
                </a:solidFill>
                <a:latin typeface="Calibri" pitchFamily="34" charset="0"/>
                <a:ea typeface="Calibri" pitchFamily="34" charset="-122"/>
                <a:cs typeface="Calibri" pitchFamily="34" charset="-120"/>
              </a:rPr>
              <a:t>The lesson</a:t>
            </a:r>
            <a:endParaRPr lang="en-US" sz="1800" dirty="0"/>
          </a:p>
          <a:p>
            <a:pPr indent="0" marL="0">
              <a:spcAft>
                <a:spcPts val="800"/>
              </a:spcAft>
              <a:buNone/>
            </a:pPr>
            <a:r>
              <a:rPr lang="en-US" sz="1400" dirty="0">
                <a:solidFill>
                  <a:schemeClr val="bg1"/>
                </a:solidFill>
                <a:latin typeface="Calibri" pitchFamily="34" charset="0"/>
                <a:ea typeface="Calibri" pitchFamily="34" charset="-122"/>
                <a:cs typeface="Calibri" pitchFamily="34" charset="-120"/>
              </a:rPr>
              <a:t>Since 2022 people said they felt awful — and kept spending about 2.5% more each year.</a:t>
            </a:r>
            <a:endParaRPr lang="en-US" sz="1800" dirty="0"/>
          </a:p>
          <a:p>
            <a:pPr indent="0" marL="0">
              <a:spcAft>
                <a:spcPts val="800"/>
              </a:spcAft>
              <a:buNone/>
            </a:pPr>
            <a:r>
              <a:rPr lang="en-US" sz="1400" dirty="0">
                <a:solidFill>
                  <a:schemeClr val="bg1"/>
                </a:solidFill>
                <a:latin typeface="Calibri" pitchFamily="34" charset="0"/>
                <a:ea typeface="Calibri" pitchFamily="34" charset="-122"/>
                <a:cs typeface="Calibri" pitchFamily="34" charset="-120"/>
              </a:rPr>
              <a:t>Using the survey as-is made spending forecasts 20% worse. Using only the part that matches the economy made them 17% better.</a:t>
            </a:r>
            <a:endParaRPr lang="en-US" sz="1800" dirty="0"/>
          </a:p>
          <a:p>
            <a:pPr indent="0" marL="0">
              <a:buNone/>
            </a:pPr>
            <a:r>
              <a:rPr lang="en-US" sz="1400" b="1" dirty="0">
                <a:solidFill>
                  <a:srgbClr val="F2B8B5"/>
                </a:solidFill>
                <a:latin typeface="Calibri" pitchFamily="34" charset="0"/>
                <a:ea typeface="Calibri" pitchFamily="34" charset="-122"/>
                <a:cs typeface="Calibri" pitchFamily="34" charset="-120"/>
              </a:rPr>
              <a:t>So: separate real economic worry from the 'gloom gap' before betting on a recession.</a:t>
            </a:r>
            <a:endParaRPr lang="en-US" sz="1800" dirty="0"/>
          </a:p>
        </p:txBody>
      </p:sp>
      <p:sp>
        <p:nvSpPr>
          <p:cNvPr id="6" name="Shape 3"/>
          <p:cNvSpPr/>
          <p:nvPr/>
        </p:nvSpPr>
        <p:spPr>
          <a:xfrm>
            <a:off x="548640" y="5715000"/>
            <a:ext cx="11064240" cy="548640"/>
          </a:xfrm>
          <a:prstGeom prst="roundRect">
            <a:avLst>
              <a:gd name="adj" fmla="val 13333"/>
            </a:avLst>
          </a:prstGeom>
          <a:solidFill>
            <a:srgbClr val="1B1F27"/>
          </a:solidFill>
          <a:ln w="12700">
            <a:solidFill>
              <a:srgbClr val="1B1F27"/>
            </a:solidFill>
            <a:prstDash val="solid"/>
          </a:ln>
        </p:spPr>
      </p:sp>
      <p:sp>
        <p:nvSpPr>
          <p:cNvPr id="7" name="Text 4"/>
          <p:cNvSpPr txBox="1"/>
          <p:nvPr/>
        </p:nvSpPr>
        <p:spPr>
          <a:xfrm>
            <a:off x="777240" y="5788152"/>
            <a:ext cx="10607040" cy="411480"/>
          </a:xfrm>
          <a:prstGeom prst="rect">
            <a:avLst/>
          </a:prstGeom>
          <a:noFill/>
          <a:ln/>
        </p:spPr>
        <p:txBody>
          <a:bodyPr wrap="square" lIns="0" tIns="0" rIns="0" bIns="0" rtlCol="0" anchor="ctr"/>
          <a:lstStyle/>
          <a:p>
            <a:pPr indent="0" marL="0">
              <a:buNone/>
            </a:pPr>
            <a:r>
              <a:rPr lang="en-US" sz="1500" b="1" dirty="0">
                <a:solidFill>
                  <a:srgbClr val="F2B8B5"/>
                </a:solidFill>
                <a:latin typeface="Calibri" pitchFamily="34" charset="0"/>
                <a:ea typeface="Calibri" pitchFamily="34" charset="-122"/>
                <a:cs typeface="Calibri" pitchFamily="34" charset="-120"/>
              </a:rPr>
              <a:t>What this means:  </a:t>
            </a:r>
            <a:pPr indent="0" marL="0">
              <a:buNone/>
            </a:pPr>
            <a:r>
              <a:rPr lang="en-US" sz="1500" b="1" dirty="0">
                <a:solidFill>
                  <a:srgbClr val="FFFFFF"/>
                </a:solidFill>
                <a:latin typeface="Calibri" pitchFamily="34" charset="0"/>
                <a:ea typeface="Calibri" pitchFamily="34" charset="-122"/>
                <a:cs typeface="Calibri" pitchFamily="34" charset="-120"/>
              </a:rPr>
              <a:t>Bottom line: high prices, the survey change and lived experience — not media bias — explain the gloom.</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828800"/>
          </a:xfrm>
          <a:prstGeom prst="rect">
            <a:avLst/>
          </a:prstGeom>
          <a:noFill/>
          <a:ln/>
        </p:spPr>
        <p:txBody>
          <a:bodyPr wrap="square" rtlCol="0" anchor="b"/>
          <a:lstStyle/>
          <a:p>
            <a:pP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3" name="Text 0"/>
          <p:cNvSpPr/>
          <p:nvPr>
            <p:ph idx="101" type="body" hasCustomPrompt="1"/>
          </p:nvPr>
        </p:nvSpPr>
        <p:spPr>
          <a:xfrm>
            <a:off x="731520" y="3749040"/>
            <a:ext cx="10698480" cy="1645920"/>
          </a:xfrm>
          <a:prstGeom prst="rect">
            <a:avLst/>
          </a:prstGeom>
          <a:noFill/>
          <a:ln/>
        </p:spPr>
        <p:txBody>
          <a:bodyPr wrap="square" rtlCol="0" anchor="t"/>
          <a:lstStyle/>
          <a:p>
            <a:pPr indent="0" marL="0">
              <a:buNone/>
            </a:pPr>
            <a:r>
              <a:rPr lang="en-US" sz="2000" b="1" dirty="0">
                <a:solidFill>
                  <a:srgbClr val="F2B8B5"/>
                </a:solidFill>
                <a:latin typeface="Calibri" pitchFamily="34" charset="0"/>
                <a:ea typeface="Calibri" pitchFamily="34" charset="-122"/>
                <a:cs typeface="Calibri" pitchFamily="34" charset="-120"/>
              </a:rPr>
              <a:t>Key takeaway</a:t>
            </a:r>
            <a:endParaRPr lang="en-US" sz="1800" dirty="0"/>
          </a:p>
          <a:p>
            <a:pPr indent="0" marL="0">
              <a:buNone/>
            </a:pPr>
            <a:r>
              <a:rPr lang="en-US" sz="2000" dirty="0">
                <a:solidFill>
                  <a:srgbClr val="FFFFFF"/>
                </a:solidFill>
                <a:latin typeface="Calibri" pitchFamily="34" charset="0"/>
                <a:ea typeface="Calibri" pitchFamily="34" charset="-122"/>
                <a:cs typeface="Calibri" pitchFamily="34" charset="-120"/>
              </a:rPr>
              <a:t>Americans aren't gloomy because of biased news. Prices stayed high, the survey changed, and young people lived through their first big inflation.</a:t>
            </a:r>
            <a:endParaRPr lang="en-US" sz="1800" dirty="0"/>
          </a:p>
          <a:p>
            <a:pPr indent="0" marL="0">
              <a:buNone/>
            </a:pPr>
            <a:r>
              <a:rPr lang="en-US" sz="1800" b="1" dirty="0">
                <a:solidFill>
                  <a:srgbClr val="CBD2DC"/>
                </a:solidFill>
                <a:latin typeface="Calibri" pitchFamily="34" charset="0"/>
                <a:ea typeface="Calibri" pitchFamily="34" charset="-122"/>
                <a:cs typeface="Calibri" pitchFamily="34" charset="-120"/>
              </a:rPr>
              <a:t>Questions?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Extra clarification: answers to the six required questions</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91840"/>
                <a:gridCol w="7772400"/>
              </a:tblGrid>
              <a:tr h="658368">
                <a:tc>
                  <a:txBody>
                    <a:bodyPr/>
                    <a:lstStyle/>
                    <a:p>
                      <a:pPr indent="0" marL="0">
                        <a:buNone/>
                      </a:pPr>
                      <a:r>
                        <a:rPr lang="en-US" sz="1250" b="1" dirty="0">
                          <a:solidFill>
                            <a:srgbClr val="1B1F27"/>
                          </a:solidFill>
                          <a:latin typeface="Calibri" pitchFamily="34" charset="0"/>
                          <a:ea typeface="Calibri" pitchFamily="34" charset="-122"/>
                          <a:cs typeface="Calibri" pitchFamily="34" charset="-120"/>
                        </a:rPr>
                        <a:t>1. How can we measure media bias?</a:t>
                      </a:r>
                      <a:endParaRPr lang="en-US" sz="1250" dirty="0">
                        <a:latin typeface="Calibri" charset="0"/>
                        <a:ea typeface="Calibri" charset="0"/>
                        <a:cs typeface="Calibri" charset="0"/>
                      </a:endParaRPr>
                    </a:p>
                  </a:txBody>
                  <a:tcPr marL="91440" marR="91440" marT="45720" marB="45720">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B1F27"/>
                          </a:solidFill>
                          <a:latin typeface="Calibri" pitchFamily="34" charset="0"/>
                          <a:ea typeface="Calibri" pitchFamily="34" charset="-122"/>
                          <a:cs typeface="Calibri" pitchFamily="34" charset="-120"/>
                        </a:rPr>
                        <a:t>Against benchmarks: equal good vs bad news, the real data, the same month across outlets, official numbers. AI coder checked against 300 human labels (70% agreement).</a:t>
                      </a:r>
                      <a:endParaRPr lang="en-US" sz="1250" dirty="0">
                        <a:latin typeface="Calibri" charset="0"/>
                        <a:ea typeface="Calibri" charset="0"/>
                        <a:cs typeface="Calibri" charset="0"/>
                      </a:endParaRPr>
                    </a:p>
                  </a:txBody>
                  <a:tcPr marL="91440" marR="91440" marT="45720" marB="45720">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658368">
                <a:tc>
                  <a:txBody>
                    <a:bodyPr/>
                    <a:lstStyle/>
                    <a:p>
                      <a:pPr indent="0" marL="0">
                        <a:buNone/>
                      </a:pPr>
                      <a:r>
                        <a:rPr lang="en-US" sz="1250" b="1" dirty="0">
                          <a:solidFill>
                            <a:srgbClr val="1B1F27"/>
                          </a:solidFill>
                          <a:latin typeface="Calibri" pitchFamily="34" charset="0"/>
                          <a:ea typeface="Calibri" pitchFamily="34" charset="-122"/>
                          <a:cs typeface="Calibri" pitchFamily="34" charset="-120"/>
                        </a:rPr>
                        <a:t>2. Is bias depressing sentiment?</a:t>
                      </a:r>
                      <a:endParaRPr lang="en-US" sz="1250" dirty="0">
                        <a:latin typeface="Calibri" charset="0"/>
                        <a:ea typeface="Calibri" charset="0"/>
                        <a:cs typeface="Calibri" charset="0"/>
                      </a:endParaRPr>
                    </a:p>
                  </a:txBody>
                  <a:tcPr marL="91440" marR="91440" marT="45720" marB="45720">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B1F27"/>
                          </a:solidFill>
                          <a:latin typeface="Calibri" pitchFamily="34" charset="0"/>
                          <a:ea typeface="Calibri" pitchFamily="34" charset="-122"/>
                          <a:cs typeface="Calibri" pitchFamily="34" charset="-120"/>
                        </a:rPr>
                        <a:t>No evidence: news adds no forecasting power; in 2025 tone barely changed while sentiment fell 14.5 points (~1 point explained).</a:t>
                      </a:r>
                      <a:endParaRPr lang="en-US" sz="1250" dirty="0">
                        <a:latin typeface="Calibri" charset="0"/>
                        <a:ea typeface="Calibri" charset="0"/>
                        <a:cs typeface="Calibri" charset="0"/>
                      </a:endParaRPr>
                    </a:p>
                  </a:txBody>
                  <a:tcPr marL="91440" marR="91440" marT="45720" marB="45720">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658368">
                <a:tc>
                  <a:txBody>
                    <a:bodyPr/>
                    <a:lstStyle/>
                    <a:p>
                      <a:pPr indent="0" marL="0">
                        <a:buNone/>
                      </a:pPr>
                      <a:r>
                        <a:rPr lang="en-US" sz="1250" b="1" dirty="0">
                          <a:solidFill>
                            <a:srgbClr val="1B1F27"/>
                          </a:solidFill>
                          <a:latin typeface="Calibri" pitchFamily="34" charset="0"/>
                          <a:ea typeface="Calibri" pitchFamily="34" charset="-122"/>
                          <a:cs typeface="Calibri" pitchFamily="34" charset="-120"/>
                        </a:rPr>
                        <a:t>3. How much do jobs, inflation, GDP explain?</a:t>
                      </a:r>
                      <a:endParaRPr lang="en-US" sz="1250" dirty="0">
                        <a:latin typeface="Calibri" charset="0"/>
                        <a:ea typeface="Calibri" charset="0"/>
                        <a:cs typeface="Calibri" charset="0"/>
                      </a:endParaRPr>
                    </a:p>
                  </a:txBody>
                  <a:tcPr marL="91440" marR="91440" marT="45720" marB="45720">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B1F27"/>
                          </a:solidFill>
                          <a:latin typeface="Calibri" pitchFamily="34" charset="0"/>
                          <a:ea typeface="Calibri" pitchFamily="34" charset="-122"/>
                          <a:cs typeface="Calibri" pitchFamily="34" charset="-120"/>
                        </a:rPr>
                        <a:t>Only ~13% of the 41-point drop.</a:t>
                      </a:r>
                      <a:endParaRPr lang="en-US" sz="1250" dirty="0">
                        <a:latin typeface="Calibri" charset="0"/>
                        <a:ea typeface="Calibri" charset="0"/>
                        <a:cs typeface="Calibri" charset="0"/>
                      </a:endParaRPr>
                    </a:p>
                  </a:txBody>
                  <a:tcPr marL="91440" marR="91440" marT="45720" marB="45720">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658368">
                <a:tc>
                  <a:txBody>
                    <a:bodyPr/>
                    <a:lstStyle/>
                    <a:p>
                      <a:pPr indent="0" marL="0">
                        <a:buNone/>
                      </a:pPr>
                      <a:r>
                        <a:rPr lang="en-US" sz="1250" b="1" dirty="0">
                          <a:solidFill>
                            <a:srgbClr val="1B1F27"/>
                          </a:solidFill>
                          <a:latin typeface="Calibri" pitchFamily="34" charset="0"/>
                          <a:ea typeface="Calibri" pitchFamily="34" charset="-122"/>
                          <a:cs typeface="Calibri" pitchFamily="34" charset="-120"/>
                        </a:rPr>
                        <a:t>4. Which mental biases can we measure?</a:t>
                      </a:r>
                      <a:endParaRPr lang="en-US" sz="1250" dirty="0">
                        <a:latin typeface="Calibri" charset="0"/>
                        <a:ea typeface="Calibri" charset="0"/>
                        <a:cs typeface="Calibri" charset="0"/>
                      </a:endParaRPr>
                    </a:p>
                  </a:txBody>
                  <a:tcPr marL="91440" marR="91440" marT="45720" marB="45720">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B1F27"/>
                          </a:solidFill>
                          <a:latin typeface="Calibri" pitchFamily="34" charset="0"/>
                          <a:ea typeface="Calibri" pitchFamily="34" charset="-122"/>
                          <a:cs typeface="Calibri" pitchFamily="34" charset="-120"/>
                        </a:rPr>
                        <a:t>Anchoring to old prices and learning from lived inflation: yes. Partisanship: indirectly. Availability/confirmation bias in readers: no (no exposure data).</a:t>
                      </a:r>
                      <a:endParaRPr lang="en-US" sz="1250" dirty="0">
                        <a:latin typeface="Calibri" charset="0"/>
                        <a:ea typeface="Calibri" charset="0"/>
                        <a:cs typeface="Calibri" charset="0"/>
                      </a:endParaRPr>
                    </a:p>
                  </a:txBody>
                  <a:tcPr marL="91440" marR="91440" marT="45720" marB="45720">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658368">
                <a:tc>
                  <a:txBody>
                    <a:bodyPr/>
                    <a:lstStyle/>
                    <a:p>
                      <a:pPr indent="0" marL="0">
                        <a:buNone/>
                      </a:pPr>
                      <a:r>
                        <a:rPr lang="en-US" sz="1250" b="1" dirty="0">
                          <a:solidFill>
                            <a:srgbClr val="1B1F27"/>
                          </a:solidFill>
                          <a:latin typeface="Calibri" pitchFamily="34" charset="0"/>
                          <a:ea typeface="Calibri" pitchFamily="34" charset="-122"/>
                          <a:cs typeface="Calibri" pitchFamily="34" charset="-120"/>
                        </a:rPr>
                        <a:t>5. Does media data improve predictions?</a:t>
                      </a:r>
                      <a:endParaRPr lang="en-US" sz="1250" dirty="0">
                        <a:latin typeface="Calibri" charset="0"/>
                        <a:ea typeface="Calibri" charset="0"/>
                        <a:cs typeface="Calibri" charset="0"/>
                      </a:endParaRPr>
                    </a:p>
                  </a:txBody>
                  <a:tcPr marL="91440" marR="91440" marT="45720" marB="45720">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B1F27"/>
                          </a:solidFill>
                          <a:latin typeface="Calibri" pitchFamily="34" charset="0"/>
                          <a:ea typeface="Calibri" pitchFamily="34" charset="-122"/>
                          <a:cs typeface="Calibri" pitchFamily="34" charset="-120"/>
                        </a:rPr>
                        <a:t>No — forecasts get ~25% worse; everyday-cost data makes them ~24% better.</a:t>
                      </a:r>
                      <a:endParaRPr lang="en-US" sz="1250" dirty="0">
                        <a:latin typeface="Calibri" charset="0"/>
                        <a:ea typeface="Calibri" charset="0"/>
                        <a:cs typeface="Calibri" charset="0"/>
                      </a:endParaRPr>
                    </a:p>
                  </a:txBody>
                  <a:tcPr marL="91440" marR="91440" marT="45720" marB="45720">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658368">
                <a:tc>
                  <a:txBody>
                    <a:bodyPr/>
                    <a:lstStyle/>
                    <a:p>
                      <a:pPr indent="0" marL="0">
                        <a:buNone/>
                      </a:pPr>
                      <a:r>
                        <a:rPr lang="en-US" sz="1250" b="1" dirty="0">
                          <a:solidFill>
                            <a:srgbClr val="1B1F27"/>
                          </a:solidFill>
                          <a:latin typeface="Calibri" pitchFamily="34" charset="0"/>
                          <a:ea typeface="Calibri" pitchFamily="34" charset="-122"/>
                          <a:cs typeface="Calibri" pitchFamily="34" charset="-120"/>
                        </a:rPr>
                        <a:t>6. What would contradict a media story?</a:t>
                      </a:r>
                      <a:endParaRPr lang="en-US" sz="1250" dirty="0">
                        <a:latin typeface="Calibri" charset="0"/>
                        <a:ea typeface="Calibri" charset="0"/>
                        <a:cs typeface="Calibri" charset="0"/>
                      </a:endParaRPr>
                    </a:p>
                  </a:txBody>
                  <a:tcPr marL="91440" marR="91440" marT="45720" marB="45720">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B1F27"/>
                          </a:solidFill>
                          <a:latin typeface="Calibri" pitchFamily="34" charset="0"/>
                          <a:ea typeface="Calibri" pitchFamily="34" charset="-122"/>
                          <a:cs typeface="Calibri" pitchFamily="34" charset="-120"/>
                        </a:rPr>
                        <a:t>Seven tests written in advance; most came out against it (see report Table 11).</a:t>
                      </a:r>
                      <a:endParaRPr lang="en-US" sz="1250" dirty="0">
                        <a:latin typeface="Calibri" charset="0"/>
                        <a:ea typeface="Calibri" charset="0"/>
                        <a:cs typeface="Calibri" charset="0"/>
                      </a:endParaRPr>
                    </a:p>
                  </a:txBody>
                  <a:tcPr marL="91440" marR="91440" marT="45720" marB="45720">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Extra clarification: how we would prove cause — and our limits</a:t>
            </a:r>
            <a:endParaRPr lang="en-US" sz="3000" dirty="0"/>
          </a:p>
        </p:txBody>
      </p:sp>
      <p:sp>
        <p:nvSpPr>
          <p:cNvPr id="3" name="Shape 1"/>
          <p:cNvSpPr/>
          <p:nvPr/>
        </p:nvSpPr>
        <p:spPr>
          <a:xfrm>
            <a:off x="548640" y="1325880"/>
            <a:ext cx="5440680" cy="4206240"/>
          </a:xfrm>
          <a:prstGeom prst="roundRect">
            <a:avLst>
              <a:gd name="adj" fmla="val 1739"/>
            </a:avLst>
          </a:prstGeom>
          <a:solidFill>
            <a:srgbClr val="EAF2FC"/>
          </a:solidFill>
          <a:ln w="12700">
            <a:solidFill>
              <a:srgbClr val="EAF2FC"/>
            </a:solidFill>
            <a:prstDash val="solid"/>
          </a:ln>
        </p:spPr>
      </p:sp>
      <p:sp>
        <p:nvSpPr>
          <p:cNvPr id="4" name="Text 2"/>
          <p:cNvSpPr txBox="1"/>
          <p:nvPr/>
        </p:nvSpPr>
        <p:spPr>
          <a:xfrm>
            <a:off x="777240" y="1508760"/>
            <a:ext cx="5029200" cy="39319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1B1F27"/>
                </a:solidFill>
                <a:latin typeface="Calibri" pitchFamily="34" charset="0"/>
                <a:ea typeface="Calibri" pitchFamily="34" charset="-122"/>
                <a:cs typeface="Calibri" pitchFamily="34" charset="-120"/>
              </a:rPr>
              <a:t>Experiment (needs ethics approval): show 2,400 people the same inflation facts framed four ways — balanced, as a rate, as a price level, as household cost — and measure their sentiment.</a:t>
            </a:r>
            <a:endParaRPr lang="en-US" sz="1350" dirty="0"/>
          </a:p>
          <a:p>
            <a:pPr marL="342900" indent="-342900">
              <a:spcAft>
                <a:spcPts val="700"/>
              </a:spcAft>
              <a:buSzPct val="100000"/>
              <a:buChar char="•"/>
            </a:pPr>
            <a:r>
              <a:rPr lang="en-US" sz="1350" dirty="0">
                <a:solidFill>
                  <a:srgbClr val="1B1F27"/>
                </a:solidFill>
                <a:latin typeface="Calibri" pitchFamily="34" charset="0"/>
                <a:ea typeface="Calibri" pitchFamily="34" charset="-122"/>
                <a:cs typeface="Calibri" pitchFamily="34" charset="-120"/>
              </a:rPr>
              <a:t>Quasi-experiment: compare places that watch different TV channels (channel position is close to random), using survey data with locations.</a:t>
            </a:r>
            <a:endParaRPr lang="en-US" sz="1350" dirty="0"/>
          </a:p>
          <a:p>
            <a:pPr marL="342900" indent="-342900">
              <a:spcAft>
                <a:spcPts val="700"/>
              </a:spcAft>
              <a:buSzPct val="100000"/>
              <a:buChar char="•"/>
            </a:pPr>
            <a:r>
              <a:rPr lang="en-US" sz="1350" dirty="0">
                <a:solidFill>
                  <a:srgbClr val="1B1F27"/>
                </a:solidFill>
                <a:latin typeface="Calibri" pitchFamily="34" charset="0"/>
                <a:ea typeface="Calibri" pitchFamily="34" charset="-122"/>
                <a:cs typeface="Calibri" pitchFamily="34" charset="-120"/>
              </a:rPr>
              <a:t>Linking a lab result to the national number needs exposure data, matching the survey's population, and decay estimates.</a:t>
            </a:r>
            <a:endParaRPr lang="en-US" sz="1350" dirty="0"/>
          </a:p>
        </p:txBody>
      </p:sp>
      <p:sp>
        <p:nvSpPr>
          <p:cNvPr id="5" name="Shape 3"/>
          <p:cNvSpPr/>
          <p:nvPr/>
        </p:nvSpPr>
        <p:spPr>
          <a:xfrm>
            <a:off x="6172200" y="1325880"/>
            <a:ext cx="5440680" cy="4206240"/>
          </a:xfrm>
          <a:prstGeom prst="roundRect">
            <a:avLst>
              <a:gd name="adj" fmla="val 1739"/>
            </a:avLst>
          </a:prstGeom>
          <a:solidFill>
            <a:srgbClr val="F2F4F7"/>
          </a:solidFill>
          <a:ln w="12700">
            <a:solidFill>
              <a:srgbClr val="F2F4F7"/>
            </a:solidFill>
            <a:prstDash val="solid"/>
          </a:ln>
        </p:spPr>
      </p:sp>
      <p:sp>
        <p:nvSpPr>
          <p:cNvPr id="6" name="Text 4"/>
          <p:cNvSpPr txBox="1"/>
          <p:nvPr/>
        </p:nvSpPr>
        <p:spPr>
          <a:xfrm>
            <a:off x="6400800" y="1508760"/>
            <a:ext cx="5029200" cy="39319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1B1F27"/>
                </a:solidFill>
                <a:latin typeface="Calibri" pitchFamily="34" charset="0"/>
                <a:ea typeface="Calibri" pitchFamily="34" charset="-122"/>
                <a:cs typeface="Calibri" pitchFamily="34" charset="-120"/>
              </a:rPr>
              <a:t>One human labeler (re-check used instead of a second person).</a:t>
            </a:r>
            <a:endParaRPr lang="en-US" sz="1350" dirty="0"/>
          </a:p>
          <a:p>
            <a:pPr marL="342900" indent="-342900">
              <a:spcAft>
                <a:spcPts val="700"/>
              </a:spcAft>
              <a:buSzPct val="100000"/>
              <a:buChar char="•"/>
            </a:pPr>
            <a:r>
              <a:rPr lang="en-US" sz="1350" dirty="0">
                <a:solidFill>
                  <a:srgbClr val="1B1F27"/>
                </a:solidFill>
                <a:latin typeface="Calibri" pitchFamily="34" charset="0"/>
                <a:ea typeface="Calibri" pitchFamily="34" charset="-122"/>
                <a:cs typeface="Calibri" pitchFamily="34" charset="-120"/>
              </a:rPr>
              <a:t>AI coder reacts slightly to party names (7% of labels flip) — reported.</a:t>
            </a:r>
            <a:endParaRPr lang="en-US" sz="1350" dirty="0"/>
          </a:p>
          <a:p>
            <a:pPr marL="342900" indent="-342900">
              <a:spcAft>
                <a:spcPts val="700"/>
              </a:spcAft>
              <a:buSzPct val="100000"/>
              <a:buChar char="•"/>
            </a:pPr>
            <a:r>
              <a:rPr lang="en-US" sz="1350" dirty="0">
                <a:solidFill>
                  <a:srgbClr val="1B1F27"/>
                </a:solidFill>
                <a:latin typeface="Calibri" pitchFamily="34" charset="0"/>
                <a:ea typeface="Calibri" pitchFamily="34" charset="-122"/>
                <a:cs typeface="Calibri" pitchFamily="34" charset="-120"/>
              </a:rPr>
              <a:t>Google News ranking and short social-media history limit the corpus.</a:t>
            </a:r>
            <a:endParaRPr lang="en-US" sz="1350" dirty="0"/>
          </a:p>
          <a:p>
            <a:pPr marL="342900" indent="-342900">
              <a:spcAft>
                <a:spcPts val="700"/>
              </a:spcAft>
              <a:buSzPct val="100000"/>
              <a:buChar char="•"/>
            </a:pPr>
            <a:r>
              <a:rPr lang="en-US" sz="1350" dirty="0">
                <a:solidFill>
                  <a:srgbClr val="1B1F27"/>
                </a:solidFill>
                <a:latin typeface="Calibri" pitchFamily="34" charset="0"/>
                <a:ea typeface="Calibri" pitchFamily="34" charset="-122"/>
                <a:cs typeface="Calibri" pitchFamily="34" charset="-120"/>
              </a:rPr>
              <a:t>No data on what each survey respondent actually read.</a:t>
            </a:r>
            <a:endParaRPr lang="en-US" sz="1350" dirty="0"/>
          </a:p>
          <a:p>
            <a:pPr marL="342900" indent="-342900">
              <a:spcAft>
                <a:spcPts val="700"/>
              </a:spcAft>
              <a:buSzPct val="100000"/>
              <a:buChar char="•"/>
            </a:pPr>
            <a:r>
              <a:rPr lang="en-US" sz="1350" dirty="0">
                <a:solidFill>
                  <a:srgbClr val="1B1F27"/>
                </a:solidFill>
                <a:latin typeface="Calibri" pitchFamily="34" charset="0"/>
                <a:ea typeface="Calibri" pitchFamily="34" charset="-122"/>
                <a:cs typeface="Calibri" pitchFamily="34" charset="-120"/>
              </a:rPr>
              <a:t>About 12 points of the drop remain unexplained.</a:t>
            </a:r>
            <a:endParaRPr lang="en-US" sz="13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392"/>
                </a:solidFill>
              </a:defRPr>
            </a:lvl1pPr>
          </a:lstStyle>
          <a:p>
            <a:pPr algn="l"/>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Sentiment Gap">
  <a:themeElements>
    <a:clrScheme name="Sentiment Gap">
      <a:dk1>
        <a:srgbClr val="1B1F27"/>
      </a:dk1>
      <a:lt1>
        <a:srgbClr val="FFFFFF"/>
      </a:lt1>
      <a:dk2>
        <a:srgbClr val="3A4150"/>
      </a:dk2>
      <a:lt2>
        <a:srgbClr val="F2F4F7"/>
      </a:lt2>
      <a:accent1>
        <a:srgbClr val="C8433F"/>
      </a:accent1>
      <a:accent2>
        <a:srgbClr val="2A78D6"/>
      </a:accent2>
      <a:accent3>
        <a:srgbClr val="1F8A5B"/>
      </a:accent3>
      <a:accent4>
        <a:srgbClr val="D99A1E"/>
      </a:accent4>
      <a:accent5>
        <a:srgbClr val="7A8392"/>
      </a:accent5>
      <a:accent6>
        <a:srgbClr val="6A5ACD"/>
      </a:accent6>
      <a:hlink>
        <a:srgbClr val="2A78D6"/>
      </a:hlink>
      <a:folHlink>
        <a:srgbClr val="6A5ACD"/>
      </a:folHlink>
    </a:clrScheme>
    <a:fontScheme name="Sentiment Ga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do Americans feel this bad about the economy?</dc:title>
  <dc:subject>PptxGenJS Presentation</dc:subject>
  <dc:creator>AI Applications in Finance — Final Project</dc:creator>
  <cp:lastModifiedBy>AI Applications in Finance — Final Project</cp:lastModifiedBy>
  <cp:revision>1</cp:revision>
  <dcterms:created xsi:type="dcterms:W3CDTF">2026-10-18T02:03:19Z</dcterms:created>
  <dcterms:modified xsi:type="dcterms:W3CDTF">2026-10-18T02:03:19Z</dcterms:modified>
</cp:coreProperties>
</file>